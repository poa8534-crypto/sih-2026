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d3e668414d944cb" Type="http://schemas.openxmlformats.org/package/2006/relationships/metadata/core-properties" Target="docProps/core.xml"/><Relationship Id="Rc55d184b6de9495c" Type="http://schemas.openxmlformats.org/officeDocument/2006/relationships/officeDocument" Target="ppt/presentation.xml"/><Relationship Id="Reede2e9eee78453b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da03cc165c4402"/>
  </p:sldMasterIdLst>
  <p:notesMasterIdLst>
    <p:notesMasterId xmlns:r="http://schemas.openxmlformats.org/officeDocument/2006/relationships" r:id="R4e93ff1e9f49489c"/>
  </p:notesMasterIdLst>
  <p:sldIdLst>
    <p:sldId xmlns:r="http://schemas.openxmlformats.org/officeDocument/2006/relationships" id="256" r:id="Rf07e37acde2d4823"/>
    <p:sldId xmlns:r="http://schemas.openxmlformats.org/officeDocument/2006/relationships" id="257" r:id="R64e0e34c726147ad"/>
    <p:sldId xmlns:r="http://schemas.openxmlformats.org/officeDocument/2006/relationships" id="258" r:id="R02aad59003974a64"/>
    <p:sldId xmlns:r="http://schemas.openxmlformats.org/officeDocument/2006/relationships" id="259" r:id="Rd3f1ada75a6d430e"/>
    <p:sldId xmlns:r="http://schemas.openxmlformats.org/officeDocument/2006/relationships" id="260" r:id="R6e9322772c474d3c"/>
    <p:sldId xmlns:r="http://schemas.openxmlformats.org/officeDocument/2006/relationships" id="261" r:id="R9b9432f817634bb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2aad59003974a64" Type="http://schemas.openxmlformats.org/officeDocument/2006/relationships/slide" Target="slides/slide3.xml"/><Relationship Id="R2b94d3dac69e4732" Type="http://schemas.openxmlformats.org/officeDocument/2006/relationships/viewProps" Target="viewProps.xml"/><Relationship Id="R4e93ff1e9f49489c" Type="http://schemas.openxmlformats.org/officeDocument/2006/relationships/notesMaster" Target="notesMasters/notesMaster1.xml"/><Relationship Id="R64e0e34c726147ad" Type="http://schemas.openxmlformats.org/officeDocument/2006/relationships/slide" Target="slides/slide2.xml"/><Relationship Id="R681f8c61cf7945b3" Type="http://schemas.openxmlformats.org/officeDocument/2006/relationships/presProps" Target="presProps.xml"/><Relationship Id="R6851c863088b4623" Type="http://schemas.openxmlformats.org/officeDocument/2006/relationships/tableStyles" Target="tableStyles.xml"/><Relationship Id="R6e9322772c474d3c" Type="http://schemas.openxmlformats.org/officeDocument/2006/relationships/slide" Target="slides/slide5.xml"/><Relationship Id="R9b9432f817634bb8" Type="http://schemas.openxmlformats.org/officeDocument/2006/relationships/slide" Target="slides/slide6.xml"/><Relationship Id="Rc8da03cc165c4402" Type="http://schemas.openxmlformats.org/officeDocument/2006/relationships/slideMaster" Target="slideMasters/slideMaster1.xml"/><Relationship Id="Rd3f1ada75a6d430e" Type="http://schemas.openxmlformats.org/officeDocument/2006/relationships/slide" Target="slides/slide4.xml"/><Relationship Id="Re0fed79652e34ccd" Type="http://schemas.openxmlformats.org/officeDocument/2006/relationships/theme" Target="theme/theme1.xml"/><Relationship Id="Rf07e37acde2d4823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2c6704f015924258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f7b392c2a2a449c" Type="http://schemas.openxmlformats.org/officeDocument/2006/relationships/notesMaster" Target="../notesMasters/notesMaster1.xml"/><Relationship Id="R8c42a3920f8f43d5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2a1dcbb0f0446eb" Type="http://schemas.openxmlformats.org/officeDocument/2006/relationships/notesMaster" Target="../notesMasters/notesMaster1.xml"/><Relationship Id="Rbb2445a7a2634eb1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1a65b635ebc74370" Type="http://schemas.openxmlformats.org/officeDocument/2006/relationships/notesMaster" Target="../notesMasters/notesMaster1.xml"/><Relationship Id="Rf7c39db80fa14b9e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101dc77a64534df0" Type="http://schemas.openxmlformats.org/officeDocument/2006/relationships/slide" Target="../slides/slide4.xml"/><Relationship Id="R2db52218bc27479a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10d2c06adae44896" Type="http://schemas.openxmlformats.org/officeDocument/2006/relationships/notesMaster" Target="../notesMasters/notesMaster1.xml"/><Relationship Id="Ra96bb87a0dcf4140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622f361c6d1e4f86" Type="http://schemas.openxmlformats.org/officeDocument/2006/relationships/notesMaster" Target="../notesMasters/notesMaster1.xml"/><Relationship Id="R97c565b858f24bc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statement metadata taken from the SIH portal listing for PS 26122, Oil India Limited.</a:t>
            </a:r>
          </a:p>
          <a:p xmlns:a="http://schemas.openxmlformats.org/drawingml/2006/main">
            <a:r>
              <a:t>Team ID intentionally left blank until the portal issues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Diagram: Eraser workspace 2qnRjujRIBvJMgxD2vov, diagram 9JyHxB0LPKk1vQ5E_QwS.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100 percent auto-link precision, 67 of 67, on the held-out test split - reproduce with python eval.py.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Coverage is 43.5 percent by design; the remaining mentions go to the planner review queue.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Diagram: Eraser workspace 2qnRjujRIBvJMgxD2vov, diagram LxOWrZi9aG3a2C87B7_8.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Thresholds shown on the chart are the shipped configuration: high 0.80, low 0.40, margin 0.03 (matching/config.py).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Auto-link precision 100 percent (67/67), coverage 43.5 percent (67/154), top-1 86.9 percent (126/145) on the held-out test split.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1,426 automated tests = 1,202 pytest plus 224 vitest, all passing on 10 September 2026.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The optional local LLM may help read a messy report. It never chooses the activity and never writes a date.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Diagram: Eraser workspace 2qnRjujRIBvJMgxD2vov, diagram Vwn78M3zjDixZbTZ4tdn.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recall@20 = 100 percent on the held-out test split; fusion places the correct activity inside the retrieved 20.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The XER writer emits a simplified shape and is not a P6-valid round trip (D-047).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OCR is on-premise only when local Tesseract is installed; an optional cloud vision provider would send that document out.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MoSPI PAIMANA portal, February 2026: 1,948 monitored central-sector projects, latest revised cost 41,98,684.28 crore rupees.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That figure sets the scale of the exposure. It is not a NAVIS savings claim and the slide says so.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No field pilot has run, so no ROI, monetary saving or productivity percentage is claimed anywhere in this deck.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MoSPI PAIMANA: https://ipm.mospi.gov.in/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GAO Schedule Assessment Guide GAO-16-89G: https://www.gao.gov/products/gao-16-89g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NIST AI Risk Management Framework: https://www.nist.gov/itl/ai-risk-management-framework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Oracle Primavera P6 EPPM documentation: https://docs.oracle.com/en/industries/construction-engineering/primavera-p6-enterprise-project-portfolio/</a:t>
            </a:r>
            <a:endParaRPr/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METRICS.md section 3.4a audits our own benchmark: 84 percent of test positives reuse an activity seen in training, so these are in-distribution numbers.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62d66204adb4465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2f0cdcb4cde421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92cfb074e094de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6ad1b04340e84f9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1f574c6c1c4a10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4db505e1b74448b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33945826e87341b7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b52bc2247fb40c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72e04b261074b1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8ee1b919c414be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170ff19ea5d46d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65A57F7-2F3C-4E1F-9502-E26C0E19C5B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4400" y="2130428"/>
            <a:ext cx="103632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B552106-9163-4266-84CF-7EC5DFC3FDD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886200"/>
            <a:ext cx="85344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2CE80B8-E245-4E98-BAB9-51FE225140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E60792E3-D524-454C-8AFD-A91972900BCB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CCA019-71C3-4C81-829A-ABBBECD518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094CE2A-C447-4CEB-990B-6BD5CFF7C1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5B7E1BAA-A38D-40DE-B22C-DF9BD7D82058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3ADF57-9C78-4AF7-92B4-10AA5792A9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78B6F8E-678C-44C5-8D7D-2A0F147CD6E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E2D76B-2825-4A72-90FC-27E215289A6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708B7524-32A2-4C20-A58C-BC3BAA1042FC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7F87384-11AC-4627-A5C9-37376F0DF1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1CF1668-6AD7-4B1E-8DD1-11F64CD0C5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677C3CE7-23F7-4828-823C-E0205DF2CF97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F1BE20-17C4-4B6E-B302-F171EA82B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3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D6CC9EC-AE89-477C-AFFE-84B2332B473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AD2BD51-D4F5-4C1E-8BC2-E26BE3C2315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1E994447-D6B2-43BB-A877-57F1A267B999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E4F27-6B45-49F0-8162-12FBF292F5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FDC99D7-A5F2-4C15-8255-61EC1BC3F9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41DB31D2-2A87-4F4C-A9AD-05C6CC2B321D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DB8BEE-0185-462D-A2B7-FD9F31D2E2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25776A-0CE1-4DF1-8963-F300830ED6F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3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A48E1C1-BE36-4EB1-BB35-9A64AA41D1C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3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8055AB9-A4F8-4641-8786-A9DFEFB6BD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68920E16-BD35-483C-AA6B-346FC7E46DEA}" type="datetime1">
              <a:t>6/2/2026</a:t>
            </a:fld>
            <a:endParaRPr/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E5C57E1-9FE6-4B15-AF4D-BF999764DD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38A833E-F980-4EC0-B70A-EFCB84179F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E1FC16D9-1635-4844-816A-0A8A2160FADA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B2542B-27EF-47AB-B68F-157AD3A9D7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21CDC8-2AA7-4253-85B6-643B936D1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A772C36-CBB0-403F-8728-398EAE7B25F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A0D9EE9-01AB-44EA-BC59-F3504B374E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69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4CAF7DA-A12F-4293-A303-68182616581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69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D395D2B-ABA6-4DBB-83EF-1DA32C8AAF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2FEAC6F8-5103-4FC0-A69E-5C6AE6469DA8}" type="datetime1">
              <a:t>6/2/2026</a:t>
            </a:fld>
            <a:endParaRPr/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13E3A1C-C4DC-4C55-9E25-86A0A31C6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23D6E63-30FB-4478-9A65-ABD8D3703DC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71C4100A-98DE-4944-910A-A93F5CA9F72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403004-510C-42CA-8911-36429D9838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547E4A9-6F88-424B-A2CD-35769C1757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C60C6921-0627-4C8F-83D5-0CF936D2FFDD}" type="datetime1">
              <a:t>6/2/2026</a:t>
            </a:fld>
            <a:endParaRPr/>
          </a:p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D558B4-2A3D-4286-9A6D-2ABDFA8558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B044A29-855A-4968-9685-08908A1AA5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6A63342B-5A73-45DC-864D-086DE78037E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372B67-8BE5-4C5C-93BE-C75EA25BA62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2FF08AD7-8103-40F8-983C-E2BA6BB9CBE0}" type="datetime1">
              <a:t>6/2/2026</a:t>
            </a:fld>
            <a:endParaRPr/>
          </a:p>
        </p:txBody>
      </p:sp>
      <p:sp>
        <p:nvSpPr>
          <p:cNvPr id="3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469BED-57FF-4F20-927D-D80C082A33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4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13FD650-926F-44F4-AB85-AE6E8054DA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B635AFB3-1ACD-44AC-8702-86B1729DF035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C4CDF0-304C-4DEC-8812-5DD4294E8C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2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4E92FEE-D5DB-413E-8BE7-A9E3C9D121B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3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86E44DD-BB20-4E14-9CA1-C602B367A4A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2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A350F23-65E2-4B10-8957-BB7BEEC19E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DF8C06B4-9380-4A4D-AF49-A3596E17DAF5}" type="datetime1">
              <a:t>6/2/2026</a:t>
            </a:fld>
            <a:endParaRPr/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78948C-8816-4BA1-9227-75B0D35D710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1C86ABD-2FEE-48CD-8291-44B2E2122E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05CF15F3-5E77-4C57-9E21-50D6D1D6C022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78F2B2-EB7B-420E-B5CE-4C158D4750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363EE99-7495-4345-B6CF-60DC73163D4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4B68A0A-66C0-47C2-91FC-7A20A73302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A5E5006-AB50-4AE5-B69A-48DD171B3D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EF7FDEF1-C582-4E22-9E77-D68326471F28}" type="datetime1">
              <a:t>6/2/2026</a:t>
            </a:fld>
            <a:endParaRPr/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CAEE6A-597C-4D70-A998-64AD5B9535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A5991D2-E18E-47E4-BF42-4CF30D414B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1242169A-B3C7-4FB6-967F-AF95F4EB3315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0B723-6342-43AE-8B77-E2939DCFA0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207C3F-383F-436C-AB91-CC378099F3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9222054-F112-4322-A729-E3E31BDA17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053C3A68-6922-42D3-8905-ECC2D82A3469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E3F0C10-DFD4-44DF-B47D-0AB80518ACF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7787786-7EB9-4BC1-B0A9-6A75EFDBFE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94FDD027-5576-4F27-AAB6-1D994836EE78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9608B2A-FE49-435D-98AB-3131D946C7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1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CF61226-5FD5-4696-AB46-4B21E45538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1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8C0530-C282-4AF4-87D8-F4CC7FF7C0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CB69E9F4-7604-4950-A8B2-8ACDEDB1506E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10CA7BC-F9F8-4E6F-BC98-A910627E5F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F032DE-8734-4A4A-AFDC-A2582E61A4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2957CE61-8714-431B-A40A-01B1C5541AB7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464eee4fd2d49f9" Type="http://schemas.openxmlformats.org/officeDocument/2006/relationships/slideLayout" Target="../slideLayouts/slideLayout1.xml"/><Relationship Id="R0da8bb62cac34757" Type="http://schemas.openxmlformats.org/officeDocument/2006/relationships/slideLayout" Target="../slideLayouts/slideLayout9.xml"/><Relationship Id="R0df49bf918634a45" Type="http://schemas.openxmlformats.org/officeDocument/2006/relationships/slideLayout" Target="../slideLayouts/slideLayout3.xml"/><Relationship Id="R5fb4fd44ed9f4c5c" Type="http://schemas.openxmlformats.org/officeDocument/2006/relationships/slideLayout" Target="../slideLayouts/slideLayout5.xml"/><Relationship Id="R7398e63686c54376" Type="http://schemas.openxmlformats.org/officeDocument/2006/relationships/slideLayout" Target="../slideLayouts/slideLayout8.xml"/><Relationship Id="R744fdfdc42534ba1" Type="http://schemas.openxmlformats.org/officeDocument/2006/relationships/slideLayout" Target="../slideLayouts/slideLayout10.xml"/><Relationship Id="R8d740df403b641a9" Type="http://schemas.openxmlformats.org/officeDocument/2006/relationships/theme" Target="theme/theme2.xml"/><Relationship Id="R941905244384426b" Type="http://schemas.openxmlformats.org/officeDocument/2006/relationships/slideLayout" Target="../slideLayouts/slideLayout4.xml"/><Relationship Id="Ra7840413e2d54378" Type="http://schemas.openxmlformats.org/officeDocument/2006/relationships/slideLayout" Target="../slideLayouts/slideLayout7.xml"/><Relationship Id="Rc84a67144e1a4963" Type="http://schemas.openxmlformats.org/officeDocument/2006/relationships/slideLayout" Target="../slideLayouts/slideLayout2.xml"/><Relationship Id="Rf00e9da0ad4744b3" Type="http://schemas.openxmlformats.org/officeDocument/2006/relationships/slideLayout" Target="../slideLayouts/slideLayout11.xml"/><Relationship Id="Rf31f36c07a204ce3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6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0E07B4A-2F4D-46B7-A241-1A3E829893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-47625"/>
            <a:ext cx="10972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title style</a:t>
            </a:r>
          </a:p>
        </p:txBody>
      </p:sp>
      <p:sp>
        <p:nvSpPr>
          <p:cNvPr id="1027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371C434-A079-4DDF-88F7-98BAD2CABC8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095375"/>
            <a:ext cx="10972800" cy="50307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E007DED-B900-46B8-8E7F-17CBB5C1AC4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3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>
            <a:lvl1pPr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 xmlns:a="http://schemas.openxmlformats.org/drawingml/2006/main">
            <a:fld id="{780A9602-A9A9-453F-AEF1-37B5837E02CD}" type="datetime1">
              <a:t>6/2/2026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2DB37A6-436F-4D33-8205-1A79564253D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3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F4E6EFB-A228-428A-82B7-B26AD3390BE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3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 xmlns:a="http://schemas.openxmlformats.org/drawingml/2006/main">
            <a:fld id="{1411BA53-830D-4830-BB65-E58DBE17D0B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64eee4fd2d49f9"/>
    <p:sldLayoutId xmlns:r="http://schemas.openxmlformats.org/officeDocument/2006/relationships" id="2147483650" r:id="Rc84a67144e1a4963"/>
    <p:sldLayoutId xmlns:r="http://schemas.openxmlformats.org/officeDocument/2006/relationships" id="2147483651" r:id="R0df49bf918634a45"/>
    <p:sldLayoutId xmlns:r="http://schemas.openxmlformats.org/officeDocument/2006/relationships" id="2147483652" r:id="R941905244384426b"/>
    <p:sldLayoutId xmlns:r="http://schemas.openxmlformats.org/officeDocument/2006/relationships" id="2147483653" r:id="R5fb4fd44ed9f4c5c"/>
    <p:sldLayoutId xmlns:r="http://schemas.openxmlformats.org/officeDocument/2006/relationships" id="2147483654" r:id="Rf31f36c07a204ce3"/>
    <p:sldLayoutId xmlns:r="http://schemas.openxmlformats.org/officeDocument/2006/relationships" id="2147483655" r:id="Ra7840413e2d54378"/>
    <p:sldLayoutId xmlns:r="http://schemas.openxmlformats.org/officeDocument/2006/relationships" id="2147483656" r:id="R7398e63686c54376"/>
    <p:sldLayoutId xmlns:r="http://schemas.openxmlformats.org/officeDocument/2006/relationships" id="2147483657" r:id="R0da8bb62cac34757"/>
    <p:sldLayoutId xmlns:r="http://schemas.openxmlformats.org/officeDocument/2006/relationships" id="2147483658" r:id="R744fdfdc42534ba1"/>
    <p:sldLayoutId xmlns:r="http://schemas.openxmlformats.org/officeDocument/2006/relationships" id="2147483659" r:id="Rf00e9da0ad4744b3"/>
  </p:sldLayoutIdLst>
  <p:hf hdr="0" dt="0"/>
  <p:txStyles>
    <p:titleStyle>
      <a:lvl1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2pPr>
      <a:lvl3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3pPr>
      <a:lvl4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4pPr>
      <a:lvl5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5pPr>
      <a:lvl6pPr xmlns:a="http://schemas.openxmlformats.org/drawingml/2006/main" marL="4572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6pPr>
      <a:lvl7pPr xmlns:a="http://schemas.openxmlformats.org/drawingml/2006/main" marL="9144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7pPr>
      <a:lvl8pPr xmlns:a="http://schemas.openxmlformats.org/drawingml/2006/main" marL="13716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8pPr>
      <a:lvl9pPr xmlns:a="http://schemas.openxmlformats.org/drawingml/2006/main" marL="18288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9pPr>
    </p:titleStyle>
    <p:bodyStyle>
      <a:lvl1pPr xmlns:a="http://schemas.openxmlformats.org/drawingml/2006/main" marL="342900" indent="-342900" algn="l" defTabSz="457200">
        <a:spcBef>
          <a:spcPct val="20000"/>
        </a:spcBef>
        <a:spcAft>
          <a:spcPct val="0"/>
        </a:spcAft>
        <a:buFont typeface="Arial"/>
        <a:buChar char="•"/>
        <a:defRPr sz="32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xmlns:a="http://schemas.openxmlformats.org/drawingml/2006/main" marL="742950" indent="-285750" algn="l" defTabSz="457200">
        <a:spcBef>
          <a:spcPct val="20000"/>
        </a:spcBef>
        <a:spcAft>
          <a:spcPct val="0"/>
        </a:spcAft>
        <a:buFont typeface="Arial"/>
        <a:buChar char="–"/>
        <a:defRPr sz="2800" kern="1200">
          <a:solidFill>
            <a:schemeClr val="tx1"/>
          </a:solidFill>
          <a:latin typeface="TradeGothic"/>
          <a:ea typeface="TradeGothic"/>
          <a:cs typeface="TradeGothic"/>
        </a:defRPr>
      </a:lvl2pPr>
      <a:lvl3pPr xmlns:a="http://schemas.openxmlformats.org/drawingml/2006/main" marL="1143000" indent="-228600" algn="l" defTabSz="457200">
        <a:spcBef>
          <a:spcPct val="20000"/>
        </a:spcBef>
        <a:spcAft>
          <a:spcPct val="0"/>
        </a:spcAft>
        <a:buFont typeface="Arial"/>
        <a:buChar char="•"/>
        <a:defRPr sz="2400" kern="1200">
          <a:solidFill>
            <a:schemeClr val="tx1"/>
          </a:solidFill>
          <a:latin typeface="TradeGothic"/>
          <a:ea typeface="TradeGothic"/>
          <a:cs typeface="TradeGothic"/>
        </a:defRPr>
      </a:lvl3pPr>
      <a:lvl4pPr xmlns:a="http://schemas.openxmlformats.org/drawingml/2006/main" marL="1600200" indent="-228600" algn="l" defTabSz="457200">
        <a:spcBef>
          <a:spcPct val="20000"/>
        </a:spcBef>
        <a:spcAft>
          <a:spcPct val="0"/>
        </a:spcAft>
        <a:buFont typeface="Arial"/>
        <a:buChar char="–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4pPr>
      <a:lvl5pPr xmlns:a="http://schemas.openxmlformats.org/drawingml/2006/main" marL="2057400" indent="-228600" algn="l" defTabSz="457200">
        <a:spcBef>
          <a:spcPct val="20000"/>
        </a:spcBef>
        <a:spcAft>
          <a:spcPct val="0"/>
        </a:spcAft>
        <a:buFont typeface="Arial"/>
        <a:buChar char="»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3f2dfb8b34b4384" Type="http://schemas.openxmlformats.org/officeDocument/2006/relationships/image" Target="../media/image.png"/><Relationship Id="R91ff2cf5d1ec4300" Type="http://schemas.openxmlformats.org/officeDocument/2006/relationships/slideLayout" Target="../slideLayouts/slideLayout1.xml"/><Relationship Id="Rb1354b08669a476f" Type="http://schemas.openxmlformats.org/officeDocument/2006/relationships/notesSlide" Target="../notesSlides/notesSlide1.xml"/><Relationship Id="Rf7ce08494400444a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7afb6e8c3cfd4aaf" Type="http://schemas.openxmlformats.org/officeDocument/2006/relationships/notesSlide" Target="../notesSlides/notesSlide2.xml"/><Relationship Id="R80f19bcff3574052" Type="http://schemas.openxmlformats.org/officeDocument/2006/relationships/slideLayout" Target="../slideLayouts/slideLayout2.xml"/><Relationship Id="R971cec20fc4d45bd" Type="http://schemas.openxmlformats.org/officeDocument/2006/relationships/image" Target="../media/image2.png"/><Relationship Id="Raf6adb1f9bac4f00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09f31e1e6330409f" Type="http://schemas.openxmlformats.org/officeDocument/2006/relationships/slideLayout" Target="../slideLayouts/slideLayout2.xml"/><Relationship Id="R3a84da6043e74dab" Type="http://schemas.openxmlformats.org/officeDocument/2006/relationships/image" Target="../media/image4.png"/><Relationship Id="R656dbfb7c3ea47f6" Type="http://schemas.openxmlformats.org/officeDocument/2006/relationships/image" Target="../media/image2.png"/><Relationship Id="R982d09addb684b3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092f7240b839424a" Type="http://schemas.openxmlformats.org/officeDocument/2006/relationships/slideLayout" Target="../slideLayouts/slideLayout2.xml"/><Relationship Id="R41085f3dc7e44868" Type="http://schemas.openxmlformats.org/officeDocument/2006/relationships/image" Target="../media/image5.png"/><Relationship Id="Rbc7c00ad53ec4842" Type="http://schemas.openxmlformats.org/officeDocument/2006/relationships/image" Target="../media/image2.png"/><Relationship Id="Rf8c98a242b1c499c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07eb51e0b58f4362" Type="http://schemas.openxmlformats.org/officeDocument/2006/relationships/slideLayout" Target="../slideLayouts/slideLayout2.xml"/><Relationship Id="R7aac89d2b5be415d" Type="http://schemas.openxmlformats.org/officeDocument/2006/relationships/image" Target="../media/image2.png"/><Relationship Id="Recdc92af05d44f4b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074ac28dc7ec4a3b" Type="http://schemas.openxmlformats.org/officeDocument/2006/relationships/image" Target="../media/image2.png"/><Relationship Id="R0d7710150b3543df" Type="http://schemas.openxmlformats.org/officeDocument/2006/relationships/slideLayout" Target="../slideLayouts/slideLayout2.xml"/><Relationship Id="R4c0547288b4f41fe" Type="http://schemas.openxmlformats.org/officeDocument/2006/relationships/notesSlide" Target="../notesSlides/notesSlide6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useBgFill="1">
        <p:nvSpPr>
          <p:cNvPr id="36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3E443FD7-A66B-4AA0-872D-B088B9BC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144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7" name="Freeform: Shape 26">
            <a:extLst xmlns:a="http://schemas.openxmlformats.org/drawingml/2006/main">
              <a:ext uri="{FF2B5EF4-FFF2-40B4-BE49-F238E27FC236}">
                <a16:creationId xmlns:a16="http://schemas.microsoft.com/office/drawing/2014/main" id="{C04BE0EF-3561-49B4-9A29-F283168A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6780" y="851521"/>
            <a:ext cx="4638605" cy="5154967"/>
          </a:xfrm>
          <a:custGeom xmlns:a="http://schemas.openxmlformats.org/drawingml/2006/main"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 xmlns:a="http://schemas.openxmlformats.org/drawingml/2006/main">
            <a:schemeClr val="tx1">
              <a:lumMod val="50000"/>
              <a:lumOff val="50000"/>
              <a:alpha val="1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42" name="Picture 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3f2dfb8b34b4384"/>
          <a:srcRect xmlns:a="http://schemas.openxmlformats.org/drawingml/2006/main" l="0" t="0" r="59916" b="0"/>
          <a:stretch xmlns:a="http://schemas.openxmlformats.org/drawingml/2006/main"/>
        </p:blipFill>
        <p:spPr>
          <a:xfrm xmlns:a="http://schemas.openxmlformats.org/drawingml/2006/main">
            <a:off x="6854891" y="1715881"/>
            <a:ext cx="3203509" cy="3426237"/>
          </a:xfrm>
          <a:prstGeom xmlns:a="http://schemas.openxmlformats.org/drawingml/2006/main" prst="rect">
            <a:avLst/>
          </a:prstGeom>
        </p:spPr>
      </p:pic>
      <p:sp>
        <p:nvSpPr>
          <p:cNvPr id="4" name="Subtitle 3">
            <a:extLst xmlns:a="http://schemas.openxmlformats.org/drawingml/2006/main">
              <a:ext uri="{FF2B5EF4-FFF2-40B4-BE49-F238E27FC236}">
                <a16:creationId xmlns:a16="http://schemas.microsoft.com/office/drawing/2014/main" id="{87B60016-46EE-4A2D-BEB9-1322D268332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45686" y="648614"/>
            <a:ext cx="85344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 xmlns:a="http://schemas.openxmlformats.org/drawingml/2006/main">
            <a:r>
              <a:rPr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TITLE PAGE</a:t>
            </a:r>
            <a:endParaRPr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Title 7">
            <a:extLst xmlns:a="http://schemas.openxmlformats.org/drawingml/2006/main">
              <a:ext uri="{FF2B5EF4-FFF2-40B4-BE49-F238E27FC236}">
                <a16:creationId xmlns:a16="http://schemas.microsoft.com/office/drawing/2014/main" id="{115EBC1D-8A96-4C81-86AD-4F3E83DE7F7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31286" y="-526757"/>
            <a:ext cx="10363200" cy="20764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4000" b="1">
                <a:solidFill>
                  <a:schemeClr val="tx2"/>
                </a:solidFill>
                <a:latin typeface="Garamond"/>
                <a:ea typeface="Garamond"/>
                <a:cs typeface="Garamond"/>
              </a:rPr>
              <a:t>SMART INDIA HACKATHON </a:t>
            </a:r>
            <a:r>
              <a:rPr sz="4000" b="1">
                <a:solidFill>
                  <a:schemeClr val="tx2"/>
                </a:solidFill>
                <a:latin typeface="Garamond"/>
                <a:ea typeface="Garamond"/>
                <a:cs typeface="Garamond"/>
              </a:rPr>
              <a:t>2026</a:t>
            </a:r>
            <a:endParaRPr sz="4000" b="1">
              <a:solidFill>
                <a:schemeClr val="tx2"/>
              </a:solidFill>
              <a:latin typeface="Garamond"/>
              <a:ea typeface="Garamond"/>
              <a:cs typeface="Garamond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C4AEF87-48D2-45D5-A6A9-5FADF9C7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86" y="2076450"/>
            <a:ext cx="5924550" cy="4703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endParaRPr/>
          </a:p>
          <a:p xmlns:a="http://schemas.openxmlformats.org/drawingml/2006/main">
            <a:pPr marL="285750" indent="-285750" algn="just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800" b="1">
                <a:latin typeface="Arial"/>
                <a:ea typeface="Arial"/>
                <a:cs typeface="Arial"/>
              </a:rPr>
              <a:t>Problem Statement ID – 26122</a:t>
            </a:r>
          </a:p>
          <a:p xmlns:a="http://schemas.openxmlformats.org/drawingml/2006/main">
            <a:pPr marL="285750" indent="-285750" algn="just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latin typeface="Arial"/>
                <a:ea typeface="Arial"/>
                <a:cs typeface="Arial"/>
              </a:rPr>
              <a:t>Problem Statement Title- Intelligent Data Capture &amp; Schedule-Linking Layer for Infrastructure Project Management: Real-Time Actual Progress Tracking (Planning-to-Execution Bridge)</a:t>
            </a:r>
          </a:p>
          <a:p xmlns:a="http://schemas.openxmlformats.org/drawingml/2006/main">
            <a:pPr marL="285750" indent="-285750" algn="just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800" b="1">
                <a:latin typeface="Arial"/>
                <a:ea typeface="Arial"/>
                <a:cs typeface="Arial"/>
              </a:rPr>
              <a:t>Theme- Smart Automation</a:t>
            </a:r>
          </a:p>
          <a:p xmlns:a="http://schemas.openxmlformats.org/drawingml/2006/main">
            <a:pPr marL="285750" indent="-285750" algn="just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800" b="1">
                <a:latin typeface="Arial"/>
                <a:ea typeface="Arial"/>
                <a:cs typeface="Arial"/>
              </a:rPr>
              <a:t>PS Category- Software</a:t>
            </a:r>
          </a:p>
          <a:p xmlns:a="http://schemas.openxmlformats.org/drawingml/2006/main">
            <a:pPr marL="285750" indent="-285750" algn="just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800" b="1">
                <a:latin typeface="Arial"/>
                <a:ea typeface="Arial"/>
                <a:cs typeface="Arial"/>
              </a:rPr>
              <a:t>Team ID-</a:t>
            </a:r>
          </a:p>
          <a:p xmlns:a="http://schemas.openxmlformats.org/drawingml/2006/main">
            <a:pPr marL="285750" indent="-285750" algn="just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800" b="1">
                <a:latin typeface="Arial"/>
                <a:ea typeface="Arial"/>
                <a:cs typeface="Arial"/>
              </a:rPr>
              <a:t>Team Name- NamasteByte</a:t>
            </a:r>
            <a:endParaRPr sz="2400" b="1">
              <a:latin typeface="Arial"/>
              <a:ea typeface="Arial"/>
              <a:cs typeface="Arial"/>
            </a:endParaRPr>
          </a:p>
        </p:txBody>
      </p:sp>
      <p:pic>
        <p:nvPicPr>
          <p:cNvPr id="4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ce0849440044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80086" y="1500"/>
            <a:ext cx="2249850" cy="106233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84838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FDDF6C0-6B4A-4429-91D0-5B61E10A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4762"/>
            <a:ext cx="12191999" cy="503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0C0"/>
          </a:solidFill>
          <a:ln xmlns:a="http://schemas.openxmlformats.org/drawingml/2006/main" w="9525">
            <a:noFill/>
          </a:ln>
          <a:effectLst xmlns:a="http://schemas.openxmlformats.org/drawingml/2006/main"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2">
                  <a:lumMod val="75000"/>
                </a:schemeClr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5361" name="Title 1">
            <a:extLst xmlns:a="http://schemas.openxmlformats.org/drawingml/2006/main">
              <a:ext uri="{FF2B5EF4-FFF2-40B4-BE49-F238E27FC236}">
                <a16:creationId xmlns:a16="http://schemas.microsoft.com/office/drawing/2014/main" id="{57ED162D-A553-4BF5-9095-01F1138AAB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998" y="0"/>
            <a:ext cx="10972800" cy="1143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/>
            </a:r>
            <a:br/>
            <a:r>
              <a:rPr sz="3600" b="1">
                <a:latin typeface="Times New Roman"/>
                <a:ea typeface="Times New Roman"/>
                <a:cs typeface="Times New Roman"/>
              </a:rPr>
              <a:t>IDEA TITLE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A8C3FEA-05C5-49D0-8AB7-0B2357F3EE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77C3CE7-23F7-4828-823C-E0205DF2CF97}" type="slidenum">
              <a:rPr b="1">
                <a:solidFill>
                  <a:schemeClr val="bg1"/>
                </a:solidFill>
              </a:rPr>
              <a:t>2</a:t>
            </a:fld>
            <a:endParaRPr b="1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512DF5B2-EC04-47D8-91E6-C8FAE386AA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chemeClr val="bg1"/>
                </a:solidFill>
              </a:rPr>
              <a:t>@SIH Idea submission- Template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73" y="252246"/>
            <a:ext cx="1251857" cy="807334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4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/>
              <a:t>NamasteByte</a:t>
            </a:r>
            <a:endParaRPr/>
          </a:p>
        </p:txBody>
      </p:sp>
      <p:pic>
        <p:nvPicPr>
          <p:cNvPr id="15382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1cec20fc4d45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80086" y="1500"/>
            <a:ext cx="2249850" cy="1062337"/>
          </a:xfrm>
          <a:prstGeom xmlns:a="http://schemas.openxmlformats.org/drawingml/2006/main" prst="rect">
            <a:avLst/>
          </a:prstGeom>
        </p:spPr>
      </p:pic>
      <p:sp>
        <p:nvSpPr>
          <p:cNvPr id="15364" name="">
            <a:extLst xmlns:a="http://schemas.openxmlformats.org/drawingml/2006/main">
              <a:ext uri="{FF2B5EF4-FFF2-40B4-BE49-F238E27FC236}">
                <a16:creationId xmlns:a16="http://schemas.microsoft.com/office/drawing/2014/main" id="{9BF41A0E-1BC5-4952-B3DE-5EC36F36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0015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7B2"/>
                </a:solidFill>
                <a:latin typeface="Arial"/>
                <a:ea typeface="Arial"/>
                <a:cs typeface="Arial"/>
              </a:rPr>
              <a:t>PROPOSED SOLUTION</a:t>
            </a:r>
          </a:p>
        </p:txBody>
      </p:sp>
      <p:sp>
        <p:nvSpPr>
          <p:cNvPr id="15365" name="">
            <a:extLst xmlns:a="http://schemas.openxmlformats.org/drawingml/2006/main">
              <a:ext uri="{FF2B5EF4-FFF2-40B4-BE49-F238E27FC236}">
                <a16:creationId xmlns:a16="http://schemas.microsoft.com/office/drawing/2014/main" id="{5809FAA8-6964-43FE-9B24-F1B8CBEE3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19225"/>
            <a:ext cx="1447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366" name="">
            <a:extLst xmlns:a="http://schemas.openxmlformats.org/drawingml/2006/main">
              <a:ext uri="{FF2B5EF4-FFF2-40B4-BE49-F238E27FC236}">
                <a16:creationId xmlns:a16="http://schemas.microsoft.com/office/drawing/2014/main" id="{BF64D9B1-C641-4669-B8FC-B0A59CA9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181100"/>
            <a:ext cx="666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NAVIS - one evidence trail from a field sentence to a reviewed P6 actual.</a:t>
            </a:r>
          </a:p>
        </p:txBody>
      </p:sp>
      <p:pic>
        <p:nvPicPr>
          <p:cNvPr id="153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adb1f9bac4f00"/>
          <a:stretch xmlns:a="http://schemas.openxmlformats.org/drawingml/2006/main"/>
        </p:blipFill>
        <p:spPr>
          <a:xfrm xmlns:a="http://schemas.openxmlformats.org/drawingml/2006/main">
            <a:off x="342900" y="1524155"/>
            <a:ext cx="11506200" cy="3038165"/>
          </a:xfrm>
          <a:prstGeom xmlns:a="http://schemas.openxmlformats.org/drawingml/2006/main" prst="rect">
            <a:avLst/>
          </a:prstGeom>
        </p:spPr>
      </p:pic>
      <p:sp>
        <p:nvSpPr>
          <p:cNvPr id="15368" name="">
            <a:extLst xmlns:a="http://schemas.openxmlformats.org/drawingml/2006/main">
              <a:ext uri="{FF2B5EF4-FFF2-40B4-BE49-F238E27FC236}">
                <a16:creationId xmlns:a16="http://schemas.microsoft.com/office/drawing/2014/main" id="{A5F34FEB-36EB-4B42-A241-D718B8FB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705350"/>
            <a:ext cx="37338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12383">
            <a:solidFill>
              <a:srgbClr val="F0BDB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369" name="">
            <a:extLst xmlns:a="http://schemas.openxmlformats.org/drawingml/2006/main">
              <a:ext uri="{FF2B5EF4-FFF2-40B4-BE49-F238E27FC236}">
                <a16:creationId xmlns:a16="http://schemas.microsoft.com/office/drawing/2014/main" id="{99CCAAF5-F0CF-4333-8897-7D759956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810125"/>
            <a:ext cx="3467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B4231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15370" name="">
            <a:extLst xmlns:a="http://schemas.openxmlformats.org/drawingml/2006/main">
              <a:ext uri="{FF2B5EF4-FFF2-40B4-BE49-F238E27FC236}">
                <a16:creationId xmlns:a16="http://schemas.microsoft.com/office/drawing/2014/main" id="{BD9F0E72-406A-4801-BA21-07BBDC8B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038725"/>
            <a:ext cx="34671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82230"/>
                </a:solidFill>
                <a:latin typeface="Arial"/>
                <a:ea typeface="Arial"/>
                <a:cs typeface="Arial"/>
              </a:rPr>
              <a:t>Progress is reported as prose - daily reports, discipline sheets, voice notes. Primavera P6 needs an activity ID and a date. A planner bridges that gap by hand, every cycle, on a schedule of thousands of activities.</a:t>
            </a:r>
          </a:p>
        </p:txBody>
      </p:sp>
      <p:sp>
        <p:nvSpPr>
          <p:cNvPr id="15371" name="">
            <a:extLst xmlns:a="http://schemas.openxmlformats.org/drawingml/2006/main">
              <a:ext uri="{FF2B5EF4-FFF2-40B4-BE49-F238E27FC236}">
                <a16:creationId xmlns:a16="http://schemas.microsoft.com/office/drawing/2014/main" id="{9AA8D6FD-03FE-432B-A916-4F9BF3B2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705350"/>
            <a:ext cx="37338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12383">
            <a:solidFill>
              <a:srgbClr val="9DC2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372" name="">
            <a:extLst xmlns:a="http://schemas.openxmlformats.org/drawingml/2006/main">
              <a:ext uri="{FF2B5EF4-FFF2-40B4-BE49-F238E27FC236}">
                <a16:creationId xmlns:a16="http://schemas.microsoft.com/office/drawing/2014/main" id="{612CEF5D-24B8-4286-BA67-802B7F48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10125"/>
            <a:ext cx="3467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HOW NAVIS SOLVES IT</a:t>
            </a:r>
          </a:p>
        </p:txBody>
      </p:sp>
      <p:sp>
        <p:nvSpPr>
          <p:cNvPr id="15373" name="">
            <a:extLst xmlns:a="http://schemas.openxmlformats.org/drawingml/2006/main">
              <a:ext uri="{FF2B5EF4-FFF2-40B4-BE49-F238E27FC236}">
                <a16:creationId xmlns:a16="http://schemas.microsoft.com/office/drawing/2014/main" id="{D943F8C1-AA17-4023-A3EB-BFE512A0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38725"/>
            <a:ext cx="34671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82230"/>
                </a:solidFill>
                <a:latin typeface="Arial"/>
                <a:ea typeface="Arial"/>
                <a:cs typeface="Arial"/>
              </a:rPr>
              <a:t>Extract the fact with the file and line it came from, retrieve 20 candidate activities, rank on 6 explainable features, then gate on confidence. Actuals are written with an append-only audit record.</a:t>
            </a:r>
          </a:p>
        </p:txBody>
      </p:sp>
      <p:sp>
        <p:nvSpPr>
          <p:cNvPr id="15374" name="">
            <a:extLst xmlns:a="http://schemas.openxmlformats.org/drawingml/2006/main">
              <a:ext uri="{FF2B5EF4-FFF2-40B4-BE49-F238E27FC236}">
                <a16:creationId xmlns:a16="http://schemas.microsoft.com/office/drawing/2014/main" id="{2F7B4EA6-D427-47D6-93D4-6B1E2C0B1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05350"/>
            <a:ext cx="37338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6EF"/>
          </a:solidFill>
          <a:ln xmlns:a="http://schemas.openxmlformats.org/drawingml/2006/main" w="12383">
            <a:solidFill>
              <a:srgbClr val="92C9A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375" name="">
            <a:extLst xmlns:a="http://schemas.openxmlformats.org/drawingml/2006/main">
              <a:ext uri="{FF2B5EF4-FFF2-40B4-BE49-F238E27FC236}">
                <a16:creationId xmlns:a16="http://schemas.microsoft.com/office/drawing/2014/main" id="{283C4F41-356A-42B2-ADF7-3A97039D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10125"/>
            <a:ext cx="3467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WHAT IS NEW - REFUSAL IS THE FEATURE</a:t>
            </a:r>
          </a:p>
        </p:txBody>
      </p:sp>
      <p:sp>
        <p:nvSpPr>
          <p:cNvPr id="15376" name="">
            <a:extLst xmlns:a="http://schemas.openxmlformats.org/drawingml/2006/main">
              <a:ext uri="{FF2B5EF4-FFF2-40B4-BE49-F238E27FC236}">
                <a16:creationId xmlns:a16="http://schemas.microsoft.com/office/drawing/2014/main" id="{6874C060-22FC-4FFC-B6DA-7FD5B0CD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38725"/>
            <a:ext cx="34671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82230"/>
                </a:solidFill>
                <a:latin typeface="Arial"/>
                <a:ea typeface="Arial"/>
                <a:cs typeface="Arial"/>
              </a:rPr>
              <a:t>100% auto-link precision, 67 of 67 on a held-out test. The rest is queued for a planner, never guessed. A wrong actual date triggers false billing or a premature hydrotest - so the system asks instead.</a:t>
            </a:r>
          </a:p>
        </p:txBody>
      </p:sp>
    </p:spTree>
    <p:extLst>
      <p:ext uri="{BB962C8B-B14F-4D97-AF65-F5344CB8AC3E}">
        <p14:creationId xmlns:p14="http://schemas.microsoft.com/office/powerpoint/2010/main" val="89102069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4762"/>
            <a:ext cx="12191999" cy="503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0C0"/>
          </a:solidFill>
          <a:ln xmlns:a="http://schemas.openxmlformats.org/drawingml/2006/main" w="9525">
            <a:noFill/>
          </a:ln>
          <a:effectLst xmlns:a="http://schemas.openxmlformats.org/drawingml/2006/main"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2">
                  <a:lumMod val="75000"/>
                </a:schemeClr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7F5F0080-3FC6-412D-8CD3-EF482DCF62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TECHNICAL APPROACH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B423A6A-56FE-46A1-9719-9114C109E6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77C3CE7-23F7-4828-823C-E0205DF2CF97}" type="slidenum">
              <a:rPr b="1">
                <a:solidFill>
                  <a:schemeClr val="bg1"/>
                </a:solidFill>
              </a:rPr>
              <a:t>3</a:t>
            </a:fld>
            <a:endParaRPr b="1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F62B2358-A95D-40E1-BC6F-DE8F9E13693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chemeClr val="bg1"/>
                </a:solidFill>
              </a:rPr>
              <a:t>@SIH Idea submission- Template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73" y="252246"/>
            <a:ext cx="1251857" cy="807334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4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/>
              <a:t>NamasteByte</a:t>
            </a:r>
            <a:endParaRPr/>
          </a:p>
        </p:txBody>
      </p:sp>
      <p:pic>
        <p:nvPicPr>
          <p:cNvPr id="17456" name="Pictur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6dbfb7c3ea47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80086" y="1500"/>
            <a:ext cx="2249850" cy="1062337"/>
          </a:xfrm>
          <a:prstGeom xmlns:a="http://schemas.openxmlformats.org/drawingml/2006/main" prst="rect">
            <a:avLst/>
          </a:prstGeom>
        </p:spPr>
      </p:pic>
      <p:sp>
        <p:nvSpPr>
          <p:cNvPr id="17412" name="">
            <a:extLst xmlns:a="http://schemas.openxmlformats.org/drawingml/2006/main">
              <a:ext uri="{FF2B5EF4-FFF2-40B4-BE49-F238E27FC236}">
                <a16:creationId xmlns:a16="http://schemas.microsoft.com/office/drawing/2014/main" id="{39FE3566-D6D4-4CD2-84B5-B152EAA1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1920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7B2"/>
                </a:solidFill>
                <a:latin typeface="Arial"/>
                <a:ea typeface="Arial"/>
                <a:cs typeface="Arial"/>
              </a:rPr>
              <a:t>TECHNOLOGIES USED</a:t>
            </a:r>
          </a:p>
        </p:txBody>
      </p:sp>
      <p:sp>
        <p:nvSpPr>
          <p:cNvPr id="17413" name="">
            <a:extLst xmlns:a="http://schemas.openxmlformats.org/drawingml/2006/main">
              <a:ext uri="{FF2B5EF4-FFF2-40B4-BE49-F238E27FC236}">
                <a16:creationId xmlns:a16="http://schemas.microsoft.com/office/drawing/2014/main" id="{61F078B0-4DE0-4E27-9CDF-C2FBF9EA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38275"/>
            <a:ext cx="140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4" name="">
            <a:extLst xmlns:a="http://schemas.openxmlformats.org/drawingml/2006/main">
              <a:ext uri="{FF2B5EF4-FFF2-40B4-BE49-F238E27FC236}">
                <a16:creationId xmlns:a16="http://schemas.microsoft.com/office/drawing/2014/main" id="{210EB5B6-93A3-4833-8BC1-9D3FD812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695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7B2"/>
          </a:solidFill>
          <a:ln xmlns:a="http://schemas.openxmlformats.org/drawingml/2006/main" w="9525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5" name="">
            <a:extLst xmlns:a="http://schemas.openxmlformats.org/drawingml/2006/main">
              <a:ext uri="{FF2B5EF4-FFF2-40B4-BE49-F238E27FC236}">
                <a16:creationId xmlns:a16="http://schemas.microsoft.com/office/drawing/2014/main" id="{ABE795D9-A732-4A4F-B379-3C5F9D83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6192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React + TypeScript - Vite front end</a:t>
            </a:r>
          </a:p>
        </p:txBody>
      </p:sp>
      <p:sp>
        <p:nvSpPr>
          <p:cNvPr id="17416" name="">
            <a:extLst xmlns:a="http://schemas.openxmlformats.org/drawingml/2006/main">
              <a:ext uri="{FF2B5EF4-FFF2-40B4-BE49-F238E27FC236}">
                <a16:creationId xmlns:a16="http://schemas.microsoft.com/office/drawing/2014/main" id="{D05460D0-54AE-4C74-BB14-A87F11A7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228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7B2"/>
          </a:solidFill>
          <a:ln xmlns:a="http://schemas.openxmlformats.org/drawingml/2006/main" w="9525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7" name="">
            <a:extLst xmlns:a="http://schemas.openxmlformats.org/drawingml/2006/main">
              <a:ext uri="{FF2B5EF4-FFF2-40B4-BE49-F238E27FC236}">
                <a16:creationId xmlns:a16="http://schemas.microsoft.com/office/drawing/2014/main" id="{3D654C92-195D-4B95-AEDF-48D008C0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526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FastAPI - 46 HTTP routes, live OpenAPI docs</a:t>
            </a:r>
          </a:p>
        </p:txBody>
      </p:sp>
      <p:sp>
        <p:nvSpPr>
          <p:cNvPr id="17418" name="">
            <a:extLst xmlns:a="http://schemas.openxmlformats.org/drawingml/2006/main">
              <a:ext uri="{FF2B5EF4-FFF2-40B4-BE49-F238E27FC236}">
                <a16:creationId xmlns:a16="http://schemas.microsoft.com/office/drawing/2014/main" id="{7F04DB20-5550-4C24-A7B4-95D73C17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762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7B2"/>
          </a:solidFill>
          <a:ln xmlns:a="http://schemas.openxmlformats.org/drawingml/2006/main" w="9525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9" name="">
            <a:extLst xmlns:a="http://schemas.openxmlformats.org/drawingml/2006/main">
              <a:ext uri="{FF2B5EF4-FFF2-40B4-BE49-F238E27FC236}">
                <a16:creationId xmlns:a16="http://schemas.microsoft.com/office/drawing/2014/main" id="{EF03509F-E287-4D9E-B740-3BC07DEE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6860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Deterministic rules extraction - .txt, .xlsx, .pdf, .csv, image OCR</a:t>
            </a:r>
          </a:p>
        </p:txBody>
      </p:sp>
      <p:sp>
        <p:nvSpPr>
          <p:cNvPr id="17420" name="">
            <a:extLst xmlns:a="http://schemas.openxmlformats.org/drawingml/2006/main">
              <a:ext uri="{FF2B5EF4-FFF2-40B4-BE49-F238E27FC236}">
                <a16:creationId xmlns:a16="http://schemas.microsoft.com/office/drawing/2014/main" id="{3A45EF35-3F0B-4C1F-8CD6-9CFBDB79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95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7B2"/>
          </a:solidFill>
          <a:ln xmlns:a="http://schemas.openxmlformats.org/drawingml/2006/main" w="9525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1" name="">
            <a:extLst xmlns:a="http://schemas.openxmlformats.org/drawingml/2006/main">
              <a:ext uri="{FF2B5EF4-FFF2-40B4-BE49-F238E27FC236}">
                <a16:creationId xmlns:a16="http://schemas.microsoft.com/office/drawing/2014/main" id="{0B057C9A-03AA-42DA-A60B-CC88D0AE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2194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Hybrid retrieval - exact tag + BM25 + MiniLM embeddings, RRF fused</a:t>
            </a:r>
          </a:p>
        </p:txBody>
      </p:sp>
      <p:sp>
        <p:nvSpPr>
          <p:cNvPr id="17422" name="">
            <a:extLst xmlns:a="http://schemas.openxmlformats.org/drawingml/2006/main">
              <a:ext uri="{FF2B5EF4-FFF2-40B4-BE49-F238E27FC236}">
                <a16:creationId xmlns:a16="http://schemas.microsoft.com/office/drawing/2014/main" id="{DE0AF0A9-5339-45FA-8300-CC3E4ABD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829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7B2"/>
          </a:solidFill>
          <a:ln xmlns:a="http://schemas.openxmlformats.org/drawingml/2006/main" w="9525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3" name="">
            <a:extLst xmlns:a="http://schemas.openxmlformats.org/drawingml/2006/main">
              <a:ext uri="{FF2B5EF4-FFF2-40B4-BE49-F238E27FC236}">
                <a16:creationId xmlns:a16="http://schemas.microsoft.com/office/drawing/2014/main" id="{6B4BE06A-F4CE-44C6-A8A3-A007114C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528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Ranking - 6 explainable features, no black box in the loop</a:t>
            </a:r>
          </a:p>
        </p:txBody>
      </p:sp>
      <p:sp>
        <p:nvSpPr>
          <p:cNvPr id="17424" name="">
            <a:extLst xmlns:a="http://schemas.openxmlformats.org/drawingml/2006/main">
              <a:ext uri="{FF2B5EF4-FFF2-40B4-BE49-F238E27FC236}">
                <a16:creationId xmlns:a16="http://schemas.microsoft.com/office/drawing/2014/main" id="{3BE70456-1504-4844-9F51-B94113FBB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36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7B2"/>
          </a:solidFill>
          <a:ln xmlns:a="http://schemas.openxmlformats.org/drawingml/2006/main" w="9525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5" name="">
            <a:extLst xmlns:a="http://schemas.openxmlformats.org/drawingml/2006/main">
              <a:ext uri="{FF2B5EF4-FFF2-40B4-BE49-F238E27FC236}">
                <a16:creationId xmlns:a16="http://schemas.microsoft.com/office/drawing/2014/main" id="{B7B55BB1-1FDA-406B-A141-F13A26BD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862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SQLite - actuals, review queue, append-only audit</a:t>
            </a:r>
          </a:p>
        </p:txBody>
      </p:sp>
      <p:sp>
        <p:nvSpPr>
          <p:cNvPr id="17426" name="">
            <a:extLst xmlns:a="http://schemas.openxmlformats.org/drawingml/2006/main">
              <a:ext uri="{FF2B5EF4-FFF2-40B4-BE49-F238E27FC236}">
                <a16:creationId xmlns:a16="http://schemas.microsoft.com/office/drawing/2014/main" id="{E0F8451A-8C33-426A-B453-29600B92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7B2"/>
          </a:solidFill>
          <a:ln xmlns:a="http://schemas.openxmlformats.org/drawingml/2006/main" w="9525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7" name="">
            <a:extLst xmlns:a="http://schemas.openxmlformats.org/drawingml/2006/main">
              <a:ext uri="{FF2B5EF4-FFF2-40B4-BE49-F238E27FC236}">
                <a16:creationId xmlns:a16="http://schemas.microsoft.com/office/drawing/2014/main" id="{8AB2C01E-5A81-409A-B971-63B90BA8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8196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Primavera P6 PMXML and XER - pure Python, no MPXJ, no JVM</a:t>
            </a:r>
          </a:p>
        </p:txBody>
      </p:sp>
      <p:sp>
        <p:nvSpPr>
          <p:cNvPr id="17428" name="">
            <a:extLst xmlns:a="http://schemas.openxmlformats.org/drawingml/2006/main">
              <a:ext uri="{FF2B5EF4-FFF2-40B4-BE49-F238E27FC236}">
                <a16:creationId xmlns:a16="http://schemas.microsoft.com/office/drawing/2014/main" id="{94E5737E-1BEB-40EC-B5F7-85904FF1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429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6676"/>
          </a:solidFill>
          <a:ln xmlns:a="http://schemas.openxmlformats.org/drawingml/2006/main" w="9525">
            <a:solidFill>
              <a:srgbClr val="5A667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9" name="">
            <a:extLst xmlns:a="http://schemas.openxmlformats.org/drawingml/2006/main">
              <a:ext uri="{FF2B5EF4-FFF2-40B4-BE49-F238E27FC236}">
                <a16:creationId xmlns:a16="http://schemas.microsoft.com/office/drawing/2014/main" id="{DD880329-3FEE-4B22-8A77-819F2DC2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353050"/>
            <a:ext cx="26574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Local LLM via Ollama - optional, OFF by default</a:t>
            </a:r>
          </a:p>
        </p:txBody>
      </p:sp>
      <p:sp>
        <p:nvSpPr>
          <p:cNvPr id="17430" name="">
            <a:extLst xmlns:a="http://schemas.openxmlformats.org/drawingml/2006/main">
              <a:ext uri="{FF2B5EF4-FFF2-40B4-BE49-F238E27FC236}">
                <a16:creationId xmlns:a16="http://schemas.microsoft.com/office/drawing/2014/main" id="{84F9FD05-7B0E-4866-BBC6-3A02EF5A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924550"/>
            <a:ext cx="2819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Runs on one laptop CPU. No cloud service, no API key.</a:t>
            </a:r>
          </a:p>
        </p:txBody>
      </p:sp>
      <p:sp>
        <p:nvSpPr>
          <p:cNvPr id="17431" name="">
            <a:extLst xmlns:a="http://schemas.openxmlformats.org/drawingml/2006/main">
              <a:ext uri="{FF2B5EF4-FFF2-40B4-BE49-F238E27FC236}">
                <a16:creationId xmlns:a16="http://schemas.microsoft.com/office/drawing/2014/main" id="{46E5EF9F-BBF7-42FD-8A71-B47AE89A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257300"/>
            <a:ext cx="0" cy="4914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2" name="">
            <a:extLst xmlns:a="http://schemas.openxmlformats.org/drawingml/2006/main">
              <a:ext uri="{FF2B5EF4-FFF2-40B4-BE49-F238E27FC236}">
                <a16:creationId xmlns:a16="http://schemas.microsoft.com/office/drawing/2014/main" id="{B104FCC9-284D-42BC-B4E9-AE06CB09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21920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7B2"/>
                </a:solidFill>
                <a:latin typeface="Arial"/>
                <a:ea typeface="Arial"/>
                <a:cs typeface="Arial"/>
              </a:rPr>
              <a:t>FLOW CHART</a:t>
            </a:r>
          </a:p>
        </p:txBody>
      </p:sp>
      <p:sp>
        <p:nvSpPr>
          <p:cNvPr id="17433" name="">
            <a:extLst xmlns:a="http://schemas.openxmlformats.org/drawingml/2006/main">
              <a:ext uri="{FF2B5EF4-FFF2-40B4-BE49-F238E27FC236}">
                <a16:creationId xmlns:a16="http://schemas.microsoft.com/office/drawing/2014/main" id="{BBEAD7B8-0769-4D2D-B48B-03929F4DE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438275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74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84da6043e74dab"/>
          <a:stretch xmlns:a="http://schemas.openxmlformats.org/drawingml/2006/main"/>
        </p:blipFill>
        <p:spPr>
          <a:xfrm xmlns:a="http://schemas.openxmlformats.org/drawingml/2006/main">
            <a:off x="3505200" y="1507549"/>
            <a:ext cx="8343900" cy="3252353"/>
          </a:xfrm>
          <a:prstGeom xmlns:a="http://schemas.openxmlformats.org/drawingml/2006/main" prst="rect">
            <a:avLst/>
          </a:prstGeom>
        </p:spPr>
      </p:pic>
      <p:sp>
        <p:nvSpPr>
          <p:cNvPr id="17435" name="">
            <a:extLst xmlns:a="http://schemas.openxmlformats.org/drawingml/2006/main">
              <a:ext uri="{FF2B5EF4-FFF2-40B4-BE49-F238E27FC236}">
                <a16:creationId xmlns:a16="http://schemas.microsoft.com/office/drawing/2014/main" id="{A5FE78A5-5C6E-4639-BC6C-7254FC27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895850"/>
            <a:ext cx="834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B9C6D8"/>
            </a:solidFill>
            <a:prstDash val="dash"/>
          </a:ln>
        </p:spPr>
        <p:txBody xmlns:a="http://schemas.openxmlformats.org/drawingml/2006/main">
          <a:bodyPr/>
          <a:p/>
        </p:txBody>
      </p:sp>
      <p:sp>
        <p:nvSpPr>
          <p:cNvPr id="17436" name="">
            <a:extLst xmlns:a="http://schemas.openxmlformats.org/drawingml/2006/main">
              <a:ext uri="{FF2B5EF4-FFF2-40B4-BE49-F238E27FC236}">
                <a16:creationId xmlns:a16="http://schemas.microsoft.com/office/drawing/2014/main" id="{0DC29247-E748-4011-9040-4B8E0E1F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29200"/>
            <a:ext cx="1409700" cy="1123950"/>
          </a:xfrm>
          <a:prstGeom xmlns:a="http://schemas.openxmlformats.org/drawingml/2006/main" prst="roundRect">
            <a:avLst>
              <a:gd name="adj" fmla="val 9322"/>
            </a:avLst>
          </a:prstGeom>
          <a:solidFill xmlns:a="http://schemas.openxmlformats.org/drawingml/2006/main">
            <a:srgbClr val="EAF6EF"/>
          </a:solidFill>
          <a:ln xmlns:a="http://schemas.openxmlformats.org/drawingml/2006/main" w="12383">
            <a:solidFill>
              <a:srgbClr val="92C9A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7" name="">
            <a:extLst xmlns:a="http://schemas.openxmlformats.org/drawingml/2006/main">
              <a:ext uri="{FF2B5EF4-FFF2-40B4-BE49-F238E27FC236}">
                <a16:creationId xmlns:a16="http://schemas.microsoft.com/office/drawing/2014/main" id="{3F8846C7-AAB1-496E-A0F3-AB053C02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14925"/>
            <a:ext cx="1295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7438" name="">
            <a:extLst xmlns:a="http://schemas.openxmlformats.org/drawingml/2006/main">
              <a:ext uri="{FF2B5EF4-FFF2-40B4-BE49-F238E27FC236}">
                <a16:creationId xmlns:a16="http://schemas.microsoft.com/office/drawing/2014/main" id="{85FB0E35-2B50-4C31-991D-EE349E0C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448300"/>
            <a:ext cx="1257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AUTO-LINK PRECISION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67 of 67 correct</a:t>
            </a:r>
          </a:p>
        </p:txBody>
      </p:sp>
      <p:sp>
        <p:nvSpPr>
          <p:cNvPr id="17439" name="">
            <a:extLst xmlns:a="http://schemas.openxmlformats.org/drawingml/2006/main">
              <a:ext uri="{FF2B5EF4-FFF2-40B4-BE49-F238E27FC236}">
                <a16:creationId xmlns:a16="http://schemas.microsoft.com/office/drawing/2014/main" id="{28A6C3FF-9A21-4211-BB7F-1E3EAE3C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029200"/>
            <a:ext cx="1409700" cy="1123950"/>
          </a:xfrm>
          <a:prstGeom xmlns:a="http://schemas.openxmlformats.org/drawingml/2006/main" prst="roundRect">
            <a:avLst>
              <a:gd name="adj" fmla="val 9322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12383">
            <a:solidFill>
              <a:srgbClr val="9DC2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0" name="">
            <a:extLst xmlns:a="http://schemas.openxmlformats.org/drawingml/2006/main">
              <a:ext uri="{FF2B5EF4-FFF2-40B4-BE49-F238E27FC236}">
                <a16:creationId xmlns:a16="http://schemas.microsoft.com/office/drawing/2014/main" id="{CFCAE89B-750E-499C-B126-1B65CEEF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114925"/>
            <a:ext cx="1295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43.5%</a:t>
            </a:r>
          </a:p>
        </p:txBody>
      </p:sp>
      <p:sp>
        <p:nvSpPr>
          <p:cNvPr id="17441" name="">
            <a:extLst xmlns:a="http://schemas.openxmlformats.org/drawingml/2006/main">
              <a:ext uri="{FF2B5EF4-FFF2-40B4-BE49-F238E27FC236}">
                <a16:creationId xmlns:a16="http://schemas.microsoft.com/office/drawing/2014/main" id="{018FBFE4-4F14-42CC-B1C7-9F11EB1F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448300"/>
            <a:ext cx="1257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COVERAGE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67 of 154 mentions</a:t>
            </a:r>
          </a:p>
        </p:txBody>
      </p:sp>
      <p:sp>
        <p:nvSpPr>
          <p:cNvPr id="17442" name="">
            <a:extLst xmlns:a="http://schemas.openxmlformats.org/drawingml/2006/main">
              <a:ext uri="{FF2B5EF4-FFF2-40B4-BE49-F238E27FC236}">
                <a16:creationId xmlns:a16="http://schemas.microsoft.com/office/drawing/2014/main" id="{58E04DB7-443B-44AD-8E46-2545FE0B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029200"/>
            <a:ext cx="1409700" cy="1123950"/>
          </a:xfrm>
          <a:prstGeom xmlns:a="http://schemas.openxmlformats.org/drawingml/2006/main" prst="roundRect">
            <a:avLst>
              <a:gd name="adj" fmla="val 9322"/>
            </a:avLst>
          </a:prstGeom>
          <a:solidFill xmlns:a="http://schemas.openxmlformats.org/drawingml/2006/main">
            <a:srgbClr val="FFF3E6"/>
          </a:solidFill>
          <a:ln xmlns:a="http://schemas.openxmlformats.org/drawingml/2006/main" w="12383">
            <a:solidFill>
              <a:srgbClr val="F1B3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3" name="">
            <a:extLst xmlns:a="http://schemas.openxmlformats.org/drawingml/2006/main">
              <a:ext uri="{FF2B5EF4-FFF2-40B4-BE49-F238E27FC236}">
                <a16:creationId xmlns:a16="http://schemas.microsoft.com/office/drawing/2014/main" id="{F57D8955-DDB5-43DD-A3D2-607BC4FA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14925"/>
            <a:ext cx="1295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266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2660A"/>
                </a:solidFill>
                <a:latin typeface="Arial"/>
                <a:ea typeface="Arial"/>
                <a:cs typeface="Arial"/>
              </a:rPr>
              <a:t>86.9%</a:t>
            </a:r>
          </a:p>
        </p:txBody>
      </p:sp>
      <p:sp>
        <p:nvSpPr>
          <p:cNvPr id="17444" name="">
            <a:extLst xmlns:a="http://schemas.openxmlformats.org/drawingml/2006/main">
              <a:ext uri="{FF2B5EF4-FFF2-40B4-BE49-F238E27FC236}">
                <a16:creationId xmlns:a16="http://schemas.microsoft.com/office/drawing/2014/main" id="{DCD0AAB7-68DB-4FD8-9230-8F48563C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448300"/>
            <a:ext cx="1257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TOP-1 ACCURACY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78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126 of 145</a:t>
            </a:r>
          </a:p>
        </p:txBody>
      </p:sp>
      <p:sp>
        <p:nvSpPr>
          <p:cNvPr id="17445" name="">
            <a:extLst xmlns:a="http://schemas.openxmlformats.org/drawingml/2006/main">
              <a:ext uri="{FF2B5EF4-FFF2-40B4-BE49-F238E27FC236}">
                <a16:creationId xmlns:a16="http://schemas.microsoft.com/office/drawing/2014/main" id="{312498E1-EBCB-4638-800A-432E5CCB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029200"/>
            <a:ext cx="37338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6" name="">
            <a:extLst xmlns:a="http://schemas.openxmlformats.org/drawingml/2006/main">
              <a:ext uri="{FF2B5EF4-FFF2-40B4-BE49-F238E27FC236}">
                <a16:creationId xmlns:a16="http://schemas.microsoft.com/office/drawing/2014/main" id="{8954CA1B-B2C5-4BF5-90C6-1B14BCF6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143500"/>
            <a:ext cx="666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GitHub</a:t>
            </a:r>
          </a:p>
        </p:txBody>
      </p:sp>
      <p:sp>
        <p:nvSpPr>
          <p:cNvPr id="17447" name="">
            <a:extLst xmlns:a="http://schemas.openxmlformats.org/drawingml/2006/main">
              <a:ext uri="{FF2B5EF4-FFF2-40B4-BE49-F238E27FC236}">
                <a16:creationId xmlns:a16="http://schemas.microsoft.com/office/drawing/2014/main" id="{F01E2DA0-07B8-40CF-8FB6-B56F6C92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143500"/>
            <a:ext cx="2819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0B67B2"/>
                </a:solidFill>
                <a:latin typeface="Arial"/>
                <a:ea typeface="Arial"/>
                <a:cs typeface="Arial"/>
              </a:rPr>
              <a:t>github.com/poa8534-crypto/SIH-2026</a:t>
            </a:r>
          </a:p>
        </p:txBody>
      </p:sp>
      <p:sp>
        <p:nvSpPr>
          <p:cNvPr id="17448" name="">
            <a:extLst xmlns:a="http://schemas.openxmlformats.org/drawingml/2006/main">
              <a:ext uri="{FF2B5EF4-FFF2-40B4-BE49-F238E27FC236}">
                <a16:creationId xmlns:a16="http://schemas.microsoft.com/office/drawing/2014/main" id="{F1446069-7633-4ABD-B623-E58114D3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391150"/>
            <a:ext cx="666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7449" name="">
            <a:extLst xmlns:a="http://schemas.openxmlformats.org/drawingml/2006/main">
              <a:ext uri="{FF2B5EF4-FFF2-40B4-BE49-F238E27FC236}">
                <a16:creationId xmlns:a16="http://schemas.microsoft.com/office/drawing/2014/main" id="{29B8E586-7181-48EC-B9AC-0707D348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391150"/>
            <a:ext cx="2819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python eval.py  reproduces every figure above</a:t>
            </a:r>
          </a:p>
        </p:txBody>
      </p:sp>
      <p:sp>
        <p:nvSpPr>
          <p:cNvPr id="17450" name="">
            <a:extLst xmlns:a="http://schemas.openxmlformats.org/drawingml/2006/main">
              <a:ext uri="{FF2B5EF4-FFF2-40B4-BE49-F238E27FC236}">
                <a16:creationId xmlns:a16="http://schemas.microsoft.com/office/drawing/2014/main" id="{9855D0CF-55BA-4026-9048-6D04B517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695950"/>
            <a:ext cx="3486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B4231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Working prototype - 1,426 automated tests passing</a:t>
            </a:r>
          </a:p>
        </p:txBody>
      </p:sp>
    </p:spTree>
    <p:extLst>
      <p:ext uri="{BB962C8B-B14F-4D97-AF65-F5344CB8AC3E}">
        <p14:creationId xmlns:p14="http://schemas.microsoft.com/office/powerpoint/2010/main" val="151725841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4762"/>
            <a:ext cx="12191999" cy="503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0C0"/>
          </a:solidFill>
          <a:ln xmlns:a="http://schemas.openxmlformats.org/drawingml/2006/main" w="9525">
            <a:noFill/>
          </a:ln>
          <a:effectLst xmlns:a="http://schemas.openxmlformats.org/drawingml/2006/main"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C0504D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5C8A7163-2A37-4442-869E-8311247544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FEASIBILITY AND VIABILITY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4A16D57-B72D-4D7C-8CD4-CEC18C4487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677C3CE7-23F7-4828-823C-E0205DF2CF97}" type="slidenum">
              <a:rPr sz="1200" b="1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4</a:t>
            </a:fld>
            <a:endParaRPr sz="1200" b="1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87909037-6A62-4F4B-B331-8D260420C7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@SIH Idea submission- Template</a:t>
            </a:r>
            <a:endParaRPr sz="1200" b="0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73" y="252246"/>
            <a:ext cx="1251857" cy="807334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4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/>
              <a:t>NamasteByte</a:t>
            </a:r>
            <a:endParaRPr/>
          </a:p>
        </p:txBody>
      </p:sp>
      <p:pic>
        <p:nvPicPr>
          <p:cNvPr id="17446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7c00ad53ec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80086" y="1500"/>
            <a:ext cx="2249850" cy="1062337"/>
          </a:xfrm>
          <a:prstGeom xmlns:a="http://schemas.openxmlformats.org/drawingml/2006/main" prst="rect">
            <a:avLst/>
          </a:prstGeom>
        </p:spPr>
      </p:pic>
      <p:sp>
        <p:nvSpPr>
          <p:cNvPr id="17412" name="">
            <a:extLst xmlns:a="http://schemas.openxmlformats.org/drawingml/2006/main">
              <a:ext uri="{FF2B5EF4-FFF2-40B4-BE49-F238E27FC236}">
                <a16:creationId xmlns:a16="http://schemas.microsoft.com/office/drawing/2014/main" id="{4E08ECE7-9C8E-48DB-A7DD-1C2897A0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0015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7B2"/>
                </a:solidFill>
                <a:latin typeface="Arial"/>
                <a:ea typeface="Arial"/>
                <a:cs typeface="Arial"/>
              </a:rPr>
              <a:t>FEASIBILITY - IT RUNS ON ONE LAPTOP</a:t>
            </a:r>
          </a:p>
        </p:txBody>
      </p:sp>
      <p:sp>
        <p:nvSpPr>
          <p:cNvPr id="17413" name="">
            <a:extLst xmlns:a="http://schemas.openxmlformats.org/drawingml/2006/main">
              <a:ext uri="{FF2B5EF4-FFF2-40B4-BE49-F238E27FC236}">
                <a16:creationId xmlns:a16="http://schemas.microsoft.com/office/drawing/2014/main" id="{327A9D5C-8D9E-484D-B3C7-E38B421C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19225"/>
            <a:ext cx="255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4" name="">
            <a:extLst xmlns:a="http://schemas.openxmlformats.org/drawingml/2006/main">
              <a:ext uri="{FF2B5EF4-FFF2-40B4-BE49-F238E27FC236}">
                <a16:creationId xmlns:a16="http://schemas.microsoft.com/office/drawing/2014/main" id="{EA058FA4-4333-47C6-B452-A6B01C27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1811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No cloud service, no API key, nothing leaves your network.</a:t>
            </a:r>
          </a:p>
        </p:txBody>
      </p:sp>
      <p:pic>
        <p:nvPicPr>
          <p:cNvPr id="174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085f3dc7e44868"/>
          <a:stretch xmlns:a="http://schemas.openxmlformats.org/drawingml/2006/main"/>
        </p:blipFill>
        <p:spPr>
          <a:xfrm xmlns:a="http://schemas.openxmlformats.org/drawingml/2006/main">
            <a:off x="930071" y="1447800"/>
            <a:ext cx="10331859" cy="2286000"/>
          </a:xfrm>
          <a:prstGeom xmlns:a="http://schemas.openxmlformats.org/drawingml/2006/main" prst="rect">
            <a:avLst/>
          </a:prstGeom>
        </p:spPr>
      </p:pic>
      <p:sp>
        <p:nvSpPr>
          <p:cNvPr id="17416" name="">
            <a:extLst xmlns:a="http://schemas.openxmlformats.org/drawingml/2006/main">
              <a:ext uri="{FF2B5EF4-FFF2-40B4-BE49-F238E27FC236}">
                <a16:creationId xmlns:a16="http://schemas.microsoft.com/office/drawing/2014/main" id="{8233DA0D-98C1-41AC-B8D6-FFD6EDDB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88620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231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CHALLENGES AND RISKS</a:t>
            </a:r>
          </a:p>
        </p:txBody>
      </p:sp>
      <p:sp>
        <p:nvSpPr>
          <p:cNvPr id="17417" name="">
            <a:extLst xmlns:a="http://schemas.openxmlformats.org/drawingml/2006/main">
              <a:ext uri="{FF2B5EF4-FFF2-40B4-BE49-F238E27FC236}">
                <a16:creationId xmlns:a16="http://schemas.microsoft.com/office/drawing/2014/main" id="{E8D3E2B0-F87B-4162-9BDC-E6F77A32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105275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B4231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8" name="">
            <a:extLst xmlns:a="http://schemas.openxmlformats.org/drawingml/2006/main">
              <a:ext uri="{FF2B5EF4-FFF2-40B4-BE49-F238E27FC236}">
                <a16:creationId xmlns:a16="http://schemas.microsoft.com/office/drawing/2014/main" id="{4B2329E1-2D10-482D-8B17-00BEA693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88620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MITIGATION - ALREADY BUILT</a:t>
            </a:r>
          </a:p>
        </p:txBody>
      </p:sp>
      <p:sp>
        <p:nvSpPr>
          <p:cNvPr id="17419" name="">
            <a:extLst xmlns:a="http://schemas.openxmlformats.org/drawingml/2006/main">
              <a:ext uri="{FF2B5EF4-FFF2-40B4-BE49-F238E27FC236}">
                <a16:creationId xmlns:a16="http://schemas.microsoft.com/office/drawing/2014/main" id="{7134E0FC-5F63-435A-8399-8A622434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10527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B7F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0" name="">
            <a:extLst xmlns:a="http://schemas.openxmlformats.org/drawingml/2006/main">
              <a:ext uri="{FF2B5EF4-FFF2-40B4-BE49-F238E27FC236}">
                <a16:creationId xmlns:a16="http://schemas.microsoft.com/office/drawing/2014/main" id="{7DBD88F3-B1E4-405E-AEDE-10AF4125E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305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1" name="">
            <a:extLst xmlns:a="http://schemas.openxmlformats.org/drawingml/2006/main">
              <a:ext uri="{FF2B5EF4-FFF2-40B4-BE49-F238E27FC236}">
                <a16:creationId xmlns:a16="http://schemas.microsoft.com/office/drawing/2014/main" id="{1D3311EC-D07F-4D22-B1CB-003C2A32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29100"/>
            <a:ext cx="5429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Field wording never matches the WBS text</a:t>
            </a:r>
          </a:p>
        </p:txBody>
      </p:sp>
      <p:sp>
        <p:nvSpPr>
          <p:cNvPr id="17422" name="">
            <a:extLst xmlns:a="http://schemas.openxmlformats.org/drawingml/2006/main">
              <a:ext uri="{FF2B5EF4-FFF2-40B4-BE49-F238E27FC236}">
                <a16:creationId xmlns:a16="http://schemas.microsoft.com/office/drawing/2014/main" id="{2AABD397-5E1C-407C-B234-ED32478C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305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4B"/>
          </a:solidFill>
          <a:ln xmlns:a="http://schemas.openxmlformats.org/drawingml/2006/main" w="9525">
            <a:solidFill>
              <a:srgbClr val="1B7F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3" name="">
            <a:extLst xmlns:a="http://schemas.openxmlformats.org/drawingml/2006/main">
              <a:ext uri="{FF2B5EF4-FFF2-40B4-BE49-F238E27FC236}">
                <a16:creationId xmlns:a16="http://schemas.microsoft.com/office/drawing/2014/main" id="{F4D8AAE5-80E1-4D2A-A93F-490FBC5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29100"/>
            <a:ext cx="5467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Three retrieval channels fused - the correct activity is inside the top 20, recall@20 = 100%</a:t>
            </a:r>
          </a:p>
        </p:txBody>
      </p:sp>
      <p:sp>
        <p:nvSpPr>
          <p:cNvPr id="17424" name="">
            <a:extLst xmlns:a="http://schemas.openxmlformats.org/drawingml/2006/main">
              <a:ext uri="{FF2B5EF4-FFF2-40B4-BE49-F238E27FC236}">
                <a16:creationId xmlns:a16="http://schemas.microsoft.com/office/drawing/2014/main" id="{B37401A7-9E97-4EDC-80A5-82FC7C0A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657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5" name="">
            <a:extLst xmlns:a="http://schemas.openxmlformats.org/drawingml/2006/main">
              <a:ext uri="{FF2B5EF4-FFF2-40B4-BE49-F238E27FC236}">
                <a16:creationId xmlns:a16="http://schemas.microsoft.com/office/drawing/2014/main" id="{F75F43F0-2EA0-4D13-88E5-853EDF3B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81525"/>
            <a:ext cx="5429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A wrong actual date means false billing or a premature hydrotest</a:t>
            </a:r>
          </a:p>
        </p:txBody>
      </p:sp>
      <p:sp>
        <p:nvSpPr>
          <p:cNvPr id="17426" name="">
            <a:extLst xmlns:a="http://schemas.openxmlformats.org/drawingml/2006/main">
              <a:ext uri="{FF2B5EF4-FFF2-40B4-BE49-F238E27FC236}">
                <a16:creationId xmlns:a16="http://schemas.microsoft.com/office/drawing/2014/main" id="{E815ECC0-E99A-48AA-980B-8CF79F7F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657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4B"/>
          </a:solidFill>
          <a:ln xmlns:a="http://schemas.openxmlformats.org/drawingml/2006/main" w="9525">
            <a:solidFill>
              <a:srgbClr val="1B7F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7" name="">
            <a:extLst xmlns:a="http://schemas.openxmlformats.org/drawingml/2006/main">
              <a:ext uri="{FF2B5EF4-FFF2-40B4-BE49-F238E27FC236}">
                <a16:creationId xmlns:a16="http://schemas.microsoft.com/office/drawing/2014/main" id="{7ACB58A0-8C44-40A4-8077-5C3A08A1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81525"/>
            <a:ext cx="5467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Nothing is auto-written unless score, margin and discipline all agree - 0 wrong auto-links</a:t>
            </a:r>
          </a:p>
        </p:txBody>
      </p:sp>
      <p:sp>
        <p:nvSpPr>
          <p:cNvPr id="17428" name="">
            <a:extLst xmlns:a="http://schemas.openxmlformats.org/drawingml/2006/main">
              <a:ext uri="{FF2B5EF4-FFF2-40B4-BE49-F238E27FC236}">
                <a16:creationId xmlns:a16="http://schemas.microsoft.com/office/drawing/2014/main" id="{ECA83DFE-DA3E-4A87-8F74-4A394B18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010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9" name="">
            <a:extLst xmlns:a="http://schemas.openxmlformats.org/drawingml/2006/main">
              <a:ext uri="{FF2B5EF4-FFF2-40B4-BE49-F238E27FC236}">
                <a16:creationId xmlns:a16="http://schemas.microsoft.com/office/drawing/2014/main" id="{EED77B60-69F4-4963-92EC-E099B027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33950"/>
            <a:ext cx="5429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Work happens that nobody planned</a:t>
            </a:r>
          </a:p>
        </p:txBody>
      </p:sp>
      <p:sp>
        <p:nvSpPr>
          <p:cNvPr id="17430" name="">
            <a:extLst xmlns:a="http://schemas.openxmlformats.org/drawingml/2006/main">
              <a:ext uri="{FF2B5EF4-FFF2-40B4-BE49-F238E27FC236}">
                <a16:creationId xmlns:a16="http://schemas.microsoft.com/office/drawing/2014/main" id="{4F22F223-830B-449B-82AF-05965413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010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4B"/>
          </a:solidFill>
          <a:ln xmlns:a="http://schemas.openxmlformats.org/drawingml/2006/main" w="9525">
            <a:solidFill>
              <a:srgbClr val="1B7F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1" name="">
            <a:extLst xmlns:a="http://schemas.openxmlformats.org/drawingml/2006/main">
              <a:ext uri="{FF2B5EF4-FFF2-40B4-BE49-F238E27FC236}">
                <a16:creationId xmlns:a16="http://schemas.microsoft.com/office/drawing/2014/main" id="{9B74E8FF-554D-4E9A-A0C8-595F4ABA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933950"/>
            <a:ext cx="5467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Raised to the planner as a new-scope proposal, never dropped silently</a:t>
            </a:r>
          </a:p>
        </p:txBody>
      </p:sp>
      <p:sp>
        <p:nvSpPr>
          <p:cNvPr id="17432" name="">
            <a:extLst xmlns:a="http://schemas.openxmlformats.org/drawingml/2006/main">
              <a:ext uri="{FF2B5EF4-FFF2-40B4-BE49-F238E27FC236}">
                <a16:creationId xmlns:a16="http://schemas.microsoft.com/office/drawing/2014/main" id="{3C096779-C157-4EE5-BCCF-1BCFF5FC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362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3" name="">
            <a:extLst xmlns:a="http://schemas.openxmlformats.org/drawingml/2006/main">
              <a:ext uri="{FF2B5EF4-FFF2-40B4-BE49-F238E27FC236}">
                <a16:creationId xmlns:a16="http://schemas.microsoft.com/office/drawing/2014/main" id="{E3B6C188-C91A-4438-AC43-670228FA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86375"/>
            <a:ext cx="5429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No live Oil India schedule is available to us</a:t>
            </a:r>
          </a:p>
        </p:txBody>
      </p:sp>
      <p:sp>
        <p:nvSpPr>
          <p:cNvPr id="17434" name="">
            <a:extLst xmlns:a="http://schemas.openxmlformats.org/drawingml/2006/main">
              <a:ext uri="{FF2B5EF4-FFF2-40B4-BE49-F238E27FC236}">
                <a16:creationId xmlns:a16="http://schemas.microsoft.com/office/drawing/2014/main" id="{ECA236AB-4428-41B4-B410-50CBCC90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362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4B"/>
          </a:solidFill>
          <a:ln xmlns:a="http://schemas.openxmlformats.org/drawingml/2006/main" w="9525">
            <a:solidFill>
              <a:srgbClr val="1B7F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5" name="">
            <a:extLst xmlns:a="http://schemas.openxmlformats.org/drawingml/2006/main">
              <a:ext uri="{FF2B5EF4-FFF2-40B4-BE49-F238E27FC236}">
                <a16:creationId xmlns:a16="http://schemas.microsoft.com/office/drawing/2014/main" id="{DEEA0468-0FBF-4835-A86B-6A053149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86375"/>
            <a:ext cx="5467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Synthetic schedule structured on the public CFIHOS oil and gas taxonomy - and we say so</a:t>
            </a:r>
          </a:p>
        </p:txBody>
      </p:sp>
      <p:sp>
        <p:nvSpPr>
          <p:cNvPr id="17436" name="">
            <a:extLst xmlns:a="http://schemas.openxmlformats.org/drawingml/2006/main">
              <a:ext uri="{FF2B5EF4-FFF2-40B4-BE49-F238E27FC236}">
                <a16:creationId xmlns:a16="http://schemas.microsoft.com/office/drawing/2014/main" id="{978A9451-0A89-409F-BB55-403E42637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715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7" name="">
            <a:extLst xmlns:a="http://schemas.openxmlformats.org/drawingml/2006/main">
              <a:ext uri="{FF2B5EF4-FFF2-40B4-BE49-F238E27FC236}">
                <a16:creationId xmlns:a16="http://schemas.microsoft.com/office/drawing/2014/main" id="{027ED6DB-7AED-422C-8589-304D3F83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38800"/>
            <a:ext cx="5429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Site or venue has no internet</a:t>
            </a:r>
          </a:p>
        </p:txBody>
      </p:sp>
      <p:sp>
        <p:nvSpPr>
          <p:cNvPr id="17438" name="">
            <a:extLst xmlns:a="http://schemas.openxmlformats.org/drawingml/2006/main">
              <a:ext uri="{FF2B5EF4-FFF2-40B4-BE49-F238E27FC236}">
                <a16:creationId xmlns:a16="http://schemas.microsoft.com/office/drawing/2014/main" id="{B0073232-2C6F-478C-B440-D2D7BAE8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715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4B"/>
          </a:solidFill>
          <a:ln xmlns:a="http://schemas.openxmlformats.org/drawingml/2006/main" w="9525">
            <a:solidFill>
              <a:srgbClr val="1B7F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9" name="">
            <a:extLst xmlns:a="http://schemas.openxmlformats.org/drawingml/2006/main">
              <a:ext uri="{FF2B5EF4-FFF2-40B4-BE49-F238E27FC236}">
                <a16:creationId xmlns:a16="http://schemas.microsoft.com/office/drawing/2014/main" id="{B42B5B07-E0B6-439F-84C4-7047E6EC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38800"/>
            <a:ext cx="5467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The whole stack runs on one laptop CPU - no cloud, no GPU, no API key</a:t>
            </a:r>
          </a:p>
        </p:txBody>
      </p:sp>
      <p:sp>
        <p:nvSpPr>
          <p:cNvPr id="17440" name="">
            <a:extLst xmlns:a="http://schemas.openxmlformats.org/drawingml/2006/main">
              <a:ext uri="{FF2B5EF4-FFF2-40B4-BE49-F238E27FC236}">
                <a16:creationId xmlns:a16="http://schemas.microsoft.com/office/drawing/2014/main" id="{3E31D2A4-FBF4-4C9B-913E-74343BC6A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981700"/>
            <a:ext cx="1150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A6676"/>
                </a:solidFill>
                <a:latin typeface="Arial"/>
                <a:ea typeface="Arial"/>
                <a:cs typeface="Arial"/>
              </a:rPr>
              <a:t>Known gaps, stated: no authentication (the login screen is a role picker), no offline queue, no .mpp import, synthetic labels.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4762"/>
            <a:ext cx="12191999" cy="503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0C0"/>
          </a:solidFill>
          <a:ln xmlns:a="http://schemas.openxmlformats.org/drawingml/2006/main" w="9525">
            <a:noFill/>
          </a:ln>
          <a:effectLst xmlns:a="http://schemas.openxmlformats.org/drawingml/2006/main"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C0504D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670CA319-68D2-46C2-A235-47BEB8F41F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IMPACT AND BENEFITS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FA19EED-F565-46E4-8BF7-0EE59FD0AB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677C3CE7-23F7-4828-823C-E0205DF2CF97}" type="slidenum">
              <a:rPr sz="1200" b="1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5</a:t>
            </a:fld>
            <a:endParaRPr sz="1200" b="1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9EA4734D-E473-46C2-A9B7-0E22E95D1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@SIH Idea submission- Template</a:t>
            </a:r>
            <a:endParaRPr sz="1200" b="0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73" y="252246"/>
            <a:ext cx="1251857" cy="807334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4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/>
              <a:t>NamasteByte</a:t>
            </a:r>
            <a:endParaRPr/>
          </a:p>
        </p:txBody>
      </p:sp>
      <p:pic>
        <p:nvPicPr>
          <p:cNvPr id="17459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c89d2b5be41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80086" y="1500"/>
            <a:ext cx="2249850" cy="1062337"/>
          </a:xfrm>
          <a:prstGeom xmlns:a="http://schemas.openxmlformats.org/drawingml/2006/main" prst="rect">
            <a:avLst/>
          </a:prstGeom>
        </p:spPr>
      </p:pic>
      <p:sp>
        <p:nvSpPr>
          <p:cNvPr id="17412" name="">
            <a:extLst xmlns:a="http://schemas.openxmlformats.org/drawingml/2006/main">
              <a:ext uri="{FF2B5EF4-FFF2-40B4-BE49-F238E27FC236}">
                <a16:creationId xmlns:a16="http://schemas.microsoft.com/office/drawing/2014/main" id="{5D135CD0-AF63-4B7B-94AE-B755B7D9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0015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7B2"/>
                </a:solidFill>
                <a:latin typeface="Arial"/>
                <a:ea typeface="Arial"/>
                <a:cs typeface="Arial"/>
              </a:rPr>
              <a:t>THE LOOP THAT CLOSES</a:t>
            </a:r>
          </a:p>
        </p:txBody>
      </p:sp>
      <p:sp>
        <p:nvSpPr>
          <p:cNvPr id="17413" name="">
            <a:extLst xmlns:a="http://schemas.openxmlformats.org/drawingml/2006/main">
              <a:ext uri="{FF2B5EF4-FFF2-40B4-BE49-F238E27FC236}">
                <a16:creationId xmlns:a16="http://schemas.microsoft.com/office/drawing/2014/main" id="{F647F850-CBDC-4B61-B8DD-FE8DEDB5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19225"/>
            <a:ext cx="1504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4" name="">
            <a:extLst xmlns:a="http://schemas.openxmlformats.org/drawingml/2006/main">
              <a:ext uri="{FF2B5EF4-FFF2-40B4-BE49-F238E27FC236}">
                <a16:creationId xmlns:a16="http://schemas.microsoft.com/office/drawing/2014/main" id="{9C1C251C-091D-42E0-A810-66996C82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181100"/>
            <a:ext cx="666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231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Today this knowledge dies in a supervisor's notebook at project close.</a:t>
            </a:r>
          </a:p>
        </p:txBody>
      </p:sp>
      <p:sp>
        <p:nvSpPr>
          <p:cNvPr id="17415" name="">
            <a:extLst xmlns:a="http://schemas.openxmlformats.org/drawingml/2006/main">
              <a:ext uri="{FF2B5EF4-FFF2-40B4-BE49-F238E27FC236}">
                <a16:creationId xmlns:a16="http://schemas.microsoft.com/office/drawing/2014/main" id="{1022C3D4-6E9D-40DE-90EB-ACD2CF87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866900"/>
            <a:ext cx="20764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6" name="">
            <a:extLst xmlns:a="http://schemas.openxmlformats.org/drawingml/2006/main">
              <a:ext uri="{FF2B5EF4-FFF2-40B4-BE49-F238E27FC236}">
                <a16:creationId xmlns:a16="http://schemas.microsoft.com/office/drawing/2014/main" id="{08F4D503-269F-491E-BC92-D8582FD7F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962150"/>
            <a:ext cx="1885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PROJECT EXECUTES</a:t>
            </a:r>
          </a:p>
        </p:txBody>
      </p:sp>
      <p:sp>
        <p:nvSpPr>
          <p:cNvPr id="17417" name="">
            <a:extLst xmlns:a="http://schemas.openxmlformats.org/drawingml/2006/main">
              <a:ext uri="{FF2B5EF4-FFF2-40B4-BE49-F238E27FC236}">
                <a16:creationId xmlns:a16="http://schemas.microsoft.com/office/drawing/2014/main" id="{C7048BFF-3F06-4C9F-8030-CF4EAA1E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190750"/>
            <a:ext cx="1885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reports, diaries,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field updates</a:t>
            </a:r>
          </a:p>
        </p:txBody>
      </p:sp>
      <p:sp>
        <p:nvSpPr>
          <p:cNvPr id="17418" name="">
            <a:extLst xmlns:a="http://schemas.openxmlformats.org/drawingml/2006/main">
              <a:ext uri="{FF2B5EF4-FFF2-40B4-BE49-F238E27FC236}">
                <a16:creationId xmlns:a16="http://schemas.microsoft.com/office/drawing/2014/main" id="{7B4C8CB7-A6DD-4254-92C3-DAE16778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0338" y="1866900"/>
            <a:ext cx="20764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12383">
            <a:solidFill>
              <a:srgbClr val="9DC2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9" name="">
            <a:extLst xmlns:a="http://schemas.openxmlformats.org/drawingml/2006/main">
              <a:ext uri="{FF2B5EF4-FFF2-40B4-BE49-F238E27FC236}">
                <a16:creationId xmlns:a16="http://schemas.microsoft.com/office/drawing/2014/main" id="{BD7DAC2A-AAC4-41A3-908B-C9337CD4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8" y="1962150"/>
            <a:ext cx="1885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NAVIS CAPTURES</a:t>
            </a:r>
          </a:p>
        </p:txBody>
      </p:sp>
      <p:sp>
        <p:nvSpPr>
          <p:cNvPr id="17420" name="">
            <a:extLst xmlns:a="http://schemas.openxmlformats.org/drawingml/2006/main">
              <a:ext uri="{FF2B5EF4-FFF2-40B4-BE49-F238E27FC236}">
                <a16:creationId xmlns:a16="http://schemas.microsoft.com/office/drawing/2014/main" id="{E82A7506-A187-49AE-A8DB-28240CFE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8" y="2190750"/>
            <a:ext cx="1885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real start, real finish,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real quantity</a:t>
            </a:r>
          </a:p>
        </p:txBody>
      </p:sp>
      <p:sp>
        <p:nvSpPr>
          <p:cNvPr id="17421" name="">
            <a:extLst xmlns:a="http://schemas.openxmlformats.org/drawingml/2006/main">
              <a:ext uri="{FF2B5EF4-FFF2-40B4-BE49-F238E27FC236}">
                <a16:creationId xmlns:a16="http://schemas.microsoft.com/office/drawing/2014/main" id="{F9DABCA0-183D-4B70-ABBC-4FF832222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866900"/>
            <a:ext cx="20764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6EF"/>
          </a:solidFill>
          <a:ln xmlns:a="http://schemas.openxmlformats.org/drawingml/2006/main" w="12383">
            <a:solidFill>
              <a:srgbClr val="92C9A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2" name="">
            <a:extLst xmlns:a="http://schemas.openxmlformats.org/drawingml/2006/main">
              <a:ext uri="{FF2B5EF4-FFF2-40B4-BE49-F238E27FC236}">
                <a16:creationId xmlns:a16="http://schemas.microsoft.com/office/drawing/2014/main" id="{5B504005-4F5D-41EC-A2BD-F82D53322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1962150"/>
            <a:ext cx="1885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STRUCTURED RECORD</a:t>
            </a:r>
          </a:p>
        </p:txBody>
      </p:sp>
      <p:sp>
        <p:nvSpPr>
          <p:cNvPr id="17423" name="">
            <a:extLst xmlns:a="http://schemas.openxmlformats.org/drawingml/2006/main">
              <a:ext uri="{FF2B5EF4-FFF2-40B4-BE49-F238E27FC236}">
                <a16:creationId xmlns:a16="http://schemas.microsoft.com/office/drawing/2014/main" id="{8D74C150-E675-4D1A-ACF9-618DFB85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190750"/>
            <a:ext cx="1885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durations, delay causes,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discipline productivity</a:t>
            </a:r>
          </a:p>
        </p:txBody>
      </p:sp>
      <p:sp>
        <p:nvSpPr>
          <p:cNvPr id="17424" name="">
            <a:extLst xmlns:a="http://schemas.openxmlformats.org/drawingml/2006/main">
              <a:ext uri="{FF2B5EF4-FFF2-40B4-BE49-F238E27FC236}">
                <a16:creationId xmlns:a16="http://schemas.microsoft.com/office/drawing/2014/main" id="{DAABFFCB-9E56-4145-9D79-07775467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5213" y="1866900"/>
            <a:ext cx="20764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12383">
            <a:solidFill>
              <a:srgbClr val="9DC2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5" name="">
            <a:extLst xmlns:a="http://schemas.openxmlformats.org/drawingml/2006/main">
              <a:ext uri="{FF2B5EF4-FFF2-40B4-BE49-F238E27FC236}">
                <a16:creationId xmlns:a16="http://schemas.microsoft.com/office/drawing/2014/main" id="{302172D2-0AF9-4CE3-AEBA-06594446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0463" y="1962150"/>
            <a:ext cx="1885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QUERYABLE HISTORY</a:t>
            </a:r>
          </a:p>
        </p:txBody>
      </p:sp>
      <p:sp>
        <p:nvSpPr>
          <p:cNvPr id="17426" name="">
            <a:extLst xmlns:a="http://schemas.openxmlformats.org/drawingml/2006/main">
              <a:ext uri="{FF2B5EF4-FFF2-40B4-BE49-F238E27FC236}">
                <a16:creationId xmlns:a16="http://schemas.microsoft.com/office/drawing/2014/main" id="{C19FF7D0-411A-4A52-91DA-D6350E67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0463" y="2190750"/>
            <a:ext cx="1885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how long does this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really take here</a:t>
            </a:r>
          </a:p>
        </p:txBody>
      </p:sp>
      <p:sp>
        <p:nvSpPr>
          <p:cNvPr id="17427" name="">
            <a:extLst xmlns:a="http://schemas.openxmlformats.org/drawingml/2006/main">
              <a:ext uri="{FF2B5EF4-FFF2-40B4-BE49-F238E27FC236}">
                <a16:creationId xmlns:a16="http://schemas.microsoft.com/office/drawing/2014/main" id="{A3A8D672-AE20-42C2-89E6-DE595C7D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866900"/>
            <a:ext cx="20764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3E6"/>
          </a:solidFill>
          <a:ln xmlns:a="http://schemas.openxmlformats.org/drawingml/2006/main" w="12383">
            <a:solidFill>
              <a:srgbClr val="F1B3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8" name="">
            <a:extLst xmlns:a="http://schemas.openxmlformats.org/drawingml/2006/main">
              <a:ext uri="{FF2B5EF4-FFF2-40B4-BE49-F238E27FC236}">
                <a16:creationId xmlns:a16="http://schemas.microsoft.com/office/drawing/2014/main" id="{D43D794B-0394-46F8-8EBF-F97580DD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962150"/>
            <a:ext cx="1885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2660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2660A"/>
                </a:solidFill>
                <a:latin typeface="Arial"/>
                <a:ea typeface="Arial"/>
                <a:cs typeface="Arial"/>
              </a:rPr>
              <a:t>NEXT BASELINE</a:t>
            </a:r>
          </a:p>
        </p:txBody>
      </p:sp>
      <p:sp>
        <p:nvSpPr>
          <p:cNvPr id="17429" name="">
            <a:extLst xmlns:a="http://schemas.openxmlformats.org/drawingml/2006/main">
              <a:ext uri="{FF2B5EF4-FFF2-40B4-BE49-F238E27FC236}">
                <a16:creationId xmlns:a16="http://schemas.microsoft.com/office/drawing/2014/main" id="{506A9E28-D78A-4CBA-8B18-72C415D5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190750"/>
            <a:ext cx="18859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calibrated,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not guessed</a:t>
            </a:r>
          </a:p>
        </p:txBody>
      </p:sp>
      <p:cxnSp>
        <p:nvCxnSpPr>
          <p:cNvPr id="17478" name=""/>
          <p:cNvCxnSpPr>
            <a:stCxn xmlns:a="http://schemas.openxmlformats.org/drawingml/2006/main" id="17415" idx="3"/>
            <a:endCxn xmlns:a="http://schemas.openxmlformats.org/drawingml/2006/main" id="17418" idx="1"/>
          </p:cNvCxnSpPr>
          <p:nvPr/>
        </p:nvCxnSpPr>
        <p:spPr>
          <a:xfrm xmlns:a="http://schemas.openxmlformats.org/drawingml/2006/main">
            <a:off x="2419350" y="2305050"/>
            <a:ext cx="280988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B67B2"/>
            </a:solidFill>
            <a:prstDash val="solid"/>
            <a:tailEnd type="triangle" w="sm" len="sm"/>
          </a:ln>
        </p:spPr>
      </p:cxnSp>
      <p:cxnSp>
        <p:nvCxnSpPr>
          <p:cNvPr id="17479" name=""/>
          <p:cNvCxnSpPr>
            <a:stCxn xmlns:a="http://schemas.openxmlformats.org/drawingml/2006/main" id="17418" idx="3"/>
            <a:endCxn xmlns:a="http://schemas.openxmlformats.org/drawingml/2006/main" id="17421" idx="1"/>
          </p:cNvCxnSpPr>
          <p:nvPr/>
        </p:nvCxnSpPr>
        <p:spPr>
          <a:xfrm xmlns:a="http://schemas.openxmlformats.org/drawingml/2006/main">
            <a:off x="4776788" y="2305050"/>
            <a:ext cx="280987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B67B2"/>
            </a:solidFill>
            <a:prstDash val="solid"/>
            <a:tailEnd type="triangle" w="sm" len="sm"/>
          </a:ln>
        </p:spPr>
      </p:cxnSp>
      <p:cxnSp>
        <p:nvCxnSpPr>
          <p:cNvPr id="17480" name=""/>
          <p:cNvCxnSpPr>
            <a:stCxn xmlns:a="http://schemas.openxmlformats.org/drawingml/2006/main" id="17421" idx="3"/>
            <a:endCxn xmlns:a="http://schemas.openxmlformats.org/drawingml/2006/main" id="17424" idx="1"/>
          </p:cNvCxnSpPr>
          <p:nvPr/>
        </p:nvCxnSpPr>
        <p:spPr>
          <a:xfrm xmlns:a="http://schemas.openxmlformats.org/drawingml/2006/main">
            <a:off x="7134225" y="2305050"/>
            <a:ext cx="280988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B67B2"/>
            </a:solidFill>
            <a:prstDash val="solid"/>
            <a:tailEnd type="triangle" w="sm" len="sm"/>
          </a:ln>
        </p:spPr>
      </p:cxnSp>
      <p:cxnSp>
        <p:nvCxnSpPr>
          <p:cNvPr id="17481" name=""/>
          <p:cNvCxnSpPr>
            <a:stCxn xmlns:a="http://schemas.openxmlformats.org/drawingml/2006/main" id="17424" idx="3"/>
            <a:endCxn xmlns:a="http://schemas.openxmlformats.org/drawingml/2006/main" id="17427" idx="1"/>
          </p:cNvCxnSpPr>
          <p:nvPr/>
        </p:nvCxnSpPr>
        <p:spPr>
          <a:xfrm xmlns:a="http://schemas.openxmlformats.org/drawingml/2006/main">
            <a:off x="9491663" y="2305050"/>
            <a:ext cx="280987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0B67B2"/>
            </a:solidFill>
            <a:prstDash val="solid"/>
            <a:tailEnd type="triangle" w="sm" len="sm"/>
          </a:ln>
        </p:spPr>
      </p:cxnSp>
      <p:cxnSp>
        <p:nvCxnSpPr>
          <p:cNvPr id="17482" name=""/>
          <p:cNvCxnSpPr>
            <a:stCxn xmlns:a="http://schemas.openxmlformats.org/drawingml/2006/main" id="17427" idx="0"/>
            <a:endCxn xmlns:a="http://schemas.openxmlformats.org/drawingml/2006/main" id="17415" idx="0"/>
          </p:cNvCxnSpPr>
          <p:nvPr/>
        </p:nvCxnSpPr>
        <p:spPr>
          <a:xfrm xmlns:a="http://schemas.openxmlformats.org/drawingml/2006/main" flipH="1">
            <a:off x="228600" y="1066800"/>
            <a:ext cx="10582275" cy="800100"/>
          </a:xfrm>
          <a:prstGeom xmlns:a="http://schemas.openxmlformats.org/drawingml/2006/main" prst="bentConnector4">
            <a:avLst/>
          </a:prstGeom>
          <a:ln xmlns:a="http://schemas.openxmlformats.org/drawingml/2006/main" w="14288">
            <a:solidFill>
              <a:srgbClr val="5A6676"/>
            </a:solidFill>
            <a:prstDash val="dash"/>
            <a:tailEnd type="triangle" w="sm" len="sm"/>
          </a:ln>
        </p:spPr>
      </p:cxnSp>
      <p:sp>
        <p:nvSpPr>
          <p:cNvPr id="17435" name="">
            <a:extLst xmlns:a="http://schemas.openxmlformats.org/drawingml/2006/main">
              <a:ext uri="{FF2B5EF4-FFF2-40B4-BE49-F238E27FC236}">
                <a16:creationId xmlns:a16="http://schemas.microsoft.com/office/drawing/2014/main" id="{A25DEB54-449C-4D1F-AA70-A64BC579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62100"/>
            <a:ext cx="4000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A6676"/>
                </a:solidFill>
                <a:latin typeface="Arial"/>
                <a:ea typeface="Arial"/>
                <a:cs typeface="Arial"/>
              </a:rPr>
              <a:t>the loop closes - execution history becomes the next plan</a:t>
            </a:r>
          </a:p>
        </p:txBody>
      </p:sp>
      <p:sp>
        <p:nvSpPr>
          <p:cNvPr id="17436" name="">
            <a:extLst xmlns:a="http://schemas.openxmlformats.org/drawingml/2006/main">
              <a:ext uri="{FF2B5EF4-FFF2-40B4-BE49-F238E27FC236}">
                <a16:creationId xmlns:a16="http://schemas.microsoft.com/office/drawing/2014/main" id="{9133E7D0-C16B-4F4F-B25C-A4005D7B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00990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7B2"/>
                </a:solidFill>
                <a:latin typeface="Arial"/>
                <a:ea typeface="Arial"/>
                <a:cs typeface="Arial"/>
              </a:rPr>
              <a:t>WHO GAINS, AND WHAT THEY GAIN</a:t>
            </a:r>
          </a:p>
        </p:txBody>
      </p:sp>
      <p:sp>
        <p:nvSpPr>
          <p:cNvPr id="17437" name="">
            <a:extLst xmlns:a="http://schemas.openxmlformats.org/drawingml/2006/main">
              <a:ext uri="{FF2B5EF4-FFF2-40B4-BE49-F238E27FC236}">
                <a16:creationId xmlns:a16="http://schemas.microsoft.com/office/drawing/2014/main" id="{7D041C43-F79F-484C-8BD0-ED816549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228975"/>
            <a:ext cx="2209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8" name="">
            <a:extLst xmlns:a="http://schemas.openxmlformats.org/drawingml/2006/main">
              <a:ext uri="{FF2B5EF4-FFF2-40B4-BE49-F238E27FC236}">
                <a16:creationId xmlns:a16="http://schemas.microsoft.com/office/drawing/2014/main" id="{B3D38CD1-B5B2-43F9-9D27-96451268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352800"/>
            <a:ext cx="5667375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9" name="">
            <a:extLst xmlns:a="http://schemas.openxmlformats.org/drawingml/2006/main">
              <a:ext uri="{FF2B5EF4-FFF2-40B4-BE49-F238E27FC236}">
                <a16:creationId xmlns:a16="http://schemas.microsoft.com/office/drawing/2014/main" id="{066946A7-F14A-43E5-AC67-72F8ACBCD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67100"/>
            <a:ext cx="54006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SITE SUPERVISOR</a:t>
            </a:r>
          </a:p>
        </p:txBody>
      </p:sp>
      <p:sp>
        <p:nvSpPr>
          <p:cNvPr id="17440" name="">
            <a:extLst xmlns:a="http://schemas.openxmlformats.org/drawingml/2006/main">
              <a:ext uri="{FF2B5EF4-FFF2-40B4-BE49-F238E27FC236}">
                <a16:creationId xmlns:a16="http://schemas.microsoft.com/office/drawing/2014/main" id="{9283CD58-F6DF-40DE-B7A9-3047DDD9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95700"/>
            <a:ext cx="5400675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82230"/>
                </a:solidFill>
                <a:latin typeface="Arial"/>
                <a:ea typeface="Arial"/>
                <a:cs typeface="Arial"/>
              </a:rPr>
              <a:t>Speaks one sentence instead of filling a form. Reporting stops being a second job.</a:t>
            </a:r>
          </a:p>
        </p:txBody>
      </p:sp>
      <p:sp>
        <p:nvSpPr>
          <p:cNvPr id="17441" name="">
            <a:extLst xmlns:a="http://schemas.openxmlformats.org/drawingml/2006/main">
              <a:ext uri="{FF2B5EF4-FFF2-40B4-BE49-F238E27FC236}">
                <a16:creationId xmlns:a16="http://schemas.microsoft.com/office/drawing/2014/main" id="{8B303410-D778-4969-89AD-01A3BDE1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352800"/>
            <a:ext cx="5667375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2" name="">
            <a:extLst xmlns:a="http://schemas.openxmlformats.org/drawingml/2006/main">
              <a:ext uri="{FF2B5EF4-FFF2-40B4-BE49-F238E27FC236}">
                <a16:creationId xmlns:a16="http://schemas.microsoft.com/office/drawing/2014/main" id="{2FB14AB9-2053-4B23-9E05-A474F483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467100"/>
            <a:ext cx="54006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PLANNING ENGINEER</a:t>
            </a:r>
          </a:p>
        </p:txBody>
      </p:sp>
      <p:sp>
        <p:nvSpPr>
          <p:cNvPr id="17443" name="">
            <a:extLst xmlns:a="http://schemas.openxmlformats.org/drawingml/2006/main">
              <a:ext uri="{FF2B5EF4-FFF2-40B4-BE49-F238E27FC236}">
                <a16:creationId xmlns:a16="http://schemas.microsoft.com/office/drawing/2014/main" id="{9A152E09-11FD-4D94-8F93-C5FB1B70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695700"/>
            <a:ext cx="5400675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82230"/>
                </a:solidFill>
                <a:latin typeface="Arial"/>
                <a:ea typeface="Arial"/>
                <a:cs typeface="Arial"/>
              </a:rPr>
              <a:t>Reviews ranked exceptions instead of matching thousands of rows by hand.</a:t>
            </a:r>
          </a:p>
        </p:txBody>
      </p:sp>
      <p:sp>
        <p:nvSpPr>
          <p:cNvPr id="17444" name="">
            <a:extLst xmlns:a="http://schemas.openxmlformats.org/drawingml/2006/main">
              <a:ext uri="{FF2B5EF4-FFF2-40B4-BE49-F238E27FC236}">
                <a16:creationId xmlns:a16="http://schemas.microsoft.com/office/drawing/2014/main" id="{B5C75667-1FC0-48E1-B323-078F28CB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267200"/>
            <a:ext cx="5667375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5" name="">
            <a:extLst xmlns:a="http://schemas.openxmlformats.org/drawingml/2006/main">
              <a:ext uri="{FF2B5EF4-FFF2-40B4-BE49-F238E27FC236}">
                <a16:creationId xmlns:a16="http://schemas.microsoft.com/office/drawing/2014/main" id="{63E6A228-277F-4ED6-AD3C-DACFBD51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81500"/>
            <a:ext cx="54006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PROJECT MANAGER</a:t>
            </a:r>
          </a:p>
        </p:txBody>
      </p:sp>
      <p:sp>
        <p:nvSpPr>
          <p:cNvPr id="17446" name="">
            <a:extLst xmlns:a="http://schemas.openxmlformats.org/drawingml/2006/main">
              <a:ext uri="{FF2B5EF4-FFF2-40B4-BE49-F238E27FC236}">
                <a16:creationId xmlns:a16="http://schemas.microsoft.com/office/drawing/2014/main" id="{520A5EE6-9DE0-458D-AA9C-5C0FA253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610100"/>
            <a:ext cx="5400675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82230"/>
                </a:solidFill>
                <a:latin typeface="Arial"/>
                <a:ea typeface="Arial"/>
                <a:cs typeface="Arial"/>
              </a:rPr>
              <a:t>Sees a schedule that reflects this week, not last month - slippage while it can still be acted on.</a:t>
            </a:r>
          </a:p>
        </p:txBody>
      </p:sp>
      <p:sp>
        <p:nvSpPr>
          <p:cNvPr id="17447" name="">
            <a:extLst xmlns:a="http://schemas.openxmlformats.org/drawingml/2006/main">
              <a:ext uri="{FF2B5EF4-FFF2-40B4-BE49-F238E27FC236}">
                <a16:creationId xmlns:a16="http://schemas.microsoft.com/office/drawing/2014/main" id="{4DA26D0E-621E-4713-B1DE-7E69DC84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267200"/>
            <a:ext cx="5667375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8" name="">
            <a:extLst xmlns:a="http://schemas.openxmlformats.org/drawingml/2006/main">
              <a:ext uri="{FF2B5EF4-FFF2-40B4-BE49-F238E27FC236}">
                <a16:creationId xmlns:a16="http://schemas.microsoft.com/office/drawing/2014/main" id="{D4CE8052-AF92-4801-AA32-64EDECAF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381500"/>
            <a:ext cx="54006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PSU / OWNER</a:t>
            </a:r>
          </a:p>
        </p:txBody>
      </p:sp>
      <p:sp>
        <p:nvSpPr>
          <p:cNvPr id="17449" name="">
            <a:extLst xmlns:a="http://schemas.openxmlformats.org/drawingml/2006/main">
              <a:ext uri="{FF2B5EF4-FFF2-40B4-BE49-F238E27FC236}">
                <a16:creationId xmlns:a16="http://schemas.microsoft.com/office/drawing/2014/main" id="{BD8D9706-0465-439B-99E4-DA859E940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610100"/>
            <a:ext cx="5400675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82230"/>
                </a:solidFill>
                <a:latin typeface="Arial"/>
                <a:ea typeface="Arial"/>
                <a:cs typeface="Arial"/>
              </a:rPr>
              <a:t>Every actual date is defensible with a file, a line and a confidence.</a:t>
            </a:r>
          </a:p>
        </p:txBody>
      </p:sp>
      <p:sp>
        <p:nvSpPr>
          <p:cNvPr id="17450" name="">
            <a:extLst xmlns:a="http://schemas.openxmlformats.org/drawingml/2006/main">
              <a:ext uri="{FF2B5EF4-FFF2-40B4-BE49-F238E27FC236}">
                <a16:creationId xmlns:a16="http://schemas.microsoft.com/office/drawing/2014/main" id="{E55EF326-4CDC-4527-96FF-AA496AFF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486400"/>
            <a:ext cx="115062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3E6"/>
          </a:solidFill>
          <a:ln xmlns:a="http://schemas.openxmlformats.org/drawingml/2006/main" w="12383">
            <a:solidFill>
              <a:srgbClr val="F1B3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51" name="">
            <a:extLst xmlns:a="http://schemas.openxmlformats.org/drawingml/2006/main">
              <a:ext uri="{FF2B5EF4-FFF2-40B4-BE49-F238E27FC236}">
                <a16:creationId xmlns:a16="http://schemas.microsoft.com/office/drawing/2014/main" id="{4A3B3420-7AA1-4B30-8212-A6989344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19750"/>
            <a:ext cx="2476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2660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2660A"/>
                </a:solidFill>
                <a:latin typeface="Arial"/>
                <a:ea typeface="Arial"/>
                <a:cs typeface="Arial"/>
              </a:rPr>
              <a:t>SCALE OF THE EXPOSURE</a:t>
            </a:r>
          </a:p>
        </p:txBody>
      </p:sp>
      <p:sp>
        <p:nvSpPr>
          <p:cNvPr id="17452" name="">
            <a:extLst xmlns:a="http://schemas.openxmlformats.org/drawingml/2006/main">
              <a:ext uri="{FF2B5EF4-FFF2-40B4-BE49-F238E27FC236}">
                <a16:creationId xmlns:a16="http://schemas.microsoft.com/office/drawing/2014/main" id="{E68E794C-AC73-49BD-84D6-68578ECC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29300"/>
            <a:ext cx="666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82230"/>
                </a:solidFill>
                <a:latin typeface="Arial"/>
                <a:ea typeface="Arial"/>
                <a:cs typeface="Arial"/>
              </a:rPr>
              <a:t>1,948 monitored central-sector projects, ₹41.99 lakh crore latest revised cost (MoSPI PAIMANA, February 2026).</a:t>
            </a:r>
          </a:p>
        </p:txBody>
      </p:sp>
      <p:sp>
        <p:nvSpPr>
          <p:cNvPr id="17453" name="">
            <a:extLst xmlns:a="http://schemas.openxmlformats.org/drawingml/2006/main">
              <a:ext uri="{FF2B5EF4-FFF2-40B4-BE49-F238E27FC236}">
                <a16:creationId xmlns:a16="http://schemas.microsoft.com/office/drawing/2014/main" id="{1EAF6071-45C4-49A8-A354-AD5B7204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457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63" b="1">
                <a:solidFill>
                  <a:srgbClr val="B42318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Context only. NAVIS has run no field pilot, so no saving, ROI or productivity figure is claimed.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4762"/>
            <a:ext cx="12191999" cy="503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0C0"/>
          </a:solidFill>
          <a:ln xmlns:a="http://schemas.openxmlformats.org/drawingml/2006/main" w="9525">
            <a:noFill/>
          </a:ln>
          <a:effectLst xmlns:a="http://schemas.openxmlformats.org/drawingml/2006/main"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C0504D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D867CC2A-FDDC-4BC7-A0DB-F72E69E738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RESEARCH  AND REFERENCES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DFF40B7-0A41-4B1A-871B-FD52B745BF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677C3CE7-23F7-4828-823C-E0205DF2CF97}" type="slidenum">
              <a:rPr sz="1200" b="1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6</a:t>
            </a:fld>
            <a:endParaRPr sz="1200" b="1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5820371A-D465-48A3-9F3A-6C23ADED338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@SIH Idea submission- Template</a:t>
            </a:r>
            <a:endParaRPr sz="1200" b="0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73" y="252246"/>
            <a:ext cx="1251857" cy="807334"/>
          </a:xfrm>
          <a:prstGeom xmlns:a="http://schemas.openxmlformats.org/drawingml/2006/main" prst="ellipse">
            <a:avLst/>
          </a:prstGeom>
        </p:spPr>
        <p:style>
          <a:lnRef xmlns:a="http://schemas.openxmlformats.org/drawingml/2006/main" idx="2">
            <a:schemeClr val="accent4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4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/>
              <a:t>NamasteByte</a:t>
            </a:r>
            <a:endParaRPr/>
          </a:p>
        </p:txBody>
      </p:sp>
      <p:pic>
        <p:nvPicPr>
          <p:cNvPr id="17465" name="Pictur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4ac28dc7ec4a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80086" y="1500"/>
            <a:ext cx="2249850" cy="1062337"/>
          </a:xfrm>
          <a:prstGeom xmlns:a="http://schemas.openxmlformats.org/drawingml/2006/main" prst="rect">
            <a:avLst/>
          </a:prstGeom>
        </p:spPr>
      </p:pic>
      <p:sp>
        <p:nvSpPr>
          <p:cNvPr id="17412" name="">
            <a:extLst xmlns:a="http://schemas.openxmlformats.org/drawingml/2006/main">
              <a:ext uri="{FF2B5EF4-FFF2-40B4-BE49-F238E27FC236}">
                <a16:creationId xmlns:a16="http://schemas.microsoft.com/office/drawing/2014/main" id="{7365B1A2-E802-403E-AB80-59B2E3D3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0015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7B2"/>
                </a:solidFill>
                <a:latin typeface="Arial"/>
                <a:ea typeface="Arial"/>
                <a:cs typeface="Arial"/>
              </a:rPr>
              <a:t>REFERENCE AND RESEARCH WORK</a:t>
            </a:r>
          </a:p>
        </p:txBody>
      </p:sp>
      <p:sp>
        <p:nvSpPr>
          <p:cNvPr id="17413" name="">
            <a:extLst xmlns:a="http://schemas.openxmlformats.org/drawingml/2006/main">
              <a:ext uri="{FF2B5EF4-FFF2-40B4-BE49-F238E27FC236}">
                <a16:creationId xmlns:a16="http://schemas.microsoft.com/office/drawing/2014/main" id="{4F00FF33-D429-485E-896E-05DE7EDD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19225"/>
            <a:ext cx="215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B67B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4" name="">
            <a:extLst xmlns:a="http://schemas.openxmlformats.org/drawingml/2006/main">
              <a:ext uri="{FF2B5EF4-FFF2-40B4-BE49-F238E27FC236}">
                <a16:creationId xmlns:a16="http://schemas.microsoft.com/office/drawing/2014/main" id="{BB2B7402-581E-47B8-AFDE-A3A93C22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600200"/>
            <a:ext cx="56769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5" name="">
            <a:extLst xmlns:a="http://schemas.openxmlformats.org/drawingml/2006/main">
              <a:ext uri="{FF2B5EF4-FFF2-40B4-BE49-F238E27FC236}">
                <a16:creationId xmlns:a16="http://schemas.microsoft.com/office/drawing/2014/main" id="{753DEC91-B83B-49CE-B081-F7B14E65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85925"/>
            <a:ext cx="542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MoSPI PAIMANA</a:t>
            </a:r>
          </a:p>
        </p:txBody>
      </p:sp>
      <p:sp>
        <p:nvSpPr>
          <p:cNvPr id="17416" name="">
            <a:extLst xmlns:a="http://schemas.openxmlformats.org/drawingml/2006/main">
              <a:ext uri="{FF2B5EF4-FFF2-40B4-BE49-F238E27FC236}">
                <a16:creationId xmlns:a16="http://schemas.microsoft.com/office/drawing/2014/main" id="{EDD7C598-45A2-4471-9B1D-B3233FC7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95475"/>
            <a:ext cx="285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Central project monitoring scale</a:t>
            </a:r>
          </a:p>
        </p:txBody>
      </p:sp>
      <p:sp>
        <p:nvSpPr>
          <p:cNvPr id="17417" name="">
            <a:extLst xmlns:a="http://schemas.openxmlformats.org/drawingml/2006/main">
              <a:ext uri="{FF2B5EF4-FFF2-40B4-BE49-F238E27FC236}">
                <a16:creationId xmlns:a16="http://schemas.microsoft.com/office/drawing/2014/main" id="{E21CE6F5-7DD1-49F6-8525-C87B27AB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95475"/>
            <a:ext cx="2514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0B67B2"/>
                </a:solidFill>
                <a:latin typeface="Arial"/>
                <a:ea typeface="Arial"/>
                <a:cs typeface="Arial"/>
              </a:rPr>
              <a:t>ipm.mospi.gov.in</a:t>
            </a:r>
          </a:p>
        </p:txBody>
      </p:sp>
      <p:sp>
        <p:nvSpPr>
          <p:cNvPr id="17418" name="">
            <a:extLst xmlns:a="http://schemas.openxmlformats.org/drawingml/2006/main">
              <a:ext uri="{FF2B5EF4-FFF2-40B4-BE49-F238E27FC236}">
                <a16:creationId xmlns:a16="http://schemas.microsoft.com/office/drawing/2014/main" id="{71864D79-7E18-4C5A-BC3F-D76F5F0E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305050"/>
            <a:ext cx="56769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19" name="">
            <a:extLst xmlns:a="http://schemas.openxmlformats.org/drawingml/2006/main">
              <a:ext uri="{FF2B5EF4-FFF2-40B4-BE49-F238E27FC236}">
                <a16:creationId xmlns:a16="http://schemas.microsoft.com/office/drawing/2014/main" id="{00264DD8-AF3C-4F39-9790-A55D86DE7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90775"/>
            <a:ext cx="542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GAO Schedule Assessment Guide</a:t>
            </a:r>
          </a:p>
        </p:txBody>
      </p:sp>
      <p:sp>
        <p:nvSpPr>
          <p:cNvPr id="17420" name="">
            <a:extLst xmlns:a="http://schemas.openxmlformats.org/drawingml/2006/main">
              <a:ext uri="{FF2B5EF4-FFF2-40B4-BE49-F238E27FC236}">
                <a16:creationId xmlns:a16="http://schemas.microsoft.com/office/drawing/2014/main" id="{22F2C116-8F85-43B6-BC5D-05C0157B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00325"/>
            <a:ext cx="285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What makes a schedule reliable</a:t>
            </a:r>
          </a:p>
        </p:txBody>
      </p:sp>
      <p:sp>
        <p:nvSpPr>
          <p:cNvPr id="17421" name="">
            <a:extLst xmlns:a="http://schemas.openxmlformats.org/drawingml/2006/main">
              <a:ext uri="{FF2B5EF4-FFF2-40B4-BE49-F238E27FC236}">
                <a16:creationId xmlns:a16="http://schemas.microsoft.com/office/drawing/2014/main" id="{8B53A376-31BD-4561-8D7D-B732B08D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00325"/>
            <a:ext cx="2514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0B67B2"/>
                </a:solidFill>
                <a:latin typeface="Arial"/>
                <a:ea typeface="Arial"/>
                <a:cs typeface="Arial"/>
              </a:rPr>
              <a:t>gao.gov/products/gao-16-89g</a:t>
            </a:r>
          </a:p>
        </p:txBody>
      </p:sp>
      <p:sp>
        <p:nvSpPr>
          <p:cNvPr id="17422" name="">
            <a:extLst xmlns:a="http://schemas.openxmlformats.org/drawingml/2006/main">
              <a:ext uri="{FF2B5EF4-FFF2-40B4-BE49-F238E27FC236}">
                <a16:creationId xmlns:a16="http://schemas.microsoft.com/office/drawing/2014/main" id="{82AF9415-7938-4DD8-84DA-91E6F5FB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009900"/>
            <a:ext cx="56769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3" name="">
            <a:extLst xmlns:a="http://schemas.openxmlformats.org/drawingml/2006/main">
              <a:ext uri="{FF2B5EF4-FFF2-40B4-BE49-F238E27FC236}">
                <a16:creationId xmlns:a16="http://schemas.microsoft.com/office/drawing/2014/main" id="{CB7191A2-49D4-4AA0-8B5C-DDCD9018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95625"/>
            <a:ext cx="542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NIST AI Risk Management Framework</a:t>
            </a:r>
          </a:p>
        </p:txBody>
      </p:sp>
      <p:sp>
        <p:nvSpPr>
          <p:cNvPr id="17424" name="">
            <a:extLst xmlns:a="http://schemas.openxmlformats.org/drawingml/2006/main">
              <a:ext uri="{FF2B5EF4-FFF2-40B4-BE49-F238E27FC236}">
                <a16:creationId xmlns:a16="http://schemas.microsoft.com/office/drawing/2014/main" id="{DB4B7F31-3C64-439A-AE63-0CF86BD1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05175"/>
            <a:ext cx="285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Traceability and human oversight</a:t>
            </a:r>
          </a:p>
        </p:txBody>
      </p:sp>
      <p:sp>
        <p:nvSpPr>
          <p:cNvPr id="17425" name="">
            <a:extLst xmlns:a="http://schemas.openxmlformats.org/drawingml/2006/main">
              <a:ext uri="{FF2B5EF4-FFF2-40B4-BE49-F238E27FC236}">
                <a16:creationId xmlns:a16="http://schemas.microsoft.com/office/drawing/2014/main" id="{AAFDF025-32F0-4ED4-B623-A1CC5E5A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305175"/>
            <a:ext cx="2514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0B67B2"/>
                </a:solidFill>
                <a:latin typeface="Arial"/>
                <a:ea typeface="Arial"/>
                <a:cs typeface="Arial"/>
              </a:rPr>
              <a:t>nist.gov/itl/ai-risk-management-framework</a:t>
            </a:r>
          </a:p>
        </p:txBody>
      </p:sp>
      <p:sp>
        <p:nvSpPr>
          <p:cNvPr id="17426" name="">
            <a:extLst xmlns:a="http://schemas.openxmlformats.org/drawingml/2006/main">
              <a:ext uri="{FF2B5EF4-FFF2-40B4-BE49-F238E27FC236}">
                <a16:creationId xmlns:a16="http://schemas.microsoft.com/office/drawing/2014/main" id="{0DF5CC19-AC8F-4279-BE60-9577FC2A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714750"/>
            <a:ext cx="56769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27" name="">
            <a:extLst xmlns:a="http://schemas.openxmlformats.org/drawingml/2006/main">
              <a:ext uri="{FF2B5EF4-FFF2-40B4-BE49-F238E27FC236}">
                <a16:creationId xmlns:a16="http://schemas.microsoft.com/office/drawing/2014/main" id="{62A14768-2935-4724-86EF-BEFC5195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00475"/>
            <a:ext cx="542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Oracle Primavera P6 EPPM docs</a:t>
            </a:r>
          </a:p>
        </p:txBody>
      </p:sp>
      <p:sp>
        <p:nvSpPr>
          <p:cNvPr id="17428" name="">
            <a:extLst xmlns:a="http://schemas.openxmlformats.org/drawingml/2006/main">
              <a:ext uri="{FF2B5EF4-FFF2-40B4-BE49-F238E27FC236}">
                <a16:creationId xmlns:a16="http://schemas.microsoft.com/office/drawing/2014/main" id="{054C37A3-B951-44B6-A7B8-1007A7A5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10025"/>
            <a:ext cx="285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PMXML and XER interchange</a:t>
            </a:r>
          </a:p>
        </p:txBody>
      </p:sp>
      <p:sp>
        <p:nvSpPr>
          <p:cNvPr id="17429" name="">
            <a:extLst xmlns:a="http://schemas.openxmlformats.org/drawingml/2006/main">
              <a:ext uri="{FF2B5EF4-FFF2-40B4-BE49-F238E27FC236}">
                <a16:creationId xmlns:a16="http://schemas.microsoft.com/office/drawing/2014/main" id="{67B63E6F-E595-46E9-9F7F-503E5FF5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010025"/>
            <a:ext cx="2514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0B67B2"/>
                </a:solidFill>
                <a:latin typeface="Arial"/>
                <a:ea typeface="Arial"/>
                <a:cs typeface="Arial"/>
              </a:rPr>
              <a:t>docs.oracle.com - primavera-p6</a:t>
            </a:r>
          </a:p>
        </p:txBody>
      </p:sp>
      <p:sp>
        <p:nvSpPr>
          <p:cNvPr id="17430" name="">
            <a:extLst xmlns:a="http://schemas.openxmlformats.org/drawingml/2006/main">
              <a:ext uri="{FF2B5EF4-FFF2-40B4-BE49-F238E27FC236}">
                <a16:creationId xmlns:a16="http://schemas.microsoft.com/office/drawing/2014/main" id="{098ADEFA-C841-47D0-8864-7F87CC0E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419600"/>
            <a:ext cx="56769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1" name="">
            <a:extLst xmlns:a="http://schemas.openxmlformats.org/drawingml/2006/main">
              <a:ext uri="{FF2B5EF4-FFF2-40B4-BE49-F238E27FC236}">
                <a16:creationId xmlns:a16="http://schemas.microsoft.com/office/drawing/2014/main" id="{E73795D8-0316-43FB-9A95-F6308EAE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05325"/>
            <a:ext cx="542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CFIHOS oil and gas taxonomy</a:t>
            </a:r>
          </a:p>
        </p:txBody>
      </p:sp>
      <p:sp>
        <p:nvSpPr>
          <p:cNvPr id="17432" name="">
            <a:extLst xmlns:a="http://schemas.openxmlformats.org/drawingml/2006/main">
              <a:ext uri="{FF2B5EF4-FFF2-40B4-BE49-F238E27FC236}">
                <a16:creationId xmlns:a16="http://schemas.microsoft.com/office/drawing/2014/main" id="{2061AD34-997C-4F34-A920-D15B97E5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714875"/>
            <a:ext cx="285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182230"/>
                </a:solidFill>
                <a:latin typeface="Arial"/>
                <a:ea typeface="Arial"/>
                <a:cs typeface="Arial"/>
              </a:rPr>
              <a:t>Structure behind the synthetic schedule</a:t>
            </a:r>
          </a:p>
        </p:txBody>
      </p:sp>
      <p:sp>
        <p:nvSpPr>
          <p:cNvPr id="17433" name="">
            <a:extLst xmlns:a="http://schemas.openxmlformats.org/drawingml/2006/main">
              <a:ext uri="{FF2B5EF4-FFF2-40B4-BE49-F238E27FC236}">
                <a16:creationId xmlns:a16="http://schemas.microsoft.com/office/drawing/2014/main" id="{D154E658-9781-4129-99B4-F25AA2C7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714875"/>
            <a:ext cx="2514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0B67B2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0B67B2"/>
                </a:solidFill>
                <a:latin typeface="Arial"/>
                <a:ea typeface="Arial"/>
                <a:cs typeface="Arial"/>
              </a:rPr>
              <a:t>public specification, datasets/real/</a:t>
            </a:r>
          </a:p>
        </p:txBody>
      </p:sp>
      <p:sp>
        <p:nvSpPr>
          <p:cNvPr id="17434" name="">
            <a:extLst xmlns:a="http://schemas.openxmlformats.org/drawingml/2006/main">
              <a:ext uri="{FF2B5EF4-FFF2-40B4-BE49-F238E27FC236}">
                <a16:creationId xmlns:a16="http://schemas.microsoft.com/office/drawing/2014/main" id="{C727907A-F60C-445A-AAD5-22362135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200150"/>
            <a:ext cx="4381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OUR OWN EVIDENCE - WHY COVERAGE IS UNDER HALF</a:t>
            </a:r>
          </a:p>
        </p:txBody>
      </p:sp>
      <p:sp>
        <p:nvSpPr>
          <p:cNvPr id="17435" name="">
            <a:extLst xmlns:a="http://schemas.openxmlformats.org/drawingml/2006/main">
              <a:ext uri="{FF2B5EF4-FFF2-40B4-BE49-F238E27FC236}">
                <a16:creationId xmlns:a16="http://schemas.microsoft.com/office/drawing/2014/main" id="{C443CEBC-25D3-4A30-BBAB-872934484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19225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B7F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6" name="">
            <a:extLst xmlns:a="http://schemas.openxmlformats.org/drawingml/2006/main">
              <a:ext uri="{FF2B5EF4-FFF2-40B4-BE49-F238E27FC236}">
                <a16:creationId xmlns:a16="http://schemas.microsoft.com/office/drawing/2014/main" id="{0456A1F5-C6A9-455E-860C-7AD42A1B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00200"/>
            <a:ext cx="5524500" cy="590550"/>
          </a:xfrm>
          <a:prstGeom xmlns:a="http://schemas.openxmlformats.org/drawingml/2006/main" prst="roundRect">
            <a:avLst>
              <a:gd name="adj" fmla="val 17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37" name="">
            <a:extLst xmlns:a="http://schemas.openxmlformats.org/drawingml/2006/main">
              <a:ext uri="{FF2B5EF4-FFF2-40B4-BE49-F238E27FC236}">
                <a16:creationId xmlns:a16="http://schemas.microsoft.com/office/drawing/2014/main" id="{A5FD9B10-2254-4DB3-9008-E98F1CA26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695450"/>
            <a:ext cx="5257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154 held-out test mentions</a:t>
            </a:r>
          </a:p>
        </p:txBody>
      </p:sp>
      <p:sp>
        <p:nvSpPr>
          <p:cNvPr id="17438" name="">
            <a:extLst xmlns:a="http://schemas.openxmlformats.org/drawingml/2006/main">
              <a:ext uri="{FF2B5EF4-FFF2-40B4-BE49-F238E27FC236}">
                <a16:creationId xmlns:a16="http://schemas.microsoft.com/office/drawing/2014/main" id="{A66C7BC1-F609-4234-A5F1-C76CE1D4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905000"/>
            <a:ext cx="5257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5A6676"/>
                </a:solidFill>
                <a:latin typeface="Arial"/>
                <a:ea typeface="Arial"/>
                <a:cs typeface="Arial"/>
              </a:rPr>
              <a:t>six source files, no threshold tuned on them</a:t>
            </a:r>
          </a:p>
        </p:txBody>
      </p:sp>
      <p:sp>
        <p:nvSpPr>
          <p:cNvPr id="17439" name="">
            <a:extLst xmlns:a="http://schemas.openxmlformats.org/drawingml/2006/main">
              <a:ext uri="{FF2B5EF4-FFF2-40B4-BE49-F238E27FC236}">
                <a16:creationId xmlns:a16="http://schemas.microsoft.com/office/drawing/2014/main" id="{235F22A6-8675-40A6-968D-76F5FAEB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90750"/>
            <a:ext cx="5524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675">
                <a:solidFill>
                  <a:srgbClr val="5A6676"/>
                </a:solidFill>
                <a:latin typeface="Arial"/>
                <a:ea typeface="Arial"/>
                <a:cs typeface="Arial"/>
              </a:rPr>
              <a:t>▼</a:t>
            </a:r>
          </a:p>
        </p:txBody>
      </p:sp>
      <p:sp>
        <p:nvSpPr>
          <p:cNvPr id="17440" name="">
            <a:extLst xmlns:a="http://schemas.openxmlformats.org/drawingml/2006/main">
              <a:ext uri="{FF2B5EF4-FFF2-40B4-BE49-F238E27FC236}">
                <a16:creationId xmlns:a16="http://schemas.microsoft.com/office/drawing/2014/main" id="{C45FC526-D0A4-49A2-964A-707548BB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5524500" cy="590550"/>
          </a:xfrm>
          <a:prstGeom xmlns:a="http://schemas.openxmlformats.org/drawingml/2006/main" prst="roundRect">
            <a:avLst>
              <a:gd name="adj" fmla="val 17742"/>
            </a:avLst>
          </a:prstGeom>
          <a:solidFill xmlns:a="http://schemas.openxmlformats.org/drawingml/2006/main">
            <a:srgbClr val="EAF6EF"/>
          </a:solidFill>
          <a:ln xmlns:a="http://schemas.openxmlformats.org/drawingml/2006/main" w="12383">
            <a:solidFill>
              <a:srgbClr val="92C9A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1" name="">
            <a:extLst xmlns:a="http://schemas.openxmlformats.org/drawingml/2006/main">
              <a:ext uri="{FF2B5EF4-FFF2-40B4-BE49-F238E27FC236}">
                <a16:creationId xmlns:a16="http://schemas.microsoft.com/office/drawing/2014/main" id="{59ADE905-F26F-4B04-9839-681A8932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438400"/>
            <a:ext cx="5257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67 auto-linked</a:t>
            </a:r>
          </a:p>
        </p:txBody>
      </p:sp>
      <p:sp>
        <p:nvSpPr>
          <p:cNvPr id="17442" name="">
            <a:extLst xmlns:a="http://schemas.openxmlformats.org/drawingml/2006/main">
              <a:ext uri="{FF2B5EF4-FFF2-40B4-BE49-F238E27FC236}">
                <a16:creationId xmlns:a16="http://schemas.microsoft.com/office/drawing/2014/main" id="{58AE2441-D4E7-4BF0-821A-CF88DEE1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47950"/>
            <a:ext cx="5257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5A6676"/>
                </a:solidFill>
                <a:latin typeface="Arial"/>
                <a:ea typeface="Arial"/>
                <a:cs typeface="Arial"/>
              </a:rPr>
              <a:t>43.5% coverage at 100% precision</a:t>
            </a:r>
          </a:p>
        </p:txBody>
      </p:sp>
      <p:sp>
        <p:nvSpPr>
          <p:cNvPr id="17443" name="">
            <a:extLst xmlns:a="http://schemas.openxmlformats.org/drawingml/2006/main">
              <a:ext uri="{FF2B5EF4-FFF2-40B4-BE49-F238E27FC236}">
                <a16:creationId xmlns:a16="http://schemas.microsoft.com/office/drawing/2014/main" id="{F77DDCA4-4F59-4226-B5FF-508B0C49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33700"/>
            <a:ext cx="5524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675">
                <a:solidFill>
                  <a:srgbClr val="5A6676"/>
                </a:solidFill>
                <a:latin typeface="Arial"/>
                <a:ea typeface="Arial"/>
                <a:cs typeface="Arial"/>
              </a:rPr>
              <a:t>▼</a:t>
            </a:r>
          </a:p>
        </p:txBody>
      </p:sp>
      <p:sp>
        <p:nvSpPr>
          <p:cNvPr id="17444" name="">
            <a:extLst xmlns:a="http://schemas.openxmlformats.org/drawingml/2006/main">
              <a:ext uri="{FF2B5EF4-FFF2-40B4-BE49-F238E27FC236}">
                <a16:creationId xmlns:a16="http://schemas.microsoft.com/office/drawing/2014/main" id="{CF06693A-317F-4C2A-B364-70FEB226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86100"/>
            <a:ext cx="5524500" cy="590550"/>
          </a:xfrm>
          <a:prstGeom xmlns:a="http://schemas.openxmlformats.org/drawingml/2006/main" prst="roundRect">
            <a:avLst>
              <a:gd name="adj" fmla="val 17742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12383">
            <a:solidFill>
              <a:srgbClr val="9DC2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5" name="">
            <a:extLst xmlns:a="http://schemas.openxmlformats.org/drawingml/2006/main">
              <a:ext uri="{FF2B5EF4-FFF2-40B4-BE49-F238E27FC236}">
                <a16:creationId xmlns:a16="http://schemas.microsoft.com/office/drawing/2014/main" id="{D364FBF4-36CB-4F82-98E7-7373CBA75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81350"/>
            <a:ext cx="5257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23F78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23F78"/>
                </a:solidFill>
                <a:latin typeface="Arial"/>
                <a:ea typeface="Arial"/>
                <a:cs typeface="Arial"/>
              </a:rPr>
              <a:t>39 schedule nodes touched</a:t>
            </a:r>
          </a:p>
        </p:txBody>
      </p:sp>
      <p:sp>
        <p:nvSpPr>
          <p:cNvPr id="17446" name="">
            <a:extLst xmlns:a="http://schemas.openxmlformats.org/drawingml/2006/main">
              <a:ext uri="{FF2B5EF4-FFF2-40B4-BE49-F238E27FC236}">
                <a16:creationId xmlns:a16="http://schemas.microsoft.com/office/drawing/2014/main" id="{C7B15911-E538-45E7-B3FC-60E80FF3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0900"/>
            <a:ext cx="5257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5A6676"/>
                </a:solidFill>
                <a:latin typeface="Arial"/>
                <a:ea typeface="Arial"/>
                <a:cs typeface="Arial"/>
              </a:rPr>
              <a:t>after quantity-based roll-up</a:t>
            </a:r>
          </a:p>
        </p:txBody>
      </p:sp>
      <p:sp>
        <p:nvSpPr>
          <p:cNvPr id="17447" name="">
            <a:extLst xmlns:a="http://schemas.openxmlformats.org/drawingml/2006/main">
              <a:ext uri="{FF2B5EF4-FFF2-40B4-BE49-F238E27FC236}">
                <a16:creationId xmlns:a16="http://schemas.microsoft.com/office/drawing/2014/main" id="{D993219B-6354-485B-87DE-1AEC2CF8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29050"/>
            <a:ext cx="2686050" cy="590550"/>
          </a:xfrm>
          <a:prstGeom xmlns:a="http://schemas.openxmlformats.org/drawingml/2006/main" prst="roundRect">
            <a:avLst>
              <a:gd name="adj" fmla="val 17742"/>
            </a:avLst>
          </a:prstGeom>
          <a:solidFill xmlns:a="http://schemas.openxmlformats.org/drawingml/2006/main">
            <a:srgbClr val="FFF3E6"/>
          </a:solidFill>
          <a:ln xmlns:a="http://schemas.openxmlformats.org/drawingml/2006/main" w="12383">
            <a:solidFill>
              <a:srgbClr val="F1B3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48" name="">
            <a:extLst xmlns:a="http://schemas.openxmlformats.org/drawingml/2006/main">
              <a:ext uri="{FF2B5EF4-FFF2-40B4-BE49-F238E27FC236}">
                <a16:creationId xmlns:a16="http://schemas.microsoft.com/office/drawing/2014/main" id="{124E169C-F289-447F-944A-2981AAA9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24300"/>
            <a:ext cx="2457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2660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2660A"/>
                </a:solidFill>
                <a:latin typeface="Arial"/>
                <a:ea typeface="Arial"/>
                <a:cs typeface="Arial"/>
              </a:rPr>
              <a:t>32 had no measurable quantity</a:t>
            </a:r>
          </a:p>
        </p:txBody>
      </p:sp>
      <p:sp>
        <p:nvSpPr>
          <p:cNvPr id="17449" name="">
            <a:extLst xmlns:a="http://schemas.openxmlformats.org/drawingml/2006/main">
              <a:ext uri="{FF2B5EF4-FFF2-40B4-BE49-F238E27FC236}">
                <a16:creationId xmlns:a16="http://schemas.microsoft.com/office/drawing/2014/main" id="{D64D85E1-0038-4FF1-BDBE-316C875C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33850"/>
            <a:ext cx="2457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5A6676"/>
                </a:solidFill>
                <a:latin typeface="Arial"/>
                <a:ea typeface="Arial"/>
                <a:cs typeface="Arial"/>
              </a:rPr>
              <a:t>no percentage, no date written</a:t>
            </a:r>
          </a:p>
        </p:txBody>
      </p:sp>
      <p:sp>
        <p:nvSpPr>
          <p:cNvPr id="17450" name="">
            <a:extLst xmlns:a="http://schemas.openxmlformats.org/drawingml/2006/main">
              <a:ext uri="{FF2B5EF4-FFF2-40B4-BE49-F238E27FC236}">
                <a16:creationId xmlns:a16="http://schemas.microsoft.com/office/drawing/2014/main" id="{39EB3EE0-AEEA-42B8-8585-406A824C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829050"/>
            <a:ext cx="2686050" cy="590550"/>
          </a:xfrm>
          <a:prstGeom xmlns:a="http://schemas.openxmlformats.org/drawingml/2006/main" prst="roundRect">
            <a:avLst>
              <a:gd name="adj" fmla="val 17742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12383">
            <a:solidFill>
              <a:srgbClr val="F0BDB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51" name="">
            <a:extLst xmlns:a="http://schemas.openxmlformats.org/drawingml/2006/main">
              <a:ext uri="{FF2B5EF4-FFF2-40B4-BE49-F238E27FC236}">
                <a16:creationId xmlns:a16="http://schemas.microsoft.com/office/drawing/2014/main" id="{B6E8113A-A51F-4F62-8097-DBE138CE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24300"/>
            <a:ext cx="2457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4231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7 finish dates withheld</a:t>
            </a:r>
          </a:p>
        </p:txBody>
      </p:sp>
      <p:sp>
        <p:nvSpPr>
          <p:cNvPr id="17452" name="">
            <a:extLst xmlns:a="http://schemas.openxmlformats.org/drawingml/2006/main">
              <a:ext uri="{FF2B5EF4-FFF2-40B4-BE49-F238E27FC236}">
                <a16:creationId xmlns:a16="http://schemas.microsoft.com/office/drawing/2014/main" id="{7ED835B5-218F-4467-9A40-824D83D2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33850"/>
            <a:ext cx="2457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>
                <a:solidFill>
                  <a:srgbClr val="5A6676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5A6676"/>
                </a:solidFill>
                <a:latin typeface="Arial"/>
                <a:ea typeface="Arial"/>
                <a:cs typeface="Arial"/>
              </a:rPr>
              <a:t>the only date came from a report header</a:t>
            </a:r>
          </a:p>
        </p:txBody>
      </p:sp>
      <p:sp>
        <p:nvSpPr>
          <p:cNvPr id="17453" name="">
            <a:extLst xmlns:a="http://schemas.openxmlformats.org/drawingml/2006/main">
              <a:ext uri="{FF2B5EF4-FFF2-40B4-BE49-F238E27FC236}">
                <a16:creationId xmlns:a16="http://schemas.microsoft.com/office/drawing/2014/main" id="{D2360340-329A-4D21-86C8-49A7B01E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33900"/>
            <a:ext cx="552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B7F4B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B7F4B"/>
                </a:solidFill>
                <a:latin typeface="Arial"/>
                <a:ea typeface="Arial"/>
                <a:cs typeface="Arial"/>
              </a:rPr>
              <a:t>Every narrowing step is a deliberate refusal. Reproduce it live: python eval.py</a:t>
            </a:r>
          </a:p>
        </p:txBody>
      </p:sp>
      <p:sp>
        <p:nvSpPr>
          <p:cNvPr id="17454" name="">
            <a:extLst xmlns:a="http://schemas.openxmlformats.org/drawingml/2006/main">
              <a:ext uri="{FF2B5EF4-FFF2-40B4-BE49-F238E27FC236}">
                <a16:creationId xmlns:a16="http://schemas.microsoft.com/office/drawing/2014/main" id="{5AD20F6A-F5BE-4DAA-AD1C-57D3FD84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200650"/>
            <a:ext cx="115062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455" name="">
            <a:extLst xmlns:a="http://schemas.openxmlformats.org/drawingml/2006/main">
              <a:ext uri="{FF2B5EF4-FFF2-40B4-BE49-F238E27FC236}">
                <a16:creationId xmlns:a16="http://schemas.microsoft.com/office/drawing/2014/main" id="{FF0E5F42-E897-40DF-B98F-3CE11D11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14950"/>
            <a:ext cx="2476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4231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EVIDENCE BOUNDARY</a:t>
            </a:r>
          </a:p>
        </p:txBody>
      </p:sp>
      <p:sp>
        <p:nvSpPr>
          <p:cNvPr id="17456" name="">
            <a:extLst xmlns:a="http://schemas.openxmlformats.org/drawingml/2006/main">
              <a:ext uri="{FF2B5EF4-FFF2-40B4-BE49-F238E27FC236}">
                <a16:creationId xmlns:a16="http://schemas.microsoft.com/office/drawing/2014/main" id="{388C05A0-572B-4A85-B45D-9EEC48B9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81650"/>
            <a:ext cx="26670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>
          <a:bodyPr xmlns:a="http://schemas.openxmlformats.org/drawingml/2006/main" wrap="square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Synthetic schedule and reports</a:t>
            </a:r>
          </a:p>
        </p:txBody>
      </p:sp>
      <p:sp>
        <p:nvSpPr>
          <p:cNvPr id="17457" name="">
            <a:extLst xmlns:a="http://schemas.openxmlformats.org/drawingml/2006/main">
              <a:ext uri="{FF2B5EF4-FFF2-40B4-BE49-F238E27FC236}">
                <a16:creationId xmlns:a16="http://schemas.microsoft.com/office/drawing/2014/main" id="{97C48AF5-279E-4DDF-BD30-023AF702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581650"/>
            <a:ext cx="26670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>
          <a:bodyPr xmlns:a="http://schemas.openxmlformats.org/drawingml/2006/main" wrap="square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No live Oil India data yet</a:t>
            </a:r>
          </a:p>
        </p:txBody>
      </p:sp>
      <p:sp>
        <p:nvSpPr>
          <p:cNvPr id="17458" name="">
            <a:extLst xmlns:a="http://schemas.openxmlformats.org/drawingml/2006/main">
              <a:ext uri="{FF2B5EF4-FFF2-40B4-BE49-F238E27FC236}">
                <a16:creationId xmlns:a16="http://schemas.microsoft.com/office/drawing/2014/main" id="{09EE2E2F-9B6A-4818-A505-8D541E46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581650"/>
            <a:ext cx="26670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>
          <a:bodyPr xmlns:a="http://schemas.openxmlformats.org/drawingml/2006/main" wrap="square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In-distribution benchmark</a:t>
            </a:r>
          </a:p>
        </p:txBody>
      </p:sp>
      <p:sp>
        <p:nvSpPr>
          <p:cNvPr id="17459" name="">
            <a:extLst xmlns:a="http://schemas.openxmlformats.org/drawingml/2006/main">
              <a:ext uri="{FF2B5EF4-FFF2-40B4-BE49-F238E27FC236}">
                <a16:creationId xmlns:a16="http://schemas.microsoft.com/office/drawing/2014/main" id="{9DDE6DD0-04FF-4C9C-953B-D31DF3F6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581650"/>
            <a:ext cx="26670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7D3E3"/>
            </a:solidFill>
            <a:prstDash val="solid"/>
          </a:ln>
        </p:spPr>
        <p:txBody>
          <a:bodyPr xmlns:a="http://schemas.openxmlformats.org/drawingml/2006/main" wrap="square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82230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182230"/>
                </a:solidFill>
                <a:latin typeface="Arial"/>
                <a:ea typeface="Arial"/>
                <a:cs typeface="Arial"/>
              </a:rPr>
              <a:t>1,426 tests - 1,202 pytest, 224 vitest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2026-09-10T13:03:51.2310000Z</dcterms:created>
  <dcterms:modified xsi:type="dcterms:W3CDTF">2026-09-10T13:03:51.2310000Z</dcterms:modified>
</coreProperties>
</file>