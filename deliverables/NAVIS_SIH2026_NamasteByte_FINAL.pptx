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0ef1f2797f84ec6" Type="http://schemas.openxmlformats.org/package/2006/relationships/metadata/core-properties" Target="docProps/core.xml"/><Relationship Id="R0fa5ede56b324c6c" Type="http://schemas.openxmlformats.org/officeDocument/2006/relationships/extended-properties" Target="docProps/app.xml"/><Relationship Id="R9611258df9cf4bb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ba2aa83854a96"/>
  </p:sldMasterIdLst>
  <p:notesMasterIdLst>
    <p:notesMasterId xmlns:r="http://schemas.openxmlformats.org/officeDocument/2006/relationships" r:id="Rcd67294243b54ca1"/>
  </p:notesMasterIdLst>
  <p:sldIdLst>
    <p:sldId xmlns:r="http://schemas.openxmlformats.org/officeDocument/2006/relationships" id="256" r:id="Rac6c6573db6c42cf"/>
    <p:sldId xmlns:r="http://schemas.openxmlformats.org/officeDocument/2006/relationships" id="257" r:id="Rc1f7b7c8192444c4"/>
    <p:sldId xmlns:r="http://schemas.openxmlformats.org/officeDocument/2006/relationships" id="258" r:id="Rc8be60e0fe0541bd"/>
    <p:sldId xmlns:r="http://schemas.openxmlformats.org/officeDocument/2006/relationships" id="259" r:id="R46ed5279d2b54cf8"/>
    <p:sldId xmlns:r="http://schemas.openxmlformats.org/officeDocument/2006/relationships" id="260" r:id="Rfd16f21fa85a4401"/>
    <p:sldId xmlns:r="http://schemas.openxmlformats.org/officeDocument/2006/relationships" id="261" r:id="R0a3b9c035d024c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a3b9c035d024cfd" Type="http://schemas.openxmlformats.org/officeDocument/2006/relationships/slide" Target="slides/slide6.xml"/><Relationship Id="R1efda416d53742d2" Type="http://schemas.openxmlformats.org/officeDocument/2006/relationships/tableStyles" Target="tableStyles.xml"/><Relationship Id="R46ed5279d2b54cf8" Type="http://schemas.openxmlformats.org/officeDocument/2006/relationships/slide" Target="slides/slide4.xml"/><Relationship Id="R4a2fda3bd8df4534" Type="http://schemas.openxmlformats.org/officeDocument/2006/relationships/theme" Target="theme/theme1.xml"/><Relationship Id="R9e34a5cc106746cf" Type="http://schemas.openxmlformats.org/officeDocument/2006/relationships/presProps" Target="presProps.xml"/><Relationship Id="Rac6c6573db6c42cf" Type="http://schemas.openxmlformats.org/officeDocument/2006/relationships/slide" Target="slides/slide1.xml"/><Relationship Id="Rc1f7b7c8192444c4" Type="http://schemas.openxmlformats.org/officeDocument/2006/relationships/slide" Target="slides/slide2.xml"/><Relationship Id="Rc8be60e0fe0541bd" Type="http://schemas.openxmlformats.org/officeDocument/2006/relationships/slide" Target="slides/slide3.xml"/><Relationship Id="Rcd67294243b54ca1" Type="http://schemas.openxmlformats.org/officeDocument/2006/relationships/notesMaster" Target="notesMasters/notesMaster1.xml"/><Relationship Id="Re5eaf1f43e3b48f0" Type="http://schemas.openxmlformats.org/officeDocument/2006/relationships/viewProps" Target="viewProps.xml"/><Relationship Id="Re85ba2aa83854a96" Type="http://schemas.openxmlformats.org/officeDocument/2006/relationships/slideMaster" Target="slideMasters/slideMaster1.xml"/><Relationship Id="Rfd16f21fa85a440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5fb1d35947cb49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2c0ba0fc83b49fe" Type="http://schemas.openxmlformats.org/officeDocument/2006/relationships/slide" Target="../slides/slide1.xml"/><Relationship Id="Rd98966d4b9734e0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43dd676f7384403" Type="http://schemas.openxmlformats.org/officeDocument/2006/relationships/notesMaster" Target="../notesMasters/notesMaster1.xml"/><Relationship Id="R992c7702a6f84a4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8b41bd2cd6546da" Type="http://schemas.openxmlformats.org/officeDocument/2006/relationships/notesMaster" Target="../notesMasters/notesMaster1.xml"/><Relationship Id="Rf353f214bb8a43f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c3342a31791a4e3c" Type="http://schemas.openxmlformats.org/officeDocument/2006/relationships/notesMaster" Target="../notesMasters/notesMaster1.xml"/><Relationship Id="Rf74d1244b1e34f2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9928afc9685496c" Type="http://schemas.openxmlformats.org/officeDocument/2006/relationships/notesMaster" Target="../notesMasters/notesMaster1.xml"/><Relationship Id="R4b1b83fb6a054b6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7bc4ec68ce74208" Type="http://schemas.openxmlformats.org/officeDocument/2006/relationships/slide" Target="../slides/slide6.xml"/><Relationship Id="R9ff4b4db4d0a4ed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 taken from the SIH portal listing for PS 26122, Oil India Limited.</a:t>
            </a:r>
          </a:p>
          <a:p xmlns:a="http://schemas.openxmlformats.org/drawingml/2006/main">
            <a:r>
              <a:t>Team ID intentionally left blank until the portal issues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Diagram: Eraser workspace 2qnRjujRIBvJMgxD2vov, diagram 9JyHxB0LPKk1vQ5E_QwS.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100 percent auto-link precision, 67 of 67, on the held-out test split - reproduce with python eval.py.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Coverage is 43.5 percent by design; the remaining mentions go to the planner review queue.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Diagram: Eraser workspace 2qnRjujRIBvJMgxD2vov, diagram LxOWrZi9aG3a2C87B7_8.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Thresholds shown on the chart are the shipped configuration: high 0.80, low 0.40, margin 0.03 (matching/config.py).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Auto-link precision 100 percent (67/67), coverage 43.5 percent (67/154), top-1 86.9 percent (126/145) on the held-out test split.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1,426 automated tests = 1,202 pytest plus 224 vitest, all passing on 10 September 2026.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optional local LLM may help read a messy report. It never chooses the activity and never writes a date.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Diagram: Eraser workspace 2qnRjujRIBvJMgxD2vov, diagram Vwn78M3zjDixZbTZ4tdn.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recall@20 = 100 percent on the held-out test split; fusion places the correct activity inside the retrieved 20.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XER writer emits a simplified shape and is not a P6-valid round trip (D-047).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OCR is on-premise only when local Tesseract is installed; an optional cloud vision provider would send that document out.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MoSPI PAIMANA portal, February 2026: 1,948 monitored central-sector projects, latest revised cost 41,98,684.28 crore rupees.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That figure sets the scale of the exposure. It is not a NAVIS savings claim and the slide says so.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field pilot has run, so no ROI, monetary saving or productivity percentage is claimed anywhere in this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MoSPI PAIMANA: https://ipm.mospi.gov.in/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GAO Schedule Assessment Guide GAO-16-89G: https://www.gao.gov/products/gao-16-89g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NIST AI Risk Management Framework: https://www.nist.gov/itl/ai-risk-management-framework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Oracle Primavera P6 EPPM documentation: https://docs.oracle.com/en/industries/construction-engineering/primavera-p6-enterprise-project-portfolio/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METRICS.md section 3.4a audits our own benchmark: 84 percent of test positives reuse an activity seen in training, so these are in-distribution numbers.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28911fff7934c7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85f645359b57488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e6496e717024f8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788032be0c9d4a7a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c1538d0612d41f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25bfa2bc64a4ac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7f2b12021ae84a9f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249b267798ac43b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b9674b1b6cbb46f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210f4c95192240a7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87663f500ee5448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82B93B-E853-455D-8075-D0AB3051F8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E5B1B3E-F7AE-44C4-B529-70E5D85691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9D1413-0F24-49DE-B18A-25CFD18647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C7194D-15BC-41A8-8231-E2029D5FBE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BD1736-4635-4CF1-9339-24893AE7FB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D310BC-0ED7-46F1-B6C2-63A892746B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372AF3-D95D-43F8-AA5B-C835E83687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53958E-37DB-4FC1-821D-60FD2746C9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46543E-6F1F-4627-BFD9-D4AD317F4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39F65C-2887-4D4A-8C98-4A5A37251B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463BFC-C49C-4F04-99F0-873417E9FF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855FCC-A6AF-4B5B-8D3E-C21DB8186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8B4148-E986-4FAF-B613-18A4125CF3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F14CC7-0C02-4E03-BE43-6556C9EC37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DA7CBC-B397-4956-ABD0-3AD936F4ED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90A800-F9B5-46BB-8C62-806B53986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62A06C-B29E-4665-AA21-A5829138F4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7A344C-CFBE-493A-B94A-DB3D7FA896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8B8EDB-9C2F-445D-BB9B-0CA99DE49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885972-C713-41B7-9657-5D5D29C0DF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416745-1E1A-4166-8D64-262F3D0CE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336631-9668-4F15-AD29-2D218C71C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CF7036-2247-4519-BA2D-389049513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12918B2-C240-4036-B097-AE14AAFCCF1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812D4B7-F30F-4A03-9309-5640FE330E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70D24EA-38E3-47A5-9D44-676F6CFB91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93DA61-E273-4882-8EDF-A6F2F3B18B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2D4094-C31D-4136-9D6C-49A985C732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9622B-B7FE-4FD5-86B7-537AEE5817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C69674-A5B1-4B2A-A69B-74C540AF7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16C0DA-C777-4615-B2E5-CD4047084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E387A5-5E02-4C5F-9713-4C2602555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70C69A-BEBB-42D7-B5A1-6B03EB5A09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1F3C92-F84F-4A10-BED4-473EB84341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FD70DB-F3C9-4DC2-8283-055489865C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AE64F9-92B1-4C31-A765-183BC6EB05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B71020-559B-4B4F-BA03-8C8CA6BF3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82510D-B6F1-465B-9C9D-FD5A24C41B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C55F36-D254-47ED-A935-9F11BD4E7E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7B2E83-CEDD-4AA3-846B-A302735D2C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9BE638-EC94-4A20-A9D6-1B3D52084C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41BB8F-3328-4E63-BFE0-B5DE732CC2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0A5181-9A82-4DDB-A891-233B6EFF5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CD28C6D-9FF5-4FB4-96D7-34B36D67A10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747862-033E-4DD5-8E73-C2299BC9CA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FBF623-AD30-4954-AAF2-4FC2CDC5CD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15A0DA-B834-4343-844A-C73E398017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EF0386-8A8A-4D10-B8BA-4C5A49D329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B4E6CC-1AF1-49EF-B898-F9A00C04F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5B6A2-6FDB-431A-813C-316184EB37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A24A30-F10B-4DD6-B400-8366D1C96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D228EB-8D79-4B5E-82B0-5090F9542E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56AB2D-6E66-4FB0-8900-50DC9B92E5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6CFB8B3-857E-4BF1-8D87-9D5B0CDD8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7D7142-BCD7-41E8-9699-DC82AC4E70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1EFEF0-E0C7-4F2F-9D5F-FE10A7C94C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57BD7B-B058-47CA-A9AE-93E6B94730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8D677A-988D-4F5F-9366-E092C585A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cb587f5db7c4aea" Type="http://schemas.openxmlformats.org/officeDocument/2006/relationships/slideLayout" Target="../slideLayouts/slideLayout6.xml"/><Relationship Id="R225c6ee31d6f4743" Type="http://schemas.openxmlformats.org/officeDocument/2006/relationships/slideLayout" Target="../slideLayouts/slideLayout1.xml"/><Relationship Id="R2a6baf6496f54096" Type="http://schemas.openxmlformats.org/officeDocument/2006/relationships/slideLayout" Target="../slideLayouts/slideLayout5.xml"/><Relationship Id="R6e4155d148784ae7" Type="http://schemas.openxmlformats.org/officeDocument/2006/relationships/slideLayout" Target="../slideLayouts/slideLayout4.xml"/><Relationship Id="R91a2d91ff790411b" Type="http://schemas.openxmlformats.org/officeDocument/2006/relationships/slideLayout" Target="../slideLayouts/slideLayout10.xml"/><Relationship Id="Rad6a94169bfc4804" Type="http://schemas.openxmlformats.org/officeDocument/2006/relationships/slideLayout" Target="../slideLayouts/slideLayout11.xml"/><Relationship Id="Rc522070cdf1a481d" Type="http://schemas.openxmlformats.org/officeDocument/2006/relationships/slideLayout" Target="../slideLayouts/slideLayout8.xml"/><Relationship Id="Rd534b47d2ab54538" Type="http://schemas.openxmlformats.org/officeDocument/2006/relationships/slideLayout" Target="../slideLayouts/slideLayout7.xml"/><Relationship Id="Recbb772703694971" Type="http://schemas.openxmlformats.org/officeDocument/2006/relationships/theme" Target="theme/theme2.xml"/><Relationship Id="Rf1081e5e5b4d4847" Type="http://schemas.openxmlformats.org/officeDocument/2006/relationships/slideLayout" Target="../slideLayouts/slideLayout3.xml"/><Relationship Id="Rf4d7964546c84e71" Type="http://schemas.openxmlformats.org/officeDocument/2006/relationships/slideLayout" Target="../slideLayouts/slideLayout9.xml"/><Relationship Id="Rfc8900e2270d4df8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C56D45-4262-42AB-A291-8023FB306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D854A5-B577-471C-83E5-8BFDFE71F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647B09-F409-41D5-A8E5-89C6F38B45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96EA32-A44B-4A4C-855E-3CB45FAEC7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7830A9-9162-4809-8E7E-5D104389C8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c6ee31d6f4743"/>
    <p:sldLayoutId xmlns:r="http://schemas.openxmlformats.org/officeDocument/2006/relationships" id="2147483650" r:id="Rfc8900e2270d4df8"/>
    <p:sldLayoutId xmlns:r="http://schemas.openxmlformats.org/officeDocument/2006/relationships" id="2147483651" r:id="Rf1081e5e5b4d4847"/>
    <p:sldLayoutId xmlns:r="http://schemas.openxmlformats.org/officeDocument/2006/relationships" id="2147483652" r:id="R6e4155d148784ae7"/>
    <p:sldLayoutId xmlns:r="http://schemas.openxmlformats.org/officeDocument/2006/relationships" id="2147483653" r:id="R2a6baf6496f54096"/>
    <p:sldLayoutId xmlns:r="http://schemas.openxmlformats.org/officeDocument/2006/relationships" id="2147483654" r:id="R1cb587f5db7c4aea"/>
    <p:sldLayoutId xmlns:r="http://schemas.openxmlformats.org/officeDocument/2006/relationships" id="2147483655" r:id="Rd534b47d2ab54538"/>
    <p:sldLayoutId xmlns:r="http://schemas.openxmlformats.org/officeDocument/2006/relationships" id="2147483656" r:id="Rc522070cdf1a481d"/>
    <p:sldLayoutId xmlns:r="http://schemas.openxmlformats.org/officeDocument/2006/relationships" id="2147483657" r:id="Rf4d7964546c84e71"/>
    <p:sldLayoutId xmlns:r="http://schemas.openxmlformats.org/officeDocument/2006/relationships" id="2147483658" r:id="R91a2d91ff790411b"/>
    <p:sldLayoutId xmlns:r="http://schemas.openxmlformats.org/officeDocument/2006/relationships" id="2147483659" r:id="Rad6a94169bfc4804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34d3422f7034c05" Type="http://schemas.openxmlformats.org/officeDocument/2006/relationships/image" Target="../media/image2.png"/><Relationship Id="R6a12cbf4bcad4ef3" Type="http://schemas.openxmlformats.org/officeDocument/2006/relationships/image" Target="../media/image.png"/><Relationship Id="R8f4eca50f7ad4ae6" Type="http://schemas.openxmlformats.org/officeDocument/2006/relationships/notesSlide" Target="../notesSlides/notesSlide1.xml"/><Relationship Id="Rcca4ee2da57449f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f8cddcc75a64065" Type="http://schemas.openxmlformats.org/officeDocument/2006/relationships/notesSlide" Target="../notesSlides/notesSlide2.xml"/><Relationship Id="R52862831be984cae" Type="http://schemas.openxmlformats.org/officeDocument/2006/relationships/image" Target="../media/image2.png"/><Relationship Id="R9c746180ba824b38" Type="http://schemas.openxmlformats.org/officeDocument/2006/relationships/image" Target="../media/image3.png"/><Relationship Id="Rebf9186766a54b9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1eed3679fc04430d" Type="http://schemas.openxmlformats.org/officeDocument/2006/relationships/image" Target="../media/image4.png"/><Relationship Id="R200ae834e1f44af5" Type="http://schemas.openxmlformats.org/officeDocument/2006/relationships/image" Target="../media/image2.png"/><Relationship Id="R3cbee513f53c4a7e" Type="http://schemas.openxmlformats.org/officeDocument/2006/relationships/notesSlide" Target="../notesSlides/notesSlide3.xml"/><Relationship Id="Rf89a44c8fd564948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1e14666d517a459b" Type="http://schemas.openxmlformats.org/officeDocument/2006/relationships/notesSlide" Target="../notesSlides/notesSlide4.xml"/><Relationship Id="R5d4fb449101f489a" Type="http://schemas.openxmlformats.org/officeDocument/2006/relationships/image" Target="../media/image5.png"/><Relationship Id="R7974c2efc2c24af0" Type="http://schemas.openxmlformats.org/officeDocument/2006/relationships/slideLayout" Target="../slideLayouts/slideLayout2.xml"/><Relationship Id="R7b7b13936ff84b4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2436b366a4ea4c75" Type="http://schemas.openxmlformats.org/officeDocument/2006/relationships/notesSlide" Target="../notesSlides/notesSlide5.xml"/><Relationship Id="R42d1d8df6a7642ed" Type="http://schemas.openxmlformats.org/officeDocument/2006/relationships/image" Target="../media/image2.png"/><Relationship Id="Rcd5467b6b8d14c3d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4031acba9e444982" Type="http://schemas.openxmlformats.org/officeDocument/2006/relationships/image" Target="../media/image2.png"/><Relationship Id="Rbc71bc26e0ff4ec2" Type="http://schemas.openxmlformats.org/officeDocument/2006/relationships/notesSlide" Target="../notesSlides/notesSlide6.xml"/><Relationship Id="Rf94bf77b7ff04e7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12cbf4bcad4ef3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E46FAA16-E42B-4705-BECF-D8638719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C2C0BB1-D5CD-4241-A967-2C956C6DF4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1D07A2-F935-4AC1-8C0B-3275C28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800" b="1">
                <a:latin typeface="Arial"/>
                <a:ea typeface="Arial"/>
                <a:cs typeface="Arial"/>
              </a:rPr>
              <a:t>Problem Statement ID – 26122</a:t>
            </a:r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latin typeface="Arial"/>
                <a:ea typeface="Arial"/>
                <a:cs typeface="Arial"/>
              </a:rPr>
              <a:t>Problem Statement Title- Intelligent Data Capture &amp; Schedule-Linking Layer for Infrastructure Project Management: Real-Time Actual Progress Tracking (Planning-to-Execution Bridge)</a:t>
            </a:r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800" b="1">
                <a:latin typeface="Arial"/>
                <a:ea typeface="Arial"/>
                <a:cs typeface="Arial"/>
              </a:rPr>
              <a:t>Theme- Smart Automation</a:t>
            </a:r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800" b="1">
                <a:latin typeface="Arial"/>
                <a:ea typeface="Arial"/>
                <a:cs typeface="Arial"/>
              </a:rPr>
              <a:t>PS Category- Software</a:t>
            </a:r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8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800" b="1">
                <a:latin typeface="Arial"/>
                <a:ea typeface="Arial"/>
                <a:cs typeface="Arial"/>
              </a:rPr>
              <a:t>Team Name- NamasteByte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d3422f703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20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1F91A79-8E6B-4453-A972-F0E7953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F2DC126D-937D-494B-9C44-BFC6BA74B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66E4AC-9D69-4B3D-9527-0AEBF4F22D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B7DAF58-073C-458B-A89D-4E5D94BF9A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NamasteByte</a:t>
            </a:r>
            <a:endParaRPr/>
          </a:p>
        </p:txBody>
      </p:sp>
      <p:pic>
        <p:nvPicPr>
          <p:cNvPr id="1538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62831be98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86CE8593-1BAC-4E9F-94D7-B38FE0D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3B865FA9-A0F0-4F07-B588-5C56CC1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32D08594-A7E9-486D-A85F-F7577D4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811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NAVIS - one evidence trail from a field sentence to a reviewed P6 actual.</a:t>
            </a:r>
          </a:p>
        </p:txBody>
      </p:sp>
      <p:pic>
        <p:nvPicPr>
          <p:cNvPr id="153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46180ba824b38"/>
          <a:stretch xmlns:a="http://schemas.openxmlformats.org/drawingml/2006/main"/>
        </p:blipFill>
        <p:spPr>
          <a:xfrm xmlns:a="http://schemas.openxmlformats.org/drawingml/2006/main">
            <a:off x="342900" y="1524155"/>
            <a:ext cx="11506200" cy="3038165"/>
          </a:xfrm>
          <a:prstGeom xmlns:a="http://schemas.openxmlformats.org/drawingml/2006/main" prst="rect">
            <a:avLst/>
          </a:prstGeom>
        </p:spPr>
      </p:pic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5D1DD3D1-1BD4-422E-B29C-7BCEDEE8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05350"/>
            <a:ext cx="3733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F0BD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6CC8F96E-C949-4D70-9573-544E2FD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346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00DE4D1F-43B2-4968-9DC0-775316C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38725"/>
            <a:ext cx="3467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Progress is reported as prose - daily reports, discipline sheets, voice notes. Primavera P6 needs an activity ID and a date. A planner bridges that gap by hand, every cycle, on a schedule of thousands of activities.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51B0B89A-E740-4BE3-A85F-0E1E1E0A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05350"/>
            <a:ext cx="3733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2383">
            <a:solidFill>
              <a:srgbClr val="9DC2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69146E8D-FCFC-4D3A-A554-C7A568E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346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HOW NAVIS SOLVES IT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3AC3A0DC-13B9-4AB4-AD72-940CD237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38725"/>
            <a:ext cx="3467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Extract the fact with the file and line it came from, retrieve 20 candidate activities, rank on 6 explainable features, then gate on confidence. Actuals are written with an append-only audit record.</a:t>
            </a:r>
          </a:p>
        </p:txBody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39471600-5EBD-4C83-BC04-5C445EB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3733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2383">
            <a:solidFill>
              <a:srgbClr val="92C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5C81BC05-8BE7-49AD-9DEE-97C437A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0125"/>
            <a:ext cx="346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WHAT IS NEW - REFUSAL IS THE FEATURE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A7061E31-7754-4178-8D1E-D20FB9DD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38725"/>
            <a:ext cx="3467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100% auto-link precision, 67 of 67 on a held-out test. The rest is queued for a planner, never guessed. A wrong actual date triggers false billing or a premature hydrotest - so the system asks instead.</a:t>
            </a:r>
          </a:p>
        </p:txBody>
      </p:sp>
    </p:spTree>
    <p:extLst>
      <p:ext uri="{BB962C8B-B14F-4D97-AF65-F5344CB8AC3E}">
        <p14:creationId xmlns:p14="http://schemas.microsoft.com/office/powerpoint/2010/main" val="19761017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38EB5C0-C653-469B-9805-E707AB942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6D568A-C309-4BEF-AC94-899BB28580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737EC4-05C6-4F76-9D07-EB160F8EAE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NamasteByte</a:t>
            </a:r>
            <a:endParaRPr/>
          </a:p>
        </p:txBody>
      </p:sp>
      <p:pic>
        <p:nvPicPr>
          <p:cNvPr id="1745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ae834e1f4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2C9528E5-21A0-4C3F-980A-86F8A4E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192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F42026B6-D677-4DC2-8EE3-606D070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38275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5285F926-26A8-416B-87EA-DFA95A6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95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CC9A7EFF-1824-4BD0-A92C-99B5B9F0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192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React + TypeScript - Vite front end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E059E07B-8831-4DB7-97F5-B1A8D8B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28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A726DAA-7185-4DFA-9851-31B0D34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526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FastAPI - 18 REST routes, live OpenAPI docs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6D4FE2B4-32B8-4944-B968-37B7EF2D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36E26DC2-17B6-4336-A7EC-90B42E8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860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Deterministic rules extraction - .txt, .xlsx, .pdf, .csv, image OCR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6FC167C-2739-42A2-A5F4-A6BF3C8A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EAC5AE34-A0DB-4374-AFF9-C77F1C0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194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Hybrid retrieval - exact tag + BM25 + MiniLM embeddings, RRF fused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9720233C-EF33-4D3D-932D-C0FF433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404D6DF6-552C-42E0-A07E-DCB3BE27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528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Ranking - 6 explainable features, no black box in the loop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B9D34F32-9ADA-49A0-9978-858BCF9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4567259B-1E98-42E4-85B0-476424B8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SQLite - actuals, review queue, append-only audit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E68292C-85CA-433C-848E-1ED2C99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7B2"/>
          </a:solidFill>
          <a:ln xmlns:a="http://schemas.openxmlformats.org/drawingml/2006/main" w="9525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28F9D552-04F3-443B-8B1B-3525678A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196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Primavera P6 PMXML and XER - pure Python, no MPXJ, no JVM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6B7FD995-08C9-4DEF-B189-C229D7A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676"/>
          </a:solidFill>
          <a:ln xmlns:a="http://schemas.openxmlformats.org/drawingml/2006/main" w="9525">
            <a:solidFill>
              <a:srgbClr val="5A667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1CB8E63-052B-4EC5-8618-530D6816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53050"/>
            <a:ext cx="2657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Local LLM via Ollama - optional, OFF by default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BF0E8318-6CC0-4C02-8353-549B7FA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245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Runs on one laptop CPU. No cloud service, no API key.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348D6EAA-6F68-4779-AD80-727C0D86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0" cy="491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57CDB292-0EB8-4CC5-8E6D-046725D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2192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FLOW CHART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BA987D03-113F-4467-BC23-B13D082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382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74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3679fc04430d"/>
          <a:stretch xmlns:a="http://schemas.openxmlformats.org/drawingml/2006/main"/>
        </p:blipFill>
        <p:spPr>
          <a:xfrm xmlns:a="http://schemas.openxmlformats.org/drawingml/2006/main">
            <a:off x="3505200" y="1507549"/>
            <a:ext cx="8343900" cy="3252353"/>
          </a:xfrm>
          <a:prstGeom xmlns:a="http://schemas.openxmlformats.org/drawingml/2006/main" prst="rect">
            <a:avLst/>
          </a:prstGeom>
        </p:spPr>
      </p:pic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B4EFBD78-1484-483C-B417-0DEFDF64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95850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9C6D8"/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D629C378-08AC-4C61-9582-DA3BEFF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1409700" cy="1123950"/>
          </a:xfrm>
          <a:prstGeom xmlns:a="http://schemas.openxmlformats.org/drawingml/2006/main" prst="roundRect">
            <a:avLst>
              <a:gd name="adj" fmla="val 9322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2383">
            <a:solidFill>
              <a:srgbClr val="92C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FEB892E9-3418-407A-81F9-98D0F4FA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14925"/>
            <a:ext cx="129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125509F6-6D29-4BB7-991C-6A9D663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48300"/>
            <a:ext cx="125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AUTO-LINK PRECISION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67 of 67 correct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7B99454C-E505-47DA-A42E-716F3D18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409700" cy="1123950"/>
          </a:xfrm>
          <a:prstGeom xmlns:a="http://schemas.openxmlformats.org/drawingml/2006/main" prst="roundRect">
            <a:avLst>
              <a:gd name="adj" fmla="val 9322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2383">
            <a:solidFill>
              <a:srgbClr val="9DC2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5A713BB4-EE63-4D5C-8C49-37D63B9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14925"/>
            <a:ext cx="129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43.5%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DB00B8A8-E5B2-47CD-AE53-9B96060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48300"/>
            <a:ext cx="125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67 of 154 mentions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46BA5C53-84FC-4DB6-B011-6FC14127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29200"/>
            <a:ext cx="1409700" cy="1123950"/>
          </a:xfrm>
          <a:prstGeom xmlns:a="http://schemas.openxmlformats.org/drawingml/2006/main" prst="roundRect">
            <a:avLst>
              <a:gd name="adj" fmla="val 9322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1B3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08222567-9BC4-45E7-95CA-1162C694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14925"/>
            <a:ext cx="129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266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2660A"/>
                </a:solidFill>
                <a:latin typeface="Arial"/>
                <a:ea typeface="Arial"/>
                <a:cs typeface="Arial"/>
              </a:rPr>
              <a:t>86.9%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8532A1A5-5714-483F-9DCD-464BE849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8300"/>
            <a:ext cx="125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TOP-1 ACCURACY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126 of 145</a:t>
            </a:r>
          </a:p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02DE4DD1-124D-459E-B3C6-91F86EF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3733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919EBF11-A0D7-4852-BE78-9E3E8D76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435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DD3BCB12-AC1B-49E9-A977-40439BA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43500"/>
            <a:ext cx="2819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0B67B2"/>
                </a:solidFill>
                <a:latin typeface="Arial"/>
                <a:ea typeface="Arial"/>
                <a:cs typeface="Arial"/>
              </a:rPr>
              <a:t>github.com/poa8534-crypto/SIH-2026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8CE64769-A02B-40E4-AF6D-501C268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10AE65EE-85D9-4C04-B5FB-857A34AA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2819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python eval.py  reproduces every figure above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7F60D7EF-95BB-43E1-A5EA-D99E995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95950"/>
            <a:ext cx="348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Working prototype - 1,426 automated tests passing</a:t>
            </a:r>
          </a:p>
        </p:txBody>
      </p:sp>
    </p:spTree>
    <p:extLst>
      <p:ext uri="{BB962C8B-B14F-4D97-AF65-F5344CB8AC3E}">
        <p14:creationId xmlns:p14="http://schemas.microsoft.com/office/powerpoint/2010/main" val="3124071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81E8101-B5E7-4A46-9475-A015F524C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85C77F-4322-41B3-977A-0346B187B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BD3A42D-575B-4D08-9AC9-67CDC04C8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NamasteByte</a:t>
            </a:r>
            <a:endParaRPr/>
          </a:p>
        </p:txBody>
      </p:sp>
      <p:pic>
        <p:nvPicPr>
          <p:cNvPr id="1744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b13936ff8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D49C91A4-94AD-4E52-B399-51B2B750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FEASIBILITY - IT RUNS ON ONE LAPTOP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266EA6F6-DC4E-4D35-A83F-F574B58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A9D257C5-7C07-4E98-9AEC-931F1F44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110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No cloud service, no API key, nothing leaves your network.</a:t>
            </a:r>
          </a:p>
        </p:txBody>
      </p:sp>
      <p:pic>
        <p:nvPicPr>
          <p:cNvPr id="174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b449101f489a"/>
          <a:stretch xmlns:a="http://schemas.openxmlformats.org/drawingml/2006/main"/>
        </p:blipFill>
        <p:spPr>
          <a:xfrm xmlns:a="http://schemas.openxmlformats.org/drawingml/2006/main">
            <a:off x="930071" y="1447800"/>
            <a:ext cx="10331859" cy="2286000"/>
          </a:xfrm>
          <a:prstGeom xmlns:a="http://schemas.openxmlformats.org/drawingml/2006/main" prst="rect">
            <a:avLst/>
          </a:prstGeom>
        </p:spPr>
      </p:pic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0582D47E-DFD4-476D-A158-867E2330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862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CHALLENGES AND RISKS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F4B9C5B-68F3-489B-A4F7-0CD50681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1052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CDBDC700-E377-4D76-A519-BBB30FA0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MITIGATION - ALREADY BUILT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C56AF309-E8E5-4AC1-8A95-A0C6A77F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052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215B9BA-D905-4C08-8EDB-4C6A583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5BD8C25F-4DBA-4538-991A-C40C937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Field wording never matches the WBS text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E28CF33-3B06-4B31-A0A3-F269DDD1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4B"/>
          </a:solidFill>
          <a:ln xmlns:a="http://schemas.openxmlformats.org/drawingml/2006/main" w="9525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C9CE4E81-650D-4682-9F4E-1BED53A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546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Three retrieval channels fused - the correct activity is inside the top 20, recall@20 = 100%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30DEA4E8-72BF-4818-AFCF-2077F233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70309B60-4D73-4324-9198-4AF28EC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81525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A wrong actual date means false billing or a premature hydrotest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B81016EA-0F4B-4C1D-A6F0-00F890A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4B"/>
          </a:solidFill>
          <a:ln xmlns:a="http://schemas.openxmlformats.org/drawingml/2006/main" w="9525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E72C7640-3A0F-4BF9-BCD6-8DC6D4CA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546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Nothing is auto-written unless score, margin and discipline all agree - 0 wrong auto-links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15482769-9FB7-43B3-8C9A-0FBCA25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210414DA-807A-4426-AE47-7646E5E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Work happens that nobody planned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5E14C968-181B-4717-ADB5-80D39E2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4B"/>
          </a:solidFill>
          <a:ln xmlns:a="http://schemas.openxmlformats.org/drawingml/2006/main" w="9525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832147CD-1D03-441E-BCAE-FDC3F21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546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Raised to the planner as a new-scope proposal, never dropped silently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FFA07055-92E7-4D9C-A6D5-2772A3E8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AA3B6680-9B45-4E96-AB3F-6DCADEC6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No live Oil India schedule is available to us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8156EF7C-311B-4E42-B4F3-D8589FF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4B"/>
          </a:solidFill>
          <a:ln xmlns:a="http://schemas.openxmlformats.org/drawingml/2006/main" w="9525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1BD6BE3A-712B-47BC-8F16-4724AFDA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86375"/>
            <a:ext cx="546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Synthetic schedule structured on the public CFIHOS oil and gas taxonomy - and we say so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610D8D92-9F0A-462D-8C62-66951C7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96912386-AAF7-4FE7-B005-F4C4774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Site or venue has no internet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AD21464E-5EEA-4C2E-9B8B-D40FEA00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15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4B"/>
          </a:solidFill>
          <a:ln xmlns:a="http://schemas.openxmlformats.org/drawingml/2006/main" w="9525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7B972849-07E1-452F-B20E-DB2B366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546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The whole stack runs on one laptop CPU - no cloud, no GPU, no API key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2839C258-06F3-424C-B03D-526CB28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81700"/>
            <a:ext cx="1150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A6676"/>
                </a:solidFill>
                <a:latin typeface="Arial"/>
                <a:ea typeface="Arial"/>
                <a:cs typeface="Arial"/>
              </a:rPr>
              <a:t>Known gaps, stated: no authentication (the login screen is a role picker), no offline queue, no .mpp import, synthetic labels.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654D91DE-7587-4935-86E8-B7F1FB29A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5B0D73-AD7B-4A39-9CED-3A4D22765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05E41CA-16AB-4600-B9F0-AA4A3BD1C8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NamasteByte</a:t>
            </a:r>
            <a:endParaRPr/>
          </a:p>
        </p:txBody>
      </p:sp>
      <p:pic>
        <p:nvPicPr>
          <p:cNvPr id="1745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1d8df6a7642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769B67D-7062-415F-A42D-5A1F59D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THE LOOP THAT CLOSES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AEF0B70-B8EB-4C78-959C-21D6E03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A145CC59-7D14-4528-B53D-73C4CB9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811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Today this knowledge dies in a supervisor's notebook at project close.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5191114-23D2-441E-A98E-E55F42A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6690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ACC6AB31-77DE-4766-A9FF-8E92D15F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621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PROJECT EXECUTES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43307A0-BF0C-44E5-A05A-E9526E73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reports, diaries,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field updates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5F331483-21A6-4741-9878-8F1A733C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186690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2383">
            <a:solidFill>
              <a:srgbClr val="9DC2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F92A3254-4747-45F6-B426-5FAFE6E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19621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NAVIS CAPTURES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7ACA5BF7-5814-4EC3-B9AF-308D3B68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19075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real start, real finish,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real quantity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B4FCB98D-2065-438E-BAEC-50351110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86690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2383">
            <a:solidFill>
              <a:srgbClr val="92C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6B7707B2-165C-4872-9A68-616884E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STRUCTURED RECORD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E70E0939-F54E-4AD5-B8E9-3777147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9075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durations, delay causes,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discipline productivity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6D69B78F-43C4-4F3A-8FE9-E1D4D5A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86690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2383">
            <a:solidFill>
              <a:srgbClr val="9DC2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EDE0F91A-1C5E-4D58-B77C-CDECC0D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19621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QUERYABLE HISTORY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0B0C4AEE-5AB6-408E-8613-F2BA0C1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219075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how long does this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really take here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F5169F67-08AA-4881-8C9F-592676C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66900"/>
            <a:ext cx="2076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1B3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BDB0987F-4A72-40E5-97C8-32DA22BE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66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2660A"/>
                </a:solidFill>
                <a:latin typeface="Arial"/>
                <a:ea typeface="Arial"/>
                <a:cs typeface="Arial"/>
              </a:rPr>
              <a:t>NEXT BASELINE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BAB8546-649B-4860-BE0C-B1B2AA1C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9075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calibrated,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not guessed</a:t>
            </a:r>
          </a:p>
        </p:txBody>
      </p:sp>
      <p:cxnSp>
        <p:nvCxnSpPr>
          <p:cNvPr id="17478" name=""/>
          <p:cNvCxnSpPr>
            <a:stCxn xmlns:a="http://schemas.openxmlformats.org/drawingml/2006/main" id="17415" idx="3"/>
            <a:endCxn xmlns:a="http://schemas.openxmlformats.org/drawingml/2006/main" id="17418" idx="1"/>
          </p:cNvCxnSpPr>
          <p:nvPr/>
        </p:nvCxnSpPr>
        <p:spPr>
          <a:xfrm xmlns:a="http://schemas.openxmlformats.org/drawingml/2006/main">
            <a:off x="2419350" y="2305050"/>
            <a:ext cx="280988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67B2"/>
            </a:solidFill>
            <a:prstDash val="solid"/>
            <a:tailEnd type="triangle" w="sm" len="sm"/>
          </a:ln>
        </p:spPr>
      </p:cxnSp>
      <p:cxnSp>
        <p:nvCxnSpPr>
          <p:cNvPr id="17479" name=""/>
          <p:cNvCxnSpPr>
            <a:stCxn xmlns:a="http://schemas.openxmlformats.org/drawingml/2006/main" id="17418" idx="3"/>
            <a:endCxn xmlns:a="http://schemas.openxmlformats.org/drawingml/2006/main" id="17421" idx="1"/>
          </p:cNvCxnSpPr>
          <p:nvPr/>
        </p:nvCxnSpPr>
        <p:spPr>
          <a:xfrm xmlns:a="http://schemas.openxmlformats.org/drawingml/2006/main">
            <a:off x="4776788" y="2305050"/>
            <a:ext cx="28098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67B2"/>
            </a:solidFill>
            <a:prstDash val="solid"/>
            <a:tailEnd type="triangle" w="sm" len="sm"/>
          </a:ln>
        </p:spPr>
      </p:cxnSp>
      <p:cxnSp>
        <p:nvCxnSpPr>
          <p:cNvPr id="17480" name=""/>
          <p:cNvCxnSpPr>
            <a:stCxn xmlns:a="http://schemas.openxmlformats.org/drawingml/2006/main" id="17421" idx="3"/>
            <a:endCxn xmlns:a="http://schemas.openxmlformats.org/drawingml/2006/main" id="17424" idx="1"/>
          </p:cNvCxnSpPr>
          <p:nvPr/>
        </p:nvCxnSpPr>
        <p:spPr>
          <a:xfrm xmlns:a="http://schemas.openxmlformats.org/drawingml/2006/main">
            <a:off x="7134225" y="2305050"/>
            <a:ext cx="280988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67B2"/>
            </a:solidFill>
            <a:prstDash val="solid"/>
            <a:tailEnd type="triangle" w="sm" len="sm"/>
          </a:ln>
        </p:spPr>
      </p:cxnSp>
      <p:cxnSp>
        <p:nvCxnSpPr>
          <p:cNvPr id="17481" name=""/>
          <p:cNvCxnSpPr>
            <a:stCxn xmlns:a="http://schemas.openxmlformats.org/drawingml/2006/main" id="17424" idx="3"/>
            <a:endCxn xmlns:a="http://schemas.openxmlformats.org/drawingml/2006/main" id="17427" idx="1"/>
          </p:cNvCxnSpPr>
          <p:nvPr/>
        </p:nvCxnSpPr>
        <p:spPr>
          <a:xfrm xmlns:a="http://schemas.openxmlformats.org/drawingml/2006/main">
            <a:off x="9491663" y="2305050"/>
            <a:ext cx="28098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67B2"/>
            </a:solidFill>
            <a:prstDash val="solid"/>
            <a:tailEnd type="triangle" w="sm" len="sm"/>
          </a:ln>
        </p:spPr>
      </p:cxnSp>
      <p:cxnSp>
        <p:nvCxnSpPr>
          <p:cNvPr id="17482" name=""/>
          <p:cNvCxnSpPr>
            <a:stCxn xmlns:a="http://schemas.openxmlformats.org/drawingml/2006/main" id="17427" idx="0"/>
            <a:endCxn xmlns:a="http://schemas.openxmlformats.org/drawingml/2006/main" id="17415" idx="0"/>
          </p:cNvCxnSpPr>
          <p:nvPr/>
        </p:nvCxnSpPr>
        <p:spPr>
          <a:xfrm xmlns:a="http://schemas.openxmlformats.org/drawingml/2006/main" flipH="1">
            <a:off x="228600" y="1066800"/>
            <a:ext cx="10582275" cy="8001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5A6676"/>
            </a:solidFill>
            <a:prstDash val="dash"/>
            <a:tailEnd type="triangle" w="sm" len="sm"/>
          </a:ln>
        </p:spPr>
      </p:cxn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A1279AF8-E4F9-4046-8CEF-84E1405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A6676"/>
                </a:solidFill>
                <a:latin typeface="Arial"/>
                <a:ea typeface="Arial"/>
                <a:cs typeface="Arial"/>
              </a:rPr>
              <a:t>the loop closes - execution history becomes the next plan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02A8178D-CEBA-4C91-B14B-BB2CFD7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099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WHO GAINS, AND WHAT THEY GAIN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60161F40-6F14-4607-BB49-F2EA6613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289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F1DA5F22-2ECC-4A57-9EE0-3E29D11F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52800"/>
            <a:ext cx="5667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F5E7824E-46C2-4D5E-BA4B-57266CB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54006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SITE SUPERVISOR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6A44C59D-B918-4CE9-82A6-E0816E16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54006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Speaks one sentence instead of filling a form. Reporting stops being a second job.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D1576A16-F480-4820-9EA9-9EC6C3F4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52800"/>
            <a:ext cx="5667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996631D9-2192-4D44-B33E-C241845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67100"/>
            <a:ext cx="54006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PLANNING ENGINEER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46878698-7C76-4AC1-8543-CB3CADBE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95700"/>
            <a:ext cx="54006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Reviews ranked exceptions instead of matching thousands of rows by hand.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A7F5626B-EE37-4451-A5B7-38DE01BB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67200"/>
            <a:ext cx="5667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074B4132-4085-4C07-9CFE-9D68E9E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54006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PROJECT MANAGER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AABA5DCA-2EF3-4FE2-98C9-B5011501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54006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Sees a schedule that reflects this week, not last month - slippage while it can still be acted on.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05F62BDD-53CC-4D5B-A266-2EEDD92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67200"/>
            <a:ext cx="5667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2FA22828-C5A6-45CC-B6B0-C5A20B5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81500"/>
            <a:ext cx="54006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PSU / OWNER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B9C883A7-2D38-4B64-ABD5-9F27BF7C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10100"/>
            <a:ext cx="54006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82230"/>
                </a:solidFill>
                <a:latin typeface="Arial"/>
                <a:ea typeface="Arial"/>
                <a:cs typeface="Arial"/>
              </a:rPr>
              <a:t>Every actual date is defensible with a file, a line and a confidence.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B2F18391-DD4C-4191-8DC8-7224FCB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86400"/>
            <a:ext cx="11506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1B3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841E5162-2F2B-451F-A98A-FD4FD6E5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66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2660A"/>
                </a:solidFill>
                <a:latin typeface="Arial"/>
                <a:ea typeface="Arial"/>
                <a:cs typeface="Arial"/>
              </a:rPr>
              <a:t>SCALE OF THE EXPOSURE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4D16FFA5-D335-43B5-896E-2550AF19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82230"/>
                </a:solidFill>
                <a:latin typeface="Arial"/>
                <a:ea typeface="Arial"/>
                <a:cs typeface="Arial"/>
              </a:rPr>
              <a:t>1,948 monitored central-sector projects, ₹41.99 lakh crore latest revised cost (MoSPI PAIMANA, February 2026).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5E0B19A2-1D98-4926-8BAC-9B6A7DC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45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Context only. NAVIS has run no field pilot, so no saving, ROI or productivity figure is claimed.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2670BD1-933C-4CCB-9A40-F3C6C92FB7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5257-C7F3-4AEC-9509-BCEEAF66C1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C75FDE8-21D2-45D6-B9A0-95EA9F6719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NamasteByte</a:t>
            </a:r>
            <a:endParaRPr/>
          </a:p>
        </p:txBody>
      </p:sp>
      <p:pic>
        <p:nvPicPr>
          <p:cNvPr id="1746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1acba9e4449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00E51E6F-63F0-4935-8CEA-4668AB68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7B2"/>
                </a:solidFill>
                <a:latin typeface="Arial"/>
                <a:ea typeface="Arial"/>
                <a:cs typeface="Arial"/>
              </a:rPr>
              <a:t>REFERENCE AND RESEARCH WORK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23C6FC7B-F884-409F-A935-9CC3E56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B67B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F6CDC308-F950-4BF5-8ACC-B922E63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56769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EFD48DED-4C25-4912-A146-81AE9420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MoSPI PAIMANA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4CB85F8D-2D63-4AA7-BB35-5233AA35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954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Central project monitoring scale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17DBF61-E315-447E-B6D9-3D7BE2B1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9547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B67B2"/>
                </a:solidFill>
                <a:latin typeface="Arial"/>
                <a:ea typeface="Arial"/>
                <a:cs typeface="Arial"/>
              </a:rPr>
              <a:t>ipm.mospi.gov.in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9E5B7883-E31D-4E51-9ECF-B85A459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05050"/>
            <a:ext cx="56769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B80B6DB0-B69B-4E05-9942-8062AE4F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0775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GAO Schedule Assessment Guide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E8E6F09C-DBD7-4C6F-9A90-6EDDBD0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032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What makes a schedule reliable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0FCA49E8-BA59-41B9-80E2-E21153D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032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B67B2"/>
                </a:solidFill>
                <a:latin typeface="Arial"/>
                <a:ea typeface="Arial"/>
                <a:cs typeface="Arial"/>
              </a:rPr>
              <a:t>gao.gov/products/gao-16-89g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5A9A985-621E-4BFD-B8FE-88E10E4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09900"/>
            <a:ext cx="56769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F0225576-A512-4F94-A24C-6197118F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NIST AI Risk Management Framework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A18B3571-2F76-4A42-8E68-6934C9B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Traceability and human oversight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F7F709F4-418D-4757-B444-1F7212E3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0517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B67B2"/>
                </a:solidFill>
                <a:latin typeface="Arial"/>
                <a:ea typeface="Arial"/>
                <a:cs typeface="Arial"/>
              </a:rPr>
              <a:t>nist.gov/itl/ai-risk-management-framework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C8C76224-41F2-48AC-B738-5CE144AB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56769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2C78548E-1C27-4C73-96DB-9D85955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Oracle Primavera P6 EPPM docs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92B2C7E-6C84-4A98-8D3B-60443960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002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PMXML and XER interchange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FD348395-BB55-440E-A8AC-C994B84E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002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B67B2"/>
                </a:solidFill>
                <a:latin typeface="Arial"/>
                <a:ea typeface="Arial"/>
                <a:cs typeface="Arial"/>
              </a:rPr>
              <a:t>docs.oracle.com - primavera-p6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5A34998E-E166-414E-92A0-CBAB1C2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19600"/>
            <a:ext cx="56769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C5CA2E5F-D702-4346-B608-C142B39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05325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CFIHOS oil and gas taxonomy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B49C4A09-F900-46B1-93DC-0F2D72DD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148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82230"/>
                </a:solidFill>
                <a:latin typeface="Arial"/>
                <a:ea typeface="Arial"/>
                <a:cs typeface="Arial"/>
              </a:rPr>
              <a:t>Structure behind the synthetic schedule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199D4F4C-EA35-434E-B3D3-D6001B13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1487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B67B2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0B67B2"/>
                </a:solidFill>
                <a:latin typeface="Arial"/>
                <a:ea typeface="Arial"/>
                <a:cs typeface="Arial"/>
              </a:rPr>
              <a:t>public specification, datasets/real/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6E48D157-5A57-41F6-8424-BB6B293E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001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OUR OWN EVIDENCE - WHY COVERAGE IS UNDER HALF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EE95EDA3-B9A4-445F-8DAB-A9DA9B1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1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B7F4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17D15497-85EE-4FCC-90F0-BCE2C464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552450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BA4AF086-1399-40B2-AAF9-E64BAFA0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154 held-out test mentions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87A8E4F9-DF6B-48E7-8D61-7FF09EF6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A6676"/>
                </a:solidFill>
                <a:latin typeface="Arial"/>
                <a:ea typeface="Arial"/>
                <a:cs typeface="Arial"/>
              </a:rPr>
              <a:t>six source files, no threshold tuned on them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1672378B-5CBA-447E-8C5D-80059D0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52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A6676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55770E02-E59F-4AC0-96D2-D084C7B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552450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2383">
            <a:solidFill>
              <a:srgbClr val="92C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F017BBB9-F102-483A-9642-C9FC12B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67 auto-linked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1AF5E9B7-1CF7-475C-B76C-2CD92AA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A6676"/>
                </a:solidFill>
                <a:latin typeface="Arial"/>
                <a:ea typeface="Arial"/>
                <a:cs typeface="Arial"/>
              </a:rPr>
              <a:t>43.5% coverage at 100% precision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D3A5771D-4831-47BD-8BB7-87C36F00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552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A6676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EBD0DEAF-DDAE-4CA2-928E-B033C6FA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52450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12383">
            <a:solidFill>
              <a:srgbClr val="9DC2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CB4FC139-E51A-466E-B6C8-0ABD77D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3F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23F78"/>
                </a:solidFill>
                <a:latin typeface="Arial"/>
                <a:ea typeface="Arial"/>
                <a:cs typeface="Arial"/>
              </a:rPr>
              <a:t>39 schedule nodes touched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9E196D74-49B5-4D3C-8F0D-E79817A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A6676"/>
                </a:solidFill>
                <a:latin typeface="Arial"/>
                <a:ea typeface="Arial"/>
                <a:cs typeface="Arial"/>
              </a:rPr>
              <a:t>after quantity-based roll-up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CC2C7F05-0A7A-4452-ABAF-CFCF71D6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26860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1B36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89887B69-47AA-4D71-950F-2094C4FF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66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2660A"/>
                </a:solidFill>
                <a:latin typeface="Arial"/>
                <a:ea typeface="Arial"/>
                <a:cs typeface="Arial"/>
              </a:rPr>
              <a:t>32 had no measurable quantity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B0E684DA-F1CC-404A-8496-ECFCAC3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A6676"/>
                </a:solidFill>
                <a:latin typeface="Arial"/>
                <a:ea typeface="Arial"/>
                <a:cs typeface="Arial"/>
              </a:rPr>
              <a:t>no percentage, no date written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EC4E1C01-E727-48F2-8F51-E5530F67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6860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F0BD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2D5B4AE8-AE53-4EB8-ADDC-E3E14560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2430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7 finish dates withheld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DAAFD37D-7770-4635-AA09-B1A8C39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338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A667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A6676"/>
                </a:solidFill>
                <a:latin typeface="Arial"/>
                <a:ea typeface="Arial"/>
                <a:cs typeface="Arial"/>
              </a:rPr>
              <a:t>the only date came from a report header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4FC6F66D-8882-4571-AF74-235C4365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552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B7F4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B7F4B"/>
                </a:solidFill>
                <a:latin typeface="Arial"/>
                <a:ea typeface="Arial"/>
                <a:cs typeface="Arial"/>
              </a:rPr>
              <a:t>Every narrowing step is a deliberate refusal. Reproduce it live: python eval.py</a:t>
            </a:r>
          </a:p>
        </p:txBody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5CB2514F-0E01-49A2-A6BF-7CD50A04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00650"/>
            <a:ext cx="11506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EAB1388A-DA1B-41E6-B45A-7A0BF49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34A4C831-6B72-49BD-B66E-1483C277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2667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Synthetic schedule and reports</a:t>
            </a:r>
          </a:p>
        </p:txBody>
      </p:sp>
      <p:sp>
        <p:nvSpPr>
          <p:cNvPr id="17457" name="">
            <a:extLst xmlns:a="http://schemas.openxmlformats.org/drawingml/2006/main">
              <a:ext uri="{FF2B5EF4-FFF2-40B4-BE49-F238E27FC236}">
                <a16:creationId xmlns:a16="http://schemas.microsoft.com/office/drawing/2014/main" id="{A8378FD6-6A1A-4EAE-9570-2A2B7504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81650"/>
            <a:ext cx="2667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No live Oil India data yet</a:t>
            </a:r>
          </a:p>
        </p:txBody>
      </p:sp>
      <p:sp>
        <p:nvSpPr>
          <p:cNvPr id="17458" name="">
            <a:extLst xmlns:a="http://schemas.openxmlformats.org/drawingml/2006/main">
              <a:ext uri="{FF2B5EF4-FFF2-40B4-BE49-F238E27FC236}">
                <a16:creationId xmlns:a16="http://schemas.microsoft.com/office/drawing/2014/main" id="{B13AE8CC-E20F-416B-8359-82504B4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2667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In-distribution benchmark</a:t>
            </a:r>
          </a:p>
        </p:txBody>
      </p:sp>
      <p:sp>
        <p:nvSpPr>
          <p:cNvPr id="17459" name="">
            <a:extLst xmlns:a="http://schemas.openxmlformats.org/drawingml/2006/main">
              <a:ext uri="{FF2B5EF4-FFF2-40B4-BE49-F238E27FC236}">
                <a16:creationId xmlns:a16="http://schemas.microsoft.com/office/drawing/2014/main" id="{CA5A8A86-26BC-4FCF-AD0B-F9855A38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2667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3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82230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82230"/>
                </a:solidFill>
                <a:latin typeface="Arial"/>
                <a:ea typeface="Arial"/>
                <a:cs typeface="Arial"/>
              </a:rPr>
              <a:t>1,426 tests - 1,202 pytest, 224 vitest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2026-09-10T12:16:07.4730000Z</dcterms:created>
  <dcterms:modified xsi:type="dcterms:W3CDTF">2026-09-10T12:16:07.4730000Z</dcterms:modified>
</coreProperties>
</file>