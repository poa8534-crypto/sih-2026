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1d695c23479943e4" Type="http://schemas.openxmlformats.org/officeDocument/2006/relationships/officeDocument" Target="ppt/presentation.xml"/><Relationship Id="R5caa844d3ab5455d" Type="http://schemas.openxmlformats.org/package/2006/relationships/metadata/core-properties" Target="docProps/core.xml"/><Relationship Id="Rc9f90cc262f74459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fab0f9857b14f9a"/>
  </p:sldMasterIdLst>
  <p:notesMasterIdLst>
    <p:notesMasterId xmlns:r="http://schemas.openxmlformats.org/officeDocument/2006/relationships" r:id="R8badbde4e62746c0"/>
  </p:notesMasterIdLst>
  <p:sldIdLst>
    <p:sldId xmlns:r="http://schemas.openxmlformats.org/officeDocument/2006/relationships" id="256" r:id="Rf04376cfcb8445e3"/>
    <p:sldId xmlns:r="http://schemas.openxmlformats.org/officeDocument/2006/relationships" id="257" r:id="R4ca175ec6f7e4aea"/>
    <p:sldId xmlns:r="http://schemas.openxmlformats.org/officeDocument/2006/relationships" id="258" r:id="R8e46de5b8df644a6"/>
    <p:sldId xmlns:r="http://schemas.openxmlformats.org/officeDocument/2006/relationships" id="259" r:id="R332b56fa756b459b"/>
    <p:sldId xmlns:r="http://schemas.openxmlformats.org/officeDocument/2006/relationships" id="260" r:id="R11005f9df93d4df1"/>
    <p:sldId xmlns:r="http://schemas.openxmlformats.org/officeDocument/2006/relationships" id="261" r:id="Rbc301b2c1542482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0fab0f9857b14f9a" Type="http://schemas.openxmlformats.org/officeDocument/2006/relationships/slideMaster" Target="slideMasters/slideMaster1.xml"/><Relationship Id="R11005f9df93d4df1" Type="http://schemas.openxmlformats.org/officeDocument/2006/relationships/slide" Target="slides/slide5.xml"/><Relationship Id="R1367f5a66d5849ac" Type="http://schemas.openxmlformats.org/officeDocument/2006/relationships/tableStyles" Target="tableStyles.xml"/><Relationship Id="R332b56fa756b459b" Type="http://schemas.openxmlformats.org/officeDocument/2006/relationships/slide" Target="slides/slide4.xml"/><Relationship Id="R3597d6c7592b425c" Type="http://schemas.openxmlformats.org/officeDocument/2006/relationships/theme" Target="theme/theme1.xml"/><Relationship Id="R4ca175ec6f7e4aea" Type="http://schemas.openxmlformats.org/officeDocument/2006/relationships/slide" Target="slides/slide2.xml"/><Relationship Id="R7199354fe5654892" Type="http://schemas.openxmlformats.org/officeDocument/2006/relationships/viewProps" Target="viewProps.xml"/><Relationship Id="R8badbde4e62746c0" Type="http://schemas.openxmlformats.org/officeDocument/2006/relationships/notesMaster" Target="notesMasters/notesMaster1.xml"/><Relationship Id="R8e46de5b8df644a6" Type="http://schemas.openxmlformats.org/officeDocument/2006/relationships/slide" Target="slides/slide3.xml"/><Relationship Id="Rbc301b2c15424827" Type="http://schemas.openxmlformats.org/officeDocument/2006/relationships/slide" Target="slides/slide6.xml"/><Relationship Id="Rf04376cfcb8445e3" Type="http://schemas.openxmlformats.org/officeDocument/2006/relationships/slide" Target="slides/slide1.xml"/><Relationship Id="Rf44dbd4b00b74f2a" Type="http://schemas.openxmlformats.org/officeDocument/2006/relationships/presProps" Target="presProps.xml"/></Relationships>
</file>

<file path=ppt/notesMasters/_rels/notesMaster1.xml.rels><?xml version='1.0' encoding='UTF-8' standalone='yes'?>
<Relationships xmlns="http://schemas.openxmlformats.org/package/2006/relationships"><Relationship Id="R19da6b79fe684875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d7b84e00cb794290" Type="http://schemas.openxmlformats.org/officeDocument/2006/relationships/slide" Target="../slides/slide1.xml"/><Relationship Id="Rfe98e0aa8c3f4e3e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833ed48a79564dce" Type="http://schemas.openxmlformats.org/officeDocument/2006/relationships/notesMaster" Target="../notesMasters/notesMaster1.xml"/><Relationship Id="Rfab9bd791a24409c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4e03f77dbcfd4f90" Type="http://schemas.openxmlformats.org/officeDocument/2006/relationships/slide" Target="../slides/slide3.xml"/><Relationship Id="R8664962b339d4fc9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2efe190720fa4228" Type="http://schemas.openxmlformats.org/officeDocument/2006/relationships/notesMaster" Target="../notesMasters/notesMaster1.xml"/><Relationship Id="R721cb54fe05f4fba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51ecb02da3144c0e" Type="http://schemas.openxmlformats.org/officeDocument/2006/relationships/slide" Target="../slides/slide5.xml"/><Relationship Id="Rdfeed706c72a4e3a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c5e7aa8a15154feb" Type="http://schemas.openxmlformats.org/officeDocument/2006/relationships/slide" Target="../slides/slide6.xml"/><Relationship Id="Rf6f3706f06994fa9" Type="http://schemas.openxmlformats.org/officeDocument/2006/relationships/notesMaster" Target="../notesMasters/notesMaster1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Problem statement metadata taken from the SIH portal listing for PS 26122, Oil India Limited.</a:t>
            </a:r>
          </a:p>
          <a:p xmlns:a="http://schemas.openxmlformats.org/drawingml/2006/main">
            <a:r>
              <a:t>Team ID intentionally left blank until the portal issues it.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spcBef>
                <a:spcPct val="0"/>
              </a:spcBef>
              <a:buNone/>
            </a:pPr>
            <a:r>
              <a:t>Diagram: Eraser workspace 2qnRjujRIBvJMgxD2vov, diagram 9JyHxB0LPKk1vQ5E_QwS.</a:t>
            </a:r>
            <a:endParaRPr/>
          </a:p>
          <a:p xmlns:a="http://schemas.openxmlformats.org/drawingml/2006/main">
            <a:pPr>
              <a:spcBef>
                <a:spcPct val="0"/>
              </a:spcBef>
              <a:buNone/>
            </a:pPr>
            <a:r>
              <a:t>100 percent auto-link precision, 67 of 67, on the held-out test split - reproduce with python eval.py.</a:t>
            </a:r>
            <a:endParaRPr/>
          </a:p>
          <a:p xmlns:a="http://schemas.openxmlformats.org/drawingml/2006/main">
            <a:pPr>
              <a:spcBef>
                <a:spcPct val="0"/>
              </a:spcBef>
              <a:buNone/>
            </a:pPr>
            <a:r>
              <a:t>Coverage is 43.5 percent by design; the remaining mentions go to the planner review queue.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spcBef>
                <a:spcPct val="0"/>
              </a:spcBef>
              <a:buNone/>
            </a:pPr>
            <a:r>
              <a:t>Diagram: Eraser workspace 2qnRjujRIBvJMgxD2vov, diagram LxOWrZi9aG3a2C87B7_8.</a:t>
            </a:r>
            <a:endParaRPr/>
          </a:p>
          <a:p xmlns:a="http://schemas.openxmlformats.org/drawingml/2006/main">
            <a:pPr>
              <a:spcBef>
                <a:spcPct val="0"/>
              </a:spcBef>
              <a:buNone/>
            </a:pPr>
            <a:r>
              <a:t>Thresholds shown on the chart are the shipped configuration: high 0.80, low 0.40, margin 0.03 (matching/config.py).</a:t>
            </a:r>
            <a:endParaRPr/>
          </a:p>
          <a:p xmlns:a="http://schemas.openxmlformats.org/drawingml/2006/main">
            <a:pPr>
              <a:spcBef>
                <a:spcPct val="0"/>
              </a:spcBef>
              <a:buNone/>
            </a:pPr>
            <a:r>
              <a:t>Auto-link precision 100 percent (67/67), coverage 43.5 percent (67/154), top-1 86.9 percent (126/145) on the held-out test split.</a:t>
            </a:r>
            <a:endParaRPr/>
          </a:p>
          <a:p xmlns:a="http://schemas.openxmlformats.org/drawingml/2006/main">
            <a:pPr>
              <a:spcBef>
                <a:spcPct val="0"/>
              </a:spcBef>
              <a:buNone/>
            </a:pPr>
            <a:r>
              <a:t>1,431 automated tests = 1,202 pytest plus 229 vitest, all passing, re-counted on 10 September 2026 after the responsive-layout work (D-099).</a:t>
            </a:r>
            <a:endParaRPr/>
          </a:p>
          <a:p xmlns:a="http://schemas.openxmlformats.org/drawingml/2006/main">
            <a:pPr>
              <a:spcBef>
                <a:spcPct val="0"/>
              </a:spcBef>
              <a:buNone/>
            </a:pPr>
            <a:r>
              <a:t>The optional local LLM may help read a messy report. It never chooses the activity and never writes a date.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spcBef>
                <a:spcPct val="0"/>
              </a:spcBef>
              <a:buNone/>
            </a:pPr>
            <a:r>
              <a:t>Diagram: Eraser workspace 2qnRjujRIBvJMgxD2vov, diagram Vwn78M3zjDixZbTZ4tdn.</a:t>
            </a:r>
            <a:endParaRPr/>
          </a:p>
          <a:p xmlns:a="http://schemas.openxmlformats.org/drawingml/2006/main">
            <a:pPr>
              <a:spcBef>
                <a:spcPct val="0"/>
              </a:spcBef>
              <a:buNone/>
            </a:pPr>
            <a:r>
              <a:t>recall@20 = 100 percent on the held-out test split; fusion places the correct activity inside the retrieved 20.</a:t>
            </a:r>
            <a:endParaRPr/>
          </a:p>
          <a:p xmlns:a="http://schemas.openxmlformats.org/drawingml/2006/main">
            <a:pPr>
              <a:spcBef>
                <a:spcPct val="0"/>
              </a:spcBef>
              <a:buNone/>
            </a:pPr>
            <a:r>
              <a:t>The XER writer emits a simplified shape and is not a P6-valid round trip (D-047).</a:t>
            </a:r>
            <a:endParaRPr/>
          </a:p>
          <a:p xmlns:a="http://schemas.openxmlformats.org/drawingml/2006/main">
            <a:pPr>
              <a:spcBef>
                <a:spcPct val="0"/>
              </a:spcBef>
              <a:buNone/>
            </a:pPr>
            <a:r>
              <a:t>OCR is on-premise only when local Tesseract is installed; an optional cloud vision provider would send that document out.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spcBef>
                <a:spcPct val="0"/>
              </a:spcBef>
              <a:buNone/>
            </a:pPr>
            <a:r>
              <a:t>MoSPI PAIMANA portal, February 2026: 1,948 monitored central-sector projects, latest revised cost 41,98,684.28 crore rupees.</a:t>
            </a:r>
            <a:endParaRPr/>
          </a:p>
          <a:p xmlns:a="http://schemas.openxmlformats.org/drawingml/2006/main">
            <a:pPr>
              <a:spcBef>
                <a:spcPct val="0"/>
              </a:spcBef>
              <a:buNone/>
            </a:pPr>
            <a:r>
              <a:t>That figure sets the scale of the exposure. It is not a NAVIS savings claim and the slide says so.</a:t>
            </a:r>
            <a:endParaRPr/>
          </a:p>
          <a:p xmlns:a="http://schemas.openxmlformats.org/drawingml/2006/main">
            <a:pPr>
              <a:spcBef>
                <a:spcPct val="0"/>
              </a:spcBef>
              <a:buNone/>
            </a:pPr>
            <a:r>
              <a:t>No field pilot has run, so no ROI, monetary saving or productivity percentage is claimed anywhere in this deck.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spcBef>
                <a:spcPct val="0"/>
              </a:spcBef>
              <a:buNone/>
            </a:pPr>
            <a:r>
              <a:t>MoSPI PAIMANA: https://ipm.mospi.gov.in/</a:t>
            </a:r>
            <a:endParaRPr/>
          </a:p>
          <a:p xmlns:a="http://schemas.openxmlformats.org/drawingml/2006/main">
            <a:pPr>
              <a:spcBef>
                <a:spcPct val="0"/>
              </a:spcBef>
              <a:buNone/>
            </a:pPr>
            <a:r>
              <a:t>GAO Schedule Assessment Guide GAO-16-89G: https://www.gao.gov/products/gao-16-89g</a:t>
            </a:r>
            <a:endParaRPr/>
          </a:p>
          <a:p xmlns:a="http://schemas.openxmlformats.org/drawingml/2006/main">
            <a:pPr>
              <a:spcBef>
                <a:spcPct val="0"/>
              </a:spcBef>
              <a:buNone/>
            </a:pPr>
            <a:r>
              <a:t>NIST AI Risk Management Framework: https://www.nist.gov/itl/ai-risk-management-framework</a:t>
            </a:r>
            <a:endParaRPr/>
          </a:p>
          <a:p xmlns:a="http://schemas.openxmlformats.org/drawingml/2006/main">
            <a:pPr>
              <a:spcBef>
                <a:spcPct val="0"/>
              </a:spcBef>
              <a:buNone/>
            </a:pPr>
            <a:r>
              <a:t>Oracle Primavera P6 EPPM documentation: https://docs.oracle.com/en/industries/construction-engineering/primavera-p6-enterprise-project-portfolio/</a:t>
            </a:r>
            <a:endParaRPr/>
          </a:p>
          <a:p xmlns:a="http://schemas.openxmlformats.org/drawingml/2006/main">
            <a:pPr>
              <a:spcBef>
                <a:spcPct val="0"/>
              </a:spcBef>
              <a:buNone/>
            </a:pPr>
            <a:r>
              <a:t>METRICS.md section 3.4a audits our own benchmark: 84 percent of test positives reuse an activity seen in training, so these are in-distribution numbers.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25e293e00fb84108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2f27809089c640d3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78eba6faf18f4faf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9926834bb73a4e4f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a31ce9f62f614613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4a61324b41204797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dda001a2a3e24e4f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81a515f7332944e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20661e3f4a3e4f0b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27b85547c425478d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8a6443e536414af6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9765462-F42F-437F-960E-BBD03EFB73E2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914400" y="2130428"/>
            <a:ext cx="103632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41DFD6AC-469A-446E-9DE7-413B9F0CBAE4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886200"/>
            <a:ext cx="85344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7BC930F-D545-4895-B808-8B6F21FFCBE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fld id="{E60792E3-D524-454C-8AFD-A91972900BCB}" type="datetime1">
              <a:t>6/2/2026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5308811-BA4C-415F-BB50-92CD86CE627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pPr>
              <a:buNone/>
            </a:pPr>
            <a:r>
              <a:t>@SIH Idea submission- Template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F4E98CB-28A8-4B4D-80F5-0C7D8658E5C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fld id="{5B7E1BAA-A38D-40DE-B22C-DF9BD7D82058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6B84C8E-4932-4E1B-8EF4-19D2A9D459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EF13383-D797-4D10-A590-AA83B117841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2A4B765-AC03-45C6-8321-5070C4A6D7B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fld id="{708B7524-32A2-4C20-A58C-BC3BAA1042FC}" type="datetime1">
              <a:t>6/2/2026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9958917-E428-47E8-A214-F40B780DE95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pPr>
              <a:buNone/>
            </a:pPr>
            <a:r>
              <a:t>@SIH Idea submission- Template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62A5A44-A369-49A0-A4A5-3824CD03D97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fld id="{677C3CE7-23F7-4828-823C-E0205DF2CF97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9A0FED9-8670-490E-98C1-F557ECBB1A4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963084" y="4406903"/>
            <a:ext cx="103632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D402718E-4660-4573-98F0-87450FC24B1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963084" y="2906713"/>
            <a:ext cx="103632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51727BA-5AC6-4A7B-9E56-41819F149AE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fld id="{1E994447-D6B2-43BB-A877-57F1A267B999}" type="datetime1">
              <a:t>6/2/2026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0649E1B-F1C1-416C-84A6-1692F7D4FF9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pPr>
              <a:buNone/>
            </a:pPr>
            <a:r>
              <a:t>@SIH Idea submission- Template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ED1ECF9-0697-46B5-B69E-09ADB5B0E3A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fld id="{41DB31D2-2A87-4F4C-A9AD-05C6CC2B321D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7F4D890-60CA-4201-950D-777A63BD3DF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7CD6C2A0-DE29-47F8-B316-5BA909DC2EA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09600" y="1600203"/>
            <a:ext cx="53848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42EB3E4-1C6F-491D-9D38-3CCFC1640631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97600" y="1600203"/>
            <a:ext cx="53848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805562B-5026-40B4-8F2A-5BCE4B05DB3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fld id="{68920E16-BD35-483C-AA6B-346FC7E46DEA}" type="datetime1">
              <a:t>6/2/2026</a:t>
            </a:fld>
            <a:endParaRPr/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3597200-345B-4C8B-8D39-D92F355ABA2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pPr>
              <a:buNone/>
            </a:pPr>
            <a:r>
              <a:t>@SIH Idea submission- Template</a:t>
            </a:r>
          </a:p>
        </p:txBody>
      </p:sp>
      <p:sp>
        <p:nvSpPr>
          <p:cNvPr id="7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7EDE383-AC7B-4084-988F-90E94B5DE58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fld id="{E1FC16D9-1635-4844-816A-0A8A2160FADA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8913EDA-85F6-430A-BAD9-E2768147EBD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E9E3E3C9-2D38-4110-A261-ACCE235602F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09600" y="1535113"/>
            <a:ext cx="5386917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E1D4187F-F1A8-479C-BF4E-13CD0B88C716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09600" y="2174875"/>
            <a:ext cx="5386917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661C2E89-4CBC-4E7A-A25A-E46AAA50EBC8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93369" y="1535113"/>
            <a:ext cx="5389033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DCCED9DF-58FD-4403-A7D1-B7324E1ED770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93369" y="2174875"/>
            <a:ext cx="5389033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B07D824-0608-44D6-999E-276B195D8BF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fld id="{2FEAC6F8-5103-4FC0-A69E-5C6AE6469DA8}" type="datetime1">
              <a:t>6/2/2026</a:t>
            </a:fld>
            <a:endParaRPr/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3433FBE-B712-449E-A6DB-4076C2CB92D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pPr>
              <a:buNone/>
            </a:pPr>
            <a:r>
              <a:t>@SIH Idea submission- Template</a:t>
            </a:r>
          </a:p>
        </p:txBody>
      </p:sp>
      <p:sp>
        <p:nvSpPr>
          <p:cNvPr id="9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85F13E3-FBE4-451E-B6E7-E68C6BF2C35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fld id="{71C4100A-98DE-4944-910A-A93F5CA9F724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7D844D1-140A-4536-9444-556DADBC15A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6F31A1B-5E52-44A0-92FA-81F333AC704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fld id="{C60C6921-0627-4C8F-83D5-0CF936D2FFDD}" type="datetime1">
              <a:t>6/2/2026</a:t>
            </a:fld>
            <a:endParaRPr/>
          </a:p>
        </p:txBody>
      </p:sp>
      <p:sp>
        <p:nvSpPr>
          <p:cNvPr id="4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BB1E217-CCAF-4AF9-A965-46DF8299707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pPr>
              <a:buNone/>
            </a:pPr>
            <a:r>
              <a:t>@SIH Idea submission- Template</a:t>
            </a:r>
          </a:p>
        </p:txBody>
      </p:sp>
      <p:sp>
        <p:nvSpPr>
          <p:cNvPr id="5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3EF53F2-68D9-4106-91EB-A9511AA6586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fld id="{6A63342B-5A73-45DC-864D-086DE78037EF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F098B76-218D-408B-AB69-AD435DD0B57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fld id="{2FF08AD7-8103-40F8-983C-E2BA6BB9CBE0}" type="datetime1">
              <a:t>6/2/2026</a:t>
            </a:fld>
            <a:endParaRPr/>
          </a:p>
        </p:txBody>
      </p:sp>
      <p:sp>
        <p:nvSpPr>
          <p:cNvPr id="3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9E17B95-652D-467D-8151-10B1D55EAC2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pPr>
              <a:buNone/>
            </a:pPr>
            <a:r>
              <a:t>@SIH Idea submission- Template</a:t>
            </a:r>
          </a:p>
        </p:txBody>
      </p:sp>
      <p:sp>
        <p:nvSpPr>
          <p:cNvPr id="4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AAC13C4-9C42-4599-8067-E1E0E30DC3E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fld id="{B635AFB3-1ACD-44AC-8702-86B1729DF035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C9EDFFF-8B8C-430C-8320-08096618BE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602" y="273050"/>
            <a:ext cx="4011084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E3AEE5B-3989-4AC6-983E-E0111CDEE56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766733" y="273053"/>
            <a:ext cx="6815667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A116901A-428C-48D5-9FBB-3010D7149F8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09602" y="1435103"/>
            <a:ext cx="4011084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18155AB-44EC-464D-83B9-3F42F6AE126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fld id="{DF8C06B4-9380-4A4D-AF49-A3596E17DAF5}" type="datetime1">
              <a:t>6/2/2026</a:t>
            </a:fld>
            <a:endParaRPr/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F43600A-8201-491D-94B8-4DE1EE2744B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pPr>
              <a:buNone/>
            </a:pPr>
            <a:r>
              <a:t>@SIH Idea submission- Template</a:t>
            </a:r>
          </a:p>
        </p:txBody>
      </p:sp>
      <p:sp>
        <p:nvSpPr>
          <p:cNvPr id="7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A29B597-B413-4CE9-9EFE-3CA6E22B635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fld id="{05CF15F3-5E77-4C57-9E21-50D6D1D6C022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4749B49-D823-4F86-9F0C-D660CB94EF0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389717" y="4800600"/>
            <a:ext cx="73152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EF1E88D-0B1C-4E5C-9C9A-6789518BBDBA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2389717" y="612775"/>
            <a:ext cx="7315200" cy="4114800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67795461-552A-40B7-8FE0-619FA1A89D1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389717" y="5367338"/>
            <a:ext cx="73152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81EE974-0830-4C8D-9090-90F5B56B79F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fld id="{EF7FDEF1-C582-4E22-9E77-D68326471F28}" type="datetime1">
              <a:t>6/2/2026</a:t>
            </a:fld>
            <a:endParaRPr/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7192DA0-A38A-484E-B315-611F1B9F9DB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pPr>
              <a:buNone/>
            </a:pPr>
            <a:r>
              <a:t>@SIH Idea submission- Template</a:t>
            </a:r>
          </a:p>
        </p:txBody>
      </p:sp>
      <p:sp>
        <p:nvSpPr>
          <p:cNvPr id="7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542A57E-AB64-487A-9A13-0ED4C5E5F30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fld id="{1242169A-B3C7-4FB6-967F-AF95F4EB3315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B857687-4A57-4049-8CAB-C28E12ABC0B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3A2CA1CA-FFEB-4CA7-BA59-7E6C0145E5F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A885D0E-9E12-4A58-B0BA-AB2E60608F5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fld id="{053C3A68-6922-42D3-8905-ECC2D82A3469}" type="datetime1">
              <a:t>6/2/2026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FCAAC47-226F-497B-975E-86FF3AD260F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pPr>
              <a:buNone/>
            </a:pPr>
            <a:r>
              <a:t>@SIH Idea submission- Template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F26C7F7-3DC7-4DE0-A182-8B2B54235C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fld id="{94FDD027-5576-4F27-AAB6-1D994836EE78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4BA4E0CD-D9E2-4739-A6D8-C2144D69204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839200" y="274641"/>
            <a:ext cx="27432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66F34820-5517-4ECB-9EA1-EBF1208203E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09600" y="274641"/>
            <a:ext cx="8026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B2A2FE2-EBC0-4470-B6EE-B00066010A6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fld id="{CB69E9F4-7604-4950-A8B2-8ACDEDB1506E}" type="datetime1">
              <a:t>6/2/2026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B60D6E0-6697-4F0C-BA8E-1E7AE4BAC00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pPr>
              <a:buNone/>
            </a:pPr>
            <a:r>
              <a:t>@SIH Idea submission- Template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24911BF-5FCE-41F4-B502-7FDDAD38A95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fld id="{2957CE61-8714-431B-A40A-01B1C5541AB7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25744631613f4622" Type="http://schemas.openxmlformats.org/officeDocument/2006/relationships/slideLayout" Target="../slideLayouts/slideLayout10.xml"/><Relationship Id="R48092d14498943fb" Type="http://schemas.openxmlformats.org/officeDocument/2006/relationships/slideLayout" Target="../slideLayouts/slideLayout3.xml"/><Relationship Id="R591fcd28188f4dc8" Type="http://schemas.openxmlformats.org/officeDocument/2006/relationships/slideLayout" Target="../slideLayouts/slideLayout4.xml"/><Relationship Id="R66a61e64f6ee4001" Type="http://schemas.openxmlformats.org/officeDocument/2006/relationships/slideLayout" Target="../slideLayouts/slideLayout2.xml"/><Relationship Id="R76ea6b25ab8441c4" Type="http://schemas.openxmlformats.org/officeDocument/2006/relationships/slideLayout" Target="../slideLayouts/slideLayout11.xml"/><Relationship Id="R9af256f54b274933" Type="http://schemas.openxmlformats.org/officeDocument/2006/relationships/slideLayout" Target="../slideLayouts/slideLayout9.xml"/><Relationship Id="Ra6b1f33dad7d4e85" Type="http://schemas.openxmlformats.org/officeDocument/2006/relationships/theme" Target="theme/theme2.xml"/><Relationship Id="Rb2938b45ff8e4a6e" Type="http://schemas.openxmlformats.org/officeDocument/2006/relationships/slideLayout" Target="../slideLayouts/slideLayout8.xml"/><Relationship Id="Rb837136fea784a64" Type="http://schemas.openxmlformats.org/officeDocument/2006/relationships/slideLayout" Target="../slideLayouts/slideLayout5.xml"/><Relationship Id="Rd770191da084489d" Type="http://schemas.openxmlformats.org/officeDocument/2006/relationships/slideLayout" Target="../slideLayouts/slideLayout1.xml"/><Relationship Id="Rdc7cd49a24c34cb9" Type="http://schemas.openxmlformats.org/officeDocument/2006/relationships/slideLayout" Target="../slideLayouts/slideLayout6.xml"/><Relationship Id="Rf8252bd49df94d23" Type="http://schemas.openxmlformats.org/officeDocument/2006/relationships/slideLayout" Target="../slideLayouts/slideLayout7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26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CF77B4A-48A8-428C-8C43-5501200A2CC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600" y="-47625"/>
            <a:ext cx="109728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91440" tIns="45720" rIns="91440" bIns="45720" anchor="ctr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title style</a:t>
            </a:r>
          </a:p>
        </p:txBody>
      </p:sp>
      <p:sp>
        <p:nvSpPr>
          <p:cNvPr id="1027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66A4ECFC-5F9C-4BF2-A113-F8306EC6BF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09600" y="1095375"/>
            <a:ext cx="10972800" cy="50307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91440" tIns="45720" rIns="91440" bIns="45720" anchor="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A3A111D-9EE1-46D4-99A9-3CAB24086EB6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09600" y="6356353"/>
            <a:ext cx="284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91440" tIns="45720" rIns="91440" bIns="45720" anchor="ctr"/>
          <a:lstStyle xmlns:a="http://schemas.openxmlformats.org/drawingml/2006/main">
            <a:lvl1pPr>
              <a:buNone/>
              <a:defRPr sz="1200">
                <a:solidFill>
                  <a:srgbClr val="898989"/>
                </a:solidFill>
                <a:latin typeface="TradeGothic"/>
                <a:ea typeface="TradeGothic"/>
                <a:cs typeface="TradeGothic"/>
              </a:defRPr>
            </a:lvl1pPr>
          </a:lstStyle>
          <a:p xmlns:a="http://schemas.openxmlformats.org/drawingml/2006/main">
            <a:fld id="{780A9602-A9A9-453F-AEF1-37B5837E02CD}" type="datetime1">
              <a:t>6/2/2026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BEF525A-626C-4832-A9DB-0BC4382F332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4165600" y="6356353"/>
            <a:ext cx="3860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TradeGothic"/>
                <a:cs typeface="TradeGothic"/>
              </a:defRPr>
            </a:lvl1pPr>
          </a:lstStyle>
          <a:p xmlns:a="http://schemas.openxmlformats.org/drawingml/2006/main">
            <a:pPr>
              <a:buNone/>
            </a:pPr>
            <a:r>
              <a:t>@SIH Idea submission- Template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28D5401-B09E-4047-98EA-771792642577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8737600" y="6356353"/>
            <a:ext cx="284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rgbClr val="898989"/>
                </a:solidFill>
                <a:latin typeface="TradeGothic"/>
                <a:ea typeface="TradeGothic"/>
                <a:cs typeface="TradeGothic"/>
              </a:defRPr>
            </a:lvl1pPr>
          </a:lstStyle>
          <a:p xmlns:a="http://schemas.openxmlformats.org/drawingml/2006/main">
            <a:fld id="{1411BA53-830D-4830-BB65-E58DBE17D0B7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770191da084489d"/>
    <p:sldLayoutId xmlns:r="http://schemas.openxmlformats.org/officeDocument/2006/relationships" id="2147483650" r:id="R66a61e64f6ee4001"/>
    <p:sldLayoutId xmlns:r="http://schemas.openxmlformats.org/officeDocument/2006/relationships" id="2147483651" r:id="R48092d14498943fb"/>
    <p:sldLayoutId xmlns:r="http://schemas.openxmlformats.org/officeDocument/2006/relationships" id="2147483652" r:id="R591fcd28188f4dc8"/>
    <p:sldLayoutId xmlns:r="http://schemas.openxmlformats.org/officeDocument/2006/relationships" id="2147483653" r:id="Rb837136fea784a64"/>
    <p:sldLayoutId xmlns:r="http://schemas.openxmlformats.org/officeDocument/2006/relationships" id="2147483654" r:id="Rdc7cd49a24c34cb9"/>
    <p:sldLayoutId xmlns:r="http://schemas.openxmlformats.org/officeDocument/2006/relationships" id="2147483655" r:id="Rf8252bd49df94d23"/>
    <p:sldLayoutId xmlns:r="http://schemas.openxmlformats.org/officeDocument/2006/relationships" id="2147483656" r:id="Rb2938b45ff8e4a6e"/>
    <p:sldLayoutId xmlns:r="http://schemas.openxmlformats.org/officeDocument/2006/relationships" id="2147483657" r:id="R9af256f54b274933"/>
    <p:sldLayoutId xmlns:r="http://schemas.openxmlformats.org/officeDocument/2006/relationships" id="2147483658" r:id="R25744631613f4622"/>
    <p:sldLayoutId xmlns:r="http://schemas.openxmlformats.org/officeDocument/2006/relationships" id="2147483659" r:id="R76ea6b25ab8441c4"/>
  </p:sldLayoutIdLst>
  <p:hf hdr="0" dt="0"/>
  <p:txStyles>
    <p:titleStyle>
      <a:lvl1pPr xmlns:a="http://schemas.openxmlformats.org/drawingml/2006/main" algn="ctr" defTabSz="457200">
        <a:spcBef>
          <a:spcPct val="0"/>
        </a:spcBef>
        <a:spcAft>
          <a:spcPct val="0"/>
        </a:spcAft>
        <a:buNone/>
        <a:defRPr sz="4400" kern="1200">
          <a:solidFill>
            <a:schemeClr val="tx1"/>
          </a:solidFill>
          <a:latin typeface="TradeGothic"/>
          <a:ea typeface="TradeGothic"/>
          <a:cs typeface="TradeGothic"/>
        </a:defRPr>
      </a:lvl1pPr>
      <a:lvl2pPr xmlns:a="http://schemas.openxmlformats.org/drawingml/2006/main" algn="ctr" defTabSz="457200">
        <a:spcBef>
          <a:spcPct val="0"/>
        </a:spcBef>
        <a:spcAft>
          <a:spcPct val="0"/>
        </a:spcAft>
        <a:buNone/>
        <a:defRPr sz="4400">
          <a:solidFill>
            <a:schemeClr val="tx1"/>
          </a:solidFill>
          <a:latin typeface="TradeGothic"/>
          <a:ea typeface="TradeGothic"/>
          <a:cs typeface="TradeGothic"/>
        </a:defRPr>
      </a:lvl2pPr>
      <a:lvl3pPr xmlns:a="http://schemas.openxmlformats.org/drawingml/2006/main" algn="ctr" defTabSz="457200">
        <a:spcBef>
          <a:spcPct val="0"/>
        </a:spcBef>
        <a:spcAft>
          <a:spcPct val="0"/>
        </a:spcAft>
        <a:buNone/>
        <a:defRPr sz="4400">
          <a:solidFill>
            <a:schemeClr val="tx1"/>
          </a:solidFill>
          <a:latin typeface="TradeGothic"/>
          <a:ea typeface="TradeGothic"/>
          <a:cs typeface="TradeGothic"/>
        </a:defRPr>
      </a:lvl3pPr>
      <a:lvl4pPr xmlns:a="http://schemas.openxmlformats.org/drawingml/2006/main" algn="ctr" defTabSz="457200">
        <a:spcBef>
          <a:spcPct val="0"/>
        </a:spcBef>
        <a:spcAft>
          <a:spcPct val="0"/>
        </a:spcAft>
        <a:buNone/>
        <a:defRPr sz="4400">
          <a:solidFill>
            <a:schemeClr val="tx1"/>
          </a:solidFill>
          <a:latin typeface="TradeGothic"/>
          <a:ea typeface="TradeGothic"/>
          <a:cs typeface="TradeGothic"/>
        </a:defRPr>
      </a:lvl4pPr>
      <a:lvl5pPr xmlns:a="http://schemas.openxmlformats.org/drawingml/2006/main" algn="ctr" defTabSz="457200">
        <a:spcBef>
          <a:spcPct val="0"/>
        </a:spcBef>
        <a:spcAft>
          <a:spcPct val="0"/>
        </a:spcAft>
        <a:buNone/>
        <a:defRPr sz="4400">
          <a:solidFill>
            <a:schemeClr val="tx1"/>
          </a:solidFill>
          <a:latin typeface="TradeGothic"/>
          <a:ea typeface="TradeGothic"/>
          <a:cs typeface="TradeGothic"/>
        </a:defRPr>
      </a:lvl5pPr>
      <a:lvl6pPr xmlns:a="http://schemas.openxmlformats.org/drawingml/2006/main" marL="457200" algn="ctr" defTabSz="457200">
        <a:spcBef>
          <a:spcPct val="0"/>
        </a:spcBef>
        <a:spcAft>
          <a:spcPct val="0"/>
        </a:spcAft>
        <a:buNone/>
        <a:defRPr sz="4400">
          <a:solidFill>
            <a:schemeClr val="tx1"/>
          </a:solidFill>
          <a:latin typeface="TradeGothic"/>
          <a:ea typeface="TradeGothic"/>
          <a:cs typeface="TradeGothic"/>
        </a:defRPr>
      </a:lvl6pPr>
      <a:lvl7pPr xmlns:a="http://schemas.openxmlformats.org/drawingml/2006/main" marL="914400" algn="ctr" defTabSz="457200">
        <a:spcBef>
          <a:spcPct val="0"/>
        </a:spcBef>
        <a:spcAft>
          <a:spcPct val="0"/>
        </a:spcAft>
        <a:buNone/>
        <a:defRPr sz="4400">
          <a:solidFill>
            <a:schemeClr val="tx1"/>
          </a:solidFill>
          <a:latin typeface="TradeGothic"/>
          <a:ea typeface="TradeGothic"/>
          <a:cs typeface="TradeGothic"/>
        </a:defRPr>
      </a:lvl7pPr>
      <a:lvl8pPr xmlns:a="http://schemas.openxmlformats.org/drawingml/2006/main" marL="1371600" algn="ctr" defTabSz="457200">
        <a:spcBef>
          <a:spcPct val="0"/>
        </a:spcBef>
        <a:spcAft>
          <a:spcPct val="0"/>
        </a:spcAft>
        <a:buNone/>
        <a:defRPr sz="4400">
          <a:solidFill>
            <a:schemeClr val="tx1"/>
          </a:solidFill>
          <a:latin typeface="TradeGothic"/>
          <a:ea typeface="TradeGothic"/>
          <a:cs typeface="TradeGothic"/>
        </a:defRPr>
      </a:lvl8pPr>
      <a:lvl9pPr xmlns:a="http://schemas.openxmlformats.org/drawingml/2006/main" marL="1828800" algn="ctr" defTabSz="457200">
        <a:spcBef>
          <a:spcPct val="0"/>
        </a:spcBef>
        <a:spcAft>
          <a:spcPct val="0"/>
        </a:spcAft>
        <a:buNone/>
        <a:defRPr sz="4400">
          <a:solidFill>
            <a:schemeClr val="tx1"/>
          </a:solidFill>
          <a:latin typeface="TradeGothic"/>
          <a:ea typeface="TradeGothic"/>
          <a:cs typeface="TradeGothic"/>
        </a:defRPr>
      </a:lvl9pPr>
    </p:titleStyle>
    <p:bodyStyle>
      <a:lvl1pPr xmlns:a="http://schemas.openxmlformats.org/drawingml/2006/main" marL="342900" indent="-342900" algn="l" defTabSz="457200">
        <a:spcBef>
          <a:spcPct val="20000"/>
        </a:spcBef>
        <a:spcAft>
          <a:spcPct val="0"/>
        </a:spcAft>
        <a:buFont typeface="Arial"/>
        <a:buChar char="•"/>
        <a:defRPr sz="3200" kern="1200">
          <a:solidFill>
            <a:schemeClr val="tx1"/>
          </a:solidFill>
          <a:latin typeface="TradeGothic"/>
          <a:ea typeface="TradeGothic"/>
          <a:cs typeface="TradeGothic"/>
        </a:defRPr>
      </a:lvl1pPr>
      <a:lvl2pPr xmlns:a="http://schemas.openxmlformats.org/drawingml/2006/main" marL="742950" indent="-285750" algn="l" defTabSz="457200">
        <a:spcBef>
          <a:spcPct val="20000"/>
        </a:spcBef>
        <a:spcAft>
          <a:spcPct val="0"/>
        </a:spcAft>
        <a:buFont typeface="Arial"/>
        <a:buChar char="–"/>
        <a:defRPr sz="2800" kern="1200">
          <a:solidFill>
            <a:schemeClr val="tx1"/>
          </a:solidFill>
          <a:latin typeface="TradeGothic"/>
          <a:ea typeface="TradeGothic"/>
          <a:cs typeface="TradeGothic"/>
        </a:defRPr>
      </a:lvl2pPr>
      <a:lvl3pPr xmlns:a="http://schemas.openxmlformats.org/drawingml/2006/main" marL="1143000" indent="-228600" algn="l" defTabSz="457200">
        <a:spcBef>
          <a:spcPct val="20000"/>
        </a:spcBef>
        <a:spcAft>
          <a:spcPct val="0"/>
        </a:spcAft>
        <a:buFont typeface="Arial"/>
        <a:buChar char="•"/>
        <a:defRPr sz="2400" kern="1200">
          <a:solidFill>
            <a:schemeClr val="tx1"/>
          </a:solidFill>
          <a:latin typeface="TradeGothic"/>
          <a:ea typeface="TradeGothic"/>
          <a:cs typeface="TradeGothic"/>
        </a:defRPr>
      </a:lvl3pPr>
      <a:lvl4pPr xmlns:a="http://schemas.openxmlformats.org/drawingml/2006/main" marL="1600200" indent="-228600" algn="l" defTabSz="457200">
        <a:spcBef>
          <a:spcPct val="20000"/>
        </a:spcBef>
        <a:spcAft>
          <a:spcPct val="0"/>
        </a:spcAft>
        <a:buFont typeface="Arial"/>
        <a:buChar char="–"/>
        <a:defRPr sz="2000" kern="1200">
          <a:solidFill>
            <a:schemeClr val="tx1"/>
          </a:solidFill>
          <a:latin typeface="TradeGothic"/>
          <a:ea typeface="TradeGothic"/>
          <a:cs typeface="TradeGothic"/>
        </a:defRPr>
      </a:lvl4pPr>
      <a:lvl5pPr xmlns:a="http://schemas.openxmlformats.org/drawingml/2006/main" marL="2057400" indent="-228600" algn="l" defTabSz="457200">
        <a:spcBef>
          <a:spcPct val="20000"/>
        </a:spcBef>
        <a:spcAft>
          <a:spcPct val="0"/>
        </a:spcAft>
        <a:buFont typeface="Arial"/>
        <a:buChar char="»"/>
        <a:defRPr sz="2000" kern="1200">
          <a:solidFill>
            <a:schemeClr val="tx1"/>
          </a:solidFill>
          <a:latin typeface="TradeGothic"/>
          <a:ea typeface="TradeGothic"/>
          <a:cs typeface="TradeGothic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19b084df4e7545f7" Type="http://schemas.openxmlformats.org/officeDocument/2006/relationships/notesSlide" Target="../notesSlides/notesSlide1.xml"/><Relationship Id="R5263184cdb494d82" Type="http://schemas.openxmlformats.org/officeDocument/2006/relationships/image" Target="../media/image2.png"/><Relationship Id="R5a2fcbdd126b42e0" Type="http://schemas.openxmlformats.org/officeDocument/2006/relationships/slideLayout" Target="../slideLayouts/slideLayout1.xml"/><Relationship Id="R67b6adcd9a534026" Type="http://schemas.openxmlformats.org/officeDocument/2006/relationships/image" Target="../media/image.png"/></Relationships>
</file>

<file path=ppt/slides/_rels/slide2.xml.rels><?xml version='1.0' encoding='UTF-8' standalone='yes'?>
<Relationships xmlns="http://schemas.openxmlformats.org/package/2006/relationships"><Relationship Id="R0f1e47c32a4d4bfa" Type="http://schemas.openxmlformats.org/officeDocument/2006/relationships/image" Target="../media/image3.png"/><Relationship Id="R22bd723109e04d42" Type="http://schemas.openxmlformats.org/officeDocument/2006/relationships/image" Target="../media/image2.png"/><Relationship Id="R333ce6458e1e4eca" Type="http://schemas.openxmlformats.org/officeDocument/2006/relationships/slideLayout" Target="../slideLayouts/slideLayout2.xml"/><Relationship Id="R6230199b5344414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105c508453e54da8" Type="http://schemas.openxmlformats.org/officeDocument/2006/relationships/notesSlide" Target="../notesSlides/notesSlide3.xml"/><Relationship Id="R16213530f0d045df" Type="http://schemas.openxmlformats.org/officeDocument/2006/relationships/image" Target="../media/image2.png"/><Relationship Id="R67293c8d3602470b" Type="http://schemas.openxmlformats.org/officeDocument/2006/relationships/image" Target="../media/image4.png"/><Relationship Id="Rdc2afe45a2c140ef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0791e78976bc402c" Type="http://schemas.openxmlformats.org/officeDocument/2006/relationships/image" Target="../media/image2.png"/><Relationship Id="R72151aa5abb04671" Type="http://schemas.openxmlformats.org/officeDocument/2006/relationships/slideLayout" Target="../slideLayouts/slideLayout2.xml"/><Relationship Id="R76f36b6e3f554ac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8f1ecde235af4b17" Type="http://schemas.openxmlformats.org/officeDocument/2006/relationships/image" Target="../media/image2.png"/><Relationship Id="Ra9372fc2ba3d4585" Type="http://schemas.openxmlformats.org/officeDocument/2006/relationships/slideLayout" Target="../slideLayouts/slideLayout2.xml"/><Relationship Id="Re57675740ac84dae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1cdc171c7eec450a" Type="http://schemas.openxmlformats.org/officeDocument/2006/relationships/notesSlide" Target="../notesSlides/notesSlide6.xml"/><Relationship Id="R22009925f8ba4fd6" Type="http://schemas.openxmlformats.org/officeDocument/2006/relationships/slideLayout" Target="../slideLayouts/slideLayout2.xml"/><Relationship Id="Rd9a70a2de7624344" Type="http://schemas.openxmlformats.org/officeDocument/2006/relationships/image" Target="../media/image2.png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 useBgFill="1">
        <p:nvSpPr>
          <p:cNvPr id="36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3E443FD7-A66B-4AA0-872D-B088B9BC5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0"/>
            <a:ext cx="9144000" cy="6858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7" name="Freeform: Shape 26">
            <a:extLst xmlns:a="http://schemas.openxmlformats.org/drawingml/2006/main">
              <a:ext uri="{FF2B5EF4-FFF2-40B4-BE49-F238E27FC236}">
                <a16:creationId xmlns:a16="http://schemas.microsoft.com/office/drawing/2014/main" id="{C04BE0EF-3561-49B4-9A29-F283168A9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6780" y="851521"/>
            <a:ext cx="4638605" cy="5154967"/>
          </a:xfrm>
          <a:custGeom xmlns:a="http://schemas.openxmlformats.org/drawingml/2006/main"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 xmlns:a="http://schemas.openxmlformats.org/drawingml/2006/main">
            <a:schemeClr val="tx1">
              <a:lumMod val="50000"/>
              <a:lumOff val="50000"/>
              <a:alpha val="15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pic>
        <p:nvPicPr>
          <p:cNvPr id="42" name="Picture 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7b6adcd9a534026"/>
          <a:srcRect xmlns:a="http://schemas.openxmlformats.org/drawingml/2006/main" l="0" t="0" r="59916" b="0"/>
          <a:stretch xmlns:a="http://schemas.openxmlformats.org/drawingml/2006/main"/>
        </p:blipFill>
        <p:spPr>
          <a:xfrm xmlns:a="http://schemas.openxmlformats.org/drawingml/2006/main">
            <a:off x="6854891" y="1715881"/>
            <a:ext cx="3203509" cy="3426237"/>
          </a:xfrm>
          <a:prstGeom xmlns:a="http://schemas.openxmlformats.org/drawingml/2006/main" prst="rect">
            <a:avLst/>
          </a:prstGeom>
        </p:spPr>
      </p:pic>
      <p:sp>
        <p:nvSpPr>
          <p:cNvPr id="4" name="Subtitle 3">
            <a:extLst xmlns:a="http://schemas.openxmlformats.org/drawingml/2006/main">
              <a:ext uri="{FF2B5EF4-FFF2-40B4-BE49-F238E27FC236}">
                <a16:creationId xmlns:a16="http://schemas.microsoft.com/office/drawing/2014/main" id="{AA502AAE-A882-4BB6-804F-CBF52D83A921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245686" y="648614"/>
            <a:ext cx="85344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b="1">
              <a:solidFill>
                <a:schemeClr val="tx1"/>
              </a:solidFill>
              <a:latin typeface="Times New Roman"/>
              <a:ea typeface="Times New Roman"/>
              <a:cs typeface="Times New Roman"/>
            </a:endParaRPr>
          </a:p>
          <a:p xmlns:a="http://schemas.openxmlformats.org/drawingml/2006/main">
            <a:r>
              <a:rPr b="1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TITLE PAGE</a:t>
            </a:r>
            <a:endParaRPr b="1">
              <a:solidFill>
                <a:schemeClr val="tx1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8" name="Title 7">
            <a:extLst xmlns:a="http://schemas.openxmlformats.org/drawingml/2006/main">
              <a:ext uri="{FF2B5EF4-FFF2-40B4-BE49-F238E27FC236}">
                <a16:creationId xmlns:a16="http://schemas.microsoft.com/office/drawing/2014/main" id="{3599372E-67A7-4F58-971D-DF651A0F136D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331286" y="-526757"/>
            <a:ext cx="10363200" cy="207645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4000" b="1">
                <a:solidFill>
                  <a:schemeClr val="tx2"/>
                </a:solidFill>
                <a:latin typeface="Garamond"/>
                <a:ea typeface="Garamond"/>
                <a:cs typeface="Garamond"/>
              </a:rPr>
              <a:t>SMART INDIA HACKATHON </a:t>
            </a:r>
            <a:r>
              <a:rPr sz="4000" b="1">
                <a:solidFill>
                  <a:schemeClr val="tx2"/>
                </a:solidFill>
                <a:latin typeface="Garamond"/>
                <a:ea typeface="Garamond"/>
                <a:cs typeface="Garamond"/>
              </a:rPr>
              <a:t>2026</a:t>
            </a:r>
            <a:endParaRPr sz="4000" b="1">
              <a:solidFill>
                <a:schemeClr val="tx2"/>
              </a:solidFill>
              <a:latin typeface="Garamond"/>
              <a:ea typeface="Garamond"/>
              <a:cs typeface="Garamond"/>
            </a:endParaRP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BF5C42B8-DE52-4BF5-B4A7-8037A77F1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286" y="2076450"/>
            <a:ext cx="5924550" cy="470301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endParaRPr/>
          </a:p>
          <a:p xmlns:a="http://schemas.openxmlformats.org/drawingml/2006/main">
            <a:pPr marL="285750" indent="-285750" algn="just">
              <a:lnSpc>
                <a:spcPct val="100000"/>
              </a:lnSpc>
              <a:spcAft>
                <a:spcPts val="1000"/>
              </a:spcAft>
              <a:buFont typeface="Arial"/>
              <a:buChar char="•"/>
            </a:pPr>
            <a:r>
              <a:rPr sz="1800" b="1">
                <a:latin typeface="Arial"/>
                <a:ea typeface="Arial"/>
                <a:cs typeface="Arial"/>
              </a:rPr>
              <a:t>Problem Statement ID – 26122</a:t>
            </a:r>
          </a:p>
          <a:p xmlns:a="http://schemas.openxmlformats.org/drawingml/2006/main">
            <a:pPr marL="285750" indent="-285750" algn="just">
              <a:lnSpc>
                <a:spcPct val="100000"/>
              </a:lnSpc>
              <a:spcAft>
                <a:spcPts val="1000"/>
              </a:spcAft>
              <a:buFont typeface="Arial"/>
              <a:buChar char="•"/>
            </a:pPr>
            <a:r>
              <a:rPr sz="1300" b="1">
                <a:latin typeface="Arial"/>
                <a:ea typeface="Arial"/>
                <a:cs typeface="Arial"/>
              </a:rPr>
              <a:t>Problem Statement Title- Intelligent Data Capture &amp; Schedule-Linking Layer for Infrastructure Project Management: Real-Time Actual Progress Tracking (Planning-to-Execution Bridge)</a:t>
            </a:r>
          </a:p>
          <a:p xmlns:a="http://schemas.openxmlformats.org/drawingml/2006/main">
            <a:pPr marL="285750" indent="-285750" algn="just">
              <a:lnSpc>
                <a:spcPct val="100000"/>
              </a:lnSpc>
              <a:spcAft>
                <a:spcPts val="1000"/>
              </a:spcAft>
              <a:buFont typeface="Arial"/>
              <a:buChar char="•"/>
            </a:pPr>
            <a:r>
              <a:rPr sz="1800" b="1">
                <a:latin typeface="Arial"/>
                <a:ea typeface="Arial"/>
                <a:cs typeface="Arial"/>
              </a:rPr>
              <a:t>Theme- Smart Automation</a:t>
            </a:r>
          </a:p>
          <a:p xmlns:a="http://schemas.openxmlformats.org/drawingml/2006/main">
            <a:pPr marL="285750" indent="-285750" algn="just">
              <a:lnSpc>
                <a:spcPct val="100000"/>
              </a:lnSpc>
              <a:spcAft>
                <a:spcPts val="1000"/>
              </a:spcAft>
              <a:buFont typeface="Arial"/>
              <a:buChar char="•"/>
            </a:pPr>
            <a:r>
              <a:rPr sz="1800" b="1">
                <a:latin typeface="Arial"/>
                <a:ea typeface="Arial"/>
                <a:cs typeface="Arial"/>
              </a:rPr>
              <a:t>PS Category- Software</a:t>
            </a:r>
          </a:p>
          <a:p xmlns:a="http://schemas.openxmlformats.org/drawingml/2006/main">
            <a:pPr marL="285750" indent="-285750" algn="just">
              <a:lnSpc>
                <a:spcPct val="100000"/>
              </a:lnSpc>
              <a:spcAft>
                <a:spcPts val="1000"/>
              </a:spcAft>
              <a:buFont typeface="Arial"/>
              <a:buChar char="•"/>
            </a:pPr>
            <a:r>
              <a:rPr sz="1800" b="1">
                <a:latin typeface="Arial"/>
                <a:ea typeface="Arial"/>
                <a:cs typeface="Arial"/>
              </a:rPr>
              <a:t>Team ID-</a:t>
            </a:r>
          </a:p>
          <a:p xmlns:a="http://schemas.openxmlformats.org/drawingml/2006/main">
            <a:pPr marL="285750" indent="-285750" algn="just">
              <a:lnSpc>
                <a:spcPct val="100000"/>
              </a:lnSpc>
              <a:spcAft>
                <a:spcPts val="1000"/>
              </a:spcAft>
              <a:buFont typeface="Arial"/>
              <a:buChar char="•"/>
            </a:pPr>
            <a:r>
              <a:rPr sz="1800" b="1">
                <a:latin typeface="Arial"/>
                <a:ea typeface="Arial"/>
                <a:cs typeface="Arial"/>
              </a:rPr>
              <a:t>Team Name- NamasteByte</a:t>
            </a:r>
            <a:endParaRPr sz="2400" b="1">
              <a:latin typeface="Arial"/>
              <a:ea typeface="Arial"/>
              <a:cs typeface="Arial"/>
            </a:endParaRPr>
          </a:p>
        </p:txBody>
      </p:sp>
      <p:pic>
        <p:nvPicPr>
          <p:cNvPr id="46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63184cdb494d8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780086" y="1500"/>
            <a:ext cx="2249850" cy="1062337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5281229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EC712E1B-B6D0-473D-9872-C835ECCC2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54762"/>
            <a:ext cx="12191999" cy="503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0C0"/>
          </a:solidFill>
          <a:ln xmlns:a="http://schemas.openxmlformats.org/drawingml/2006/main" w="9525">
            <a:noFill/>
          </a:ln>
          <a:effectLst xmlns:a="http://schemas.openxmlformats.org/drawingml/2006/main"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accent2">
                  <a:lumMod val="75000"/>
                </a:schemeClr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15361" name="Title 1">
            <a:extLst xmlns:a="http://schemas.openxmlformats.org/drawingml/2006/main">
              <a:ext uri="{FF2B5EF4-FFF2-40B4-BE49-F238E27FC236}">
                <a16:creationId xmlns:a16="http://schemas.microsoft.com/office/drawing/2014/main" id="{D894B11B-5B1B-44B1-99C4-5709B807FBC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82998" y="0"/>
            <a:ext cx="10972800" cy="11430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rPr sz="3600" b="1">
                <a:latin typeface="Times New Roman"/>
                <a:ea typeface="Times New Roman"/>
                <a:cs typeface="Times New Roman"/>
              </a:rPr>
              <a:t/>
            </a:r>
            <a:br/>
            <a:r>
              <a:rPr sz="3600" b="1">
                <a:latin typeface="Times New Roman"/>
                <a:ea typeface="Times New Roman"/>
                <a:cs typeface="Times New Roman"/>
              </a:rPr>
              <a:t>IDEA TITLE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D87E8F8-5165-4B3D-9BF9-F6E988D8420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77C3CE7-23F7-4828-823C-E0205DF2CF97}" type="slidenum">
              <a:rPr b="1">
                <a:solidFill>
                  <a:schemeClr val="bg1"/>
                </a:solidFill>
              </a:rPr>
              <a:t>2</a:t>
            </a:fld>
            <a:endParaRPr b="1">
              <a:solidFill>
                <a:schemeClr val="bg1"/>
              </a:solidFill>
            </a:endParaRPr>
          </a:p>
        </p:txBody>
      </p:sp>
      <p:sp>
        <p:nvSpPr>
          <p:cNvPr id="7" name="Footer Placeholder 6">
            <a:extLst xmlns:a="http://schemas.openxmlformats.org/drawingml/2006/main">
              <a:ext uri="{FF2B5EF4-FFF2-40B4-BE49-F238E27FC236}">
                <a16:creationId xmlns:a16="http://schemas.microsoft.com/office/drawing/2014/main" id="{D4416F25-5808-4281-B898-C2CB2B7C53F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648200" y="6356353"/>
            <a:ext cx="3204000" cy="3651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rPr>
                <a:solidFill>
                  <a:schemeClr val="bg1"/>
                </a:solidFill>
              </a:rPr>
              <a:t>@SIH Idea submission- Template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10" name="Oval 9">
            <a:extLst xmlns:a="http://schemas.openxmlformats.org/drawingml/2006/main">
              <a:ext uri="{FF2B5EF4-FFF2-40B4-BE49-F238E27FC236}">
                <a16:creationId xmlns:a16="http://schemas.microsoft.com/office/drawing/2014/main" id="{5DBCE864-823D-4A13-9607-5DA1F0ED5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773" y="252246"/>
            <a:ext cx="1251857" cy="807334"/>
          </a:xfrm>
          <a:prstGeom xmlns:a="http://schemas.openxmlformats.org/drawingml/2006/main" prst="ellipse">
            <a:avLst/>
          </a:prstGeom>
        </p:spPr>
        <p:style>
          <a:lnRef xmlns:a="http://schemas.openxmlformats.org/drawingml/2006/main" idx="2">
            <a:schemeClr val="accent4"/>
          </a:lnRef>
          <a:fillRef xmlns:a="http://schemas.openxmlformats.org/drawingml/2006/main" idx="1">
            <a:schemeClr val="lt1"/>
          </a:fillRef>
          <a:effectRef xmlns:a="http://schemas.openxmlformats.org/drawingml/2006/main" idx="0">
            <a:schemeClr val="accent4"/>
          </a:effectRef>
          <a:fontRef xmlns:a="http://schemas.openxmlformats.org/drawingml/2006/main" idx="minor">
            <a:schemeClr val="dk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/>
              <a:t>NamasteByte</a:t>
            </a:r>
            <a:endParaRPr/>
          </a:p>
        </p:txBody>
      </p:sp>
      <p:pic>
        <p:nvPicPr>
          <p:cNvPr id="15382" name="Picture 1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bd723109e04d4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780086" y="1500"/>
            <a:ext cx="2249850" cy="1062337"/>
          </a:xfrm>
          <a:prstGeom xmlns:a="http://schemas.openxmlformats.org/drawingml/2006/main" prst="rect">
            <a:avLst/>
          </a:prstGeom>
        </p:spPr>
      </p:pic>
      <p:sp>
        <p:nvSpPr>
          <p:cNvPr id="15364" name="">
            <a:extLst xmlns:a="http://schemas.openxmlformats.org/drawingml/2006/main">
              <a:ext uri="{FF2B5EF4-FFF2-40B4-BE49-F238E27FC236}">
                <a16:creationId xmlns:a16="http://schemas.microsoft.com/office/drawing/2014/main" id="{A23AB7F9-6B18-4A7B-9258-4515B27B6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200150"/>
            <a:ext cx="4381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B67B2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B67B2"/>
                </a:solidFill>
                <a:latin typeface="Arial"/>
                <a:ea typeface="Arial"/>
                <a:cs typeface="Arial"/>
              </a:rPr>
              <a:t>PROPOSED SOLUTION</a:t>
            </a:r>
          </a:p>
        </p:txBody>
      </p:sp>
      <p:sp>
        <p:nvSpPr>
          <p:cNvPr id="15365" name="">
            <a:extLst xmlns:a="http://schemas.openxmlformats.org/drawingml/2006/main">
              <a:ext uri="{FF2B5EF4-FFF2-40B4-BE49-F238E27FC236}">
                <a16:creationId xmlns:a16="http://schemas.microsoft.com/office/drawing/2014/main" id="{DF27E299-2ADA-4CC9-8E00-F051D4ADB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419225"/>
            <a:ext cx="1447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0B67B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366" name="">
            <a:extLst xmlns:a="http://schemas.openxmlformats.org/drawingml/2006/main">
              <a:ext uri="{FF2B5EF4-FFF2-40B4-BE49-F238E27FC236}">
                <a16:creationId xmlns:a16="http://schemas.microsoft.com/office/drawing/2014/main" id="{AA5E6801-2CE9-4253-9FD9-7DD0A51FC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1181100"/>
            <a:ext cx="6667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82230"/>
                </a:solidFill>
                <a:latin typeface="Arial"/>
                <a:ea typeface="Arial"/>
                <a:cs typeface="Arial"/>
              </a:rPr>
              <a:t>NAVIS - one evidence trail from a field sentence to a reviewed P6 actual.</a:t>
            </a:r>
          </a:p>
        </p:txBody>
      </p:sp>
      <p:pic>
        <p:nvPicPr>
          <p:cNvPr id="1538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1e47c32a4d4bfa"/>
          <a:stretch xmlns:a="http://schemas.openxmlformats.org/drawingml/2006/main"/>
        </p:blipFill>
        <p:spPr>
          <a:xfrm xmlns:a="http://schemas.openxmlformats.org/drawingml/2006/main">
            <a:off x="342900" y="1524155"/>
            <a:ext cx="11506200" cy="3038165"/>
          </a:xfrm>
          <a:prstGeom xmlns:a="http://schemas.openxmlformats.org/drawingml/2006/main" prst="rect">
            <a:avLst/>
          </a:prstGeom>
        </p:spPr>
      </p:pic>
      <p:sp>
        <p:nvSpPr>
          <p:cNvPr id="15368" name="">
            <a:extLst xmlns:a="http://schemas.openxmlformats.org/drawingml/2006/main">
              <a:ext uri="{FF2B5EF4-FFF2-40B4-BE49-F238E27FC236}">
                <a16:creationId xmlns:a16="http://schemas.microsoft.com/office/drawing/2014/main" id="{B8BE7CE4-90B9-454A-BC35-C669CAADC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4705350"/>
            <a:ext cx="3733800" cy="14859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DECEC"/>
          </a:solidFill>
          <a:ln xmlns:a="http://schemas.openxmlformats.org/drawingml/2006/main" w="12383">
            <a:solidFill>
              <a:srgbClr val="F0BDB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369" name="">
            <a:extLst xmlns:a="http://schemas.openxmlformats.org/drawingml/2006/main">
              <a:ext uri="{FF2B5EF4-FFF2-40B4-BE49-F238E27FC236}">
                <a16:creationId xmlns:a16="http://schemas.microsoft.com/office/drawing/2014/main" id="{7BA58A1D-86B9-4F33-8EAC-58B26B5BD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810125"/>
            <a:ext cx="34671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B42318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B42318"/>
                </a:solidFill>
                <a:latin typeface="Arial"/>
                <a:ea typeface="Arial"/>
                <a:cs typeface="Arial"/>
              </a:rPr>
              <a:t>THE PROBLEM</a:t>
            </a:r>
          </a:p>
        </p:txBody>
      </p:sp>
      <p:sp>
        <p:nvSpPr>
          <p:cNvPr id="15370" name="">
            <a:extLst xmlns:a="http://schemas.openxmlformats.org/drawingml/2006/main">
              <a:ext uri="{FF2B5EF4-FFF2-40B4-BE49-F238E27FC236}">
                <a16:creationId xmlns:a16="http://schemas.microsoft.com/office/drawing/2014/main" id="{9B571E68-E2C1-424D-8223-EDF070282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038725"/>
            <a:ext cx="3467100" cy="1047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182230"/>
                </a:solidFill>
                <a:latin typeface="Arial"/>
                <a:ea typeface="Arial"/>
                <a:cs typeface="Arial"/>
              </a:rPr>
              <a:t>Progress is reported as prose - daily reports, discipline sheets, voice notes. Primavera P6 needs an activity ID and a date. A planner bridges that gap by hand, every cycle, on a schedule of thousands of activities.</a:t>
            </a:r>
          </a:p>
        </p:txBody>
      </p:sp>
      <p:sp>
        <p:nvSpPr>
          <p:cNvPr id="15371" name="">
            <a:extLst xmlns:a="http://schemas.openxmlformats.org/drawingml/2006/main">
              <a:ext uri="{FF2B5EF4-FFF2-40B4-BE49-F238E27FC236}">
                <a16:creationId xmlns:a16="http://schemas.microsoft.com/office/drawing/2014/main" id="{CCEB837E-76B3-40F6-8166-C44A94B0B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4705350"/>
            <a:ext cx="3733800" cy="14859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EAF3FB"/>
          </a:solidFill>
          <a:ln xmlns:a="http://schemas.openxmlformats.org/drawingml/2006/main" w="12383">
            <a:solidFill>
              <a:srgbClr val="9DC2E6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372" name="">
            <a:extLst xmlns:a="http://schemas.openxmlformats.org/drawingml/2006/main">
              <a:ext uri="{FF2B5EF4-FFF2-40B4-BE49-F238E27FC236}">
                <a16:creationId xmlns:a16="http://schemas.microsoft.com/office/drawing/2014/main" id="{0227E892-F25D-4ADD-A402-F469AF660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810125"/>
            <a:ext cx="34671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23F78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123F78"/>
                </a:solidFill>
                <a:latin typeface="Arial"/>
                <a:ea typeface="Arial"/>
                <a:cs typeface="Arial"/>
              </a:rPr>
              <a:t>HOW NAVIS SOLVES IT</a:t>
            </a:r>
          </a:p>
        </p:txBody>
      </p:sp>
      <p:sp>
        <p:nvSpPr>
          <p:cNvPr id="15373" name="">
            <a:extLst xmlns:a="http://schemas.openxmlformats.org/drawingml/2006/main">
              <a:ext uri="{FF2B5EF4-FFF2-40B4-BE49-F238E27FC236}">
                <a16:creationId xmlns:a16="http://schemas.microsoft.com/office/drawing/2014/main" id="{5F915593-BFFC-4237-8624-A282CEE7D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5038725"/>
            <a:ext cx="3467100" cy="1047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182230"/>
                </a:solidFill>
                <a:latin typeface="Arial"/>
                <a:ea typeface="Arial"/>
                <a:cs typeface="Arial"/>
              </a:rPr>
              <a:t>Extract the fact with the file and line it came from, retrieve 20 candidate activities, rank on 6 explainable features, then gate on confidence. Actuals are written with an append-only audit record.</a:t>
            </a:r>
          </a:p>
        </p:txBody>
      </p:sp>
      <p:sp>
        <p:nvSpPr>
          <p:cNvPr id="15374" name="">
            <a:extLst xmlns:a="http://schemas.openxmlformats.org/drawingml/2006/main">
              <a:ext uri="{FF2B5EF4-FFF2-40B4-BE49-F238E27FC236}">
                <a16:creationId xmlns:a16="http://schemas.microsoft.com/office/drawing/2014/main" id="{19EDE361-85C6-43D3-B7F8-90BA54C89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705350"/>
            <a:ext cx="3733800" cy="14859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EAF6EF"/>
          </a:solidFill>
          <a:ln xmlns:a="http://schemas.openxmlformats.org/drawingml/2006/main" w="12383">
            <a:solidFill>
              <a:srgbClr val="92C9A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375" name="">
            <a:extLst xmlns:a="http://schemas.openxmlformats.org/drawingml/2006/main">
              <a:ext uri="{FF2B5EF4-FFF2-40B4-BE49-F238E27FC236}">
                <a16:creationId xmlns:a16="http://schemas.microsoft.com/office/drawing/2014/main" id="{A66DC43D-C281-4546-B644-973C55D6D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810125"/>
            <a:ext cx="34671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B7F4B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1B7F4B"/>
                </a:solidFill>
                <a:latin typeface="Arial"/>
                <a:ea typeface="Arial"/>
                <a:cs typeface="Arial"/>
              </a:rPr>
              <a:t>WHAT IS NEW - REFUSAL IS THE FEATURE</a:t>
            </a:r>
          </a:p>
        </p:txBody>
      </p:sp>
      <p:sp>
        <p:nvSpPr>
          <p:cNvPr id="15376" name="">
            <a:extLst xmlns:a="http://schemas.openxmlformats.org/drawingml/2006/main">
              <a:ext uri="{FF2B5EF4-FFF2-40B4-BE49-F238E27FC236}">
                <a16:creationId xmlns:a16="http://schemas.microsoft.com/office/drawing/2014/main" id="{E3C51887-289D-4863-90A1-C70D41D51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038725"/>
            <a:ext cx="3467100" cy="1047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182230"/>
                </a:solidFill>
                <a:latin typeface="Arial"/>
                <a:ea typeface="Arial"/>
                <a:cs typeface="Arial"/>
              </a:rPr>
              <a:t>100% auto-link precision, 67 of 67 on a held-out test. The rest is queued for a planner, never guessed. A wrong actual date triggers false billing or a premature hydrotest - so the system asks instead.</a:t>
            </a:r>
          </a:p>
        </p:txBody>
      </p:sp>
    </p:spTree>
    <p:extLst>
      <p:ext uri="{BB962C8B-B14F-4D97-AF65-F5344CB8AC3E}">
        <p14:creationId xmlns:p14="http://schemas.microsoft.com/office/powerpoint/2010/main" val="643150068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54762"/>
            <a:ext cx="12191999" cy="503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0C0"/>
          </a:solidFill>
          <a:ln xmlns:a="http://schemas.openxmlformats.org/drawingml/2006/main" w="9525">
            <a:noFill/>
          </a:ln>
          <a:effectLst xmlns:a="http://schemas.openxmlformats.org/drawingml/2006/main"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accent2">
                  <a:lumMod val="75000"/>
                </a:schemeClr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17409" name="Title 1">
            <a:extLst xmlns:a="http://schemas.openxmlformats.org/drawingml/2006/main">
              <a:ext uri="{FF2B5EF4-FFF2-40B4-BE49-F238E27FC236}">
                <a16:creationId xmlns:a16="http://schemas.microsoft.com/office/drawing/2014/main" id="{548A25E1-24FE-4BC7-A834-75D354393A9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rPr sz="3600" b="1">
                <a:latin typeface="Times New Roman"/>
                <a:ea typeface="Times New Roman"/>
                <a:cs typeface="Times New Roman"/>
              </a:rPr>
              <a:t>TECHNICAL APPROACH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47F82EF-9990-4108-9668-045ED512786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77C3CE7-23F7-4828-823C-E0205DF2CF97}" type="slidenum">
              <a:rPr b="1">
                <a:solidFill>
                  <a:schemeClr val="bg1"/>
                </a:solidFill>
              </a:rPr>
              <a:t>3</a:t>
            </a:fld>
            <a:endParaRPr b="1">
              <a:solidFill>
                <a:schemeClr val="bg1"/>
              </a:solidFill>
            </a:endParaRPr>
          </a:p>
        </p:txBody>
      </p:sp>
      <p:sp>
        <p:nvSpPr>
          <p:cNvPr id="7" name="Footer Placeholder 6">
            <a:extLst xmlns:a="http://schemas.openxmlformats.org/drawingml/2006/main">
              <a:ext uri="{FF2B5EF4-FFF2-40B4-BE49-F238E27FC236}">
                <a16:creationId xmlns:a16="http://schemas.microsoft.com/office/drawing/2014/main" id="{807C959B-AD88-4FDC-8A74-3D7EA4839B3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648200" y="6356353"/>
            <a:ext cx="3204000" cy="3651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rPr>
                <a:solidFill>
                  <a:schemeClr val="bg1"/>
                </a:solidFill>
              </a:rPr>
              <a:t>@SIH Idea submission- Template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11" name="Oval 10">
            <a:extLst xmlns:a="http://schemas.openxmlformats.org/drawingml/2006/main">
              <a:ext uri="{FF2B5EF4-FFF2-40B4-BE49-F238E27FC236}">
                <a16:creationId xmlns:a16="http://schemas.microsoft.com/office/drawing/2014/main" id="{5DBCE864-823D-4A13-9607-5DA1F0ED5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773" y="252246"/>
            <a:ext cx="1251857" cy="807334"/>
          </a:xfrm>
          <a:prstGeom xmlns:a="http://schemas.openxmlformats.org/drawingml/2006/main" prst="ellipse">
            <a:avLst/>
          </a:prstGeom>
        </p:spPr>
        <p:style>
          <a:lnRef xmlns:a="http://schemas.openxmlformats.org/drawingml/2006/main" idx="2">
            <a:schemeClr val="accent4"/>
          </a:lnRef>
          <a:fillRef xmlns:a="http://schemas.openxmlformats.org/drawingml/2006/main" idx="1">
            <a:schemeClr val="lt1"/>
          </a:fillRef>
          <a:effectRef xmlns:a="http://schemas.openxmlformats.org/drawingml/2006/main" idx="0">
            <a:schemeClr val="accent4"/>
          </a:effectRef>
          <a:fontRef xmlns:a="http://schemas.openxmlformats.org/drawingml/2006/main" idx="minor">
            <a:schemeClr val="dk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/>
              <a:t>NamasteByte</a:t>
            </a:r>
            <a:endParaRPr/>
          </a:p>
        </p:txBody>
      </p:sp>
      <p:pic>
        <p:nvPicPr>
          <p:cNvPr id="17456" name="Picture 1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213530f0d045d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780086" y="1500"/>
            <a:ext cx="2249850" cy="1062337"/>
          </a:xfrm>
          <a:prstGeom xmlns:a="http://schemas.openxmlformats.org/drawingml/2006/main" prst="rect">
            <a:avLst/>
          </a:prstGeom>
        </p:spPr>
      </p:pic>
      <p:sp>
        <p:nvSpPr>
          <p:cNvPr id="17412" name="">
            <a:extLst xmlns:a="http://schemas.openxmlformats.org/drawingml/2006/main">
              <a:ext uri="{FF2B5EF4-FFF2-40B4-BE49-F238E27FC236}">
                <a16:creationId xmlns:a16="http://schemas.microsoft.com/office/drawing/2014/main" id="{C6C1064D-FCF9-4FD7-B9A7-865BDB54E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219200"/>
            <a:ext cx="4381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B67B2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B67B2"/>
                </a:solidFill>
                <a:latin typeface="Arial"/>
                <a:ea typeface="Arial"/>
                <a:cs typeface="Arial"/>
              </a:rPr>
              <a:t>TECHNOLOGIES USED</a:t>
            </a:r>
          </a:p>
        </p:txBody>
      </p:sp>
      <p:sp>
        <p:nvSpPr>
          <p:cNvPr id="17413" name="">
            <a:extLst xmlns:a="http://schemas.openxmlformats.org/drawingml/2006/main">
              <a:ext uri="{FF2B5EF4-FFF2-40B4-BE49-F238E27FC236}">
                <a16:creationId xmlns:a16="http://schemas.microsoft.com/office/drawing/2014/main" id="{6CE37ADD-0B41-466E-B3ED-1EED0CEB3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438275"/>
            <a:ext cx="1409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0B67B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414" name="">
            <a:extLst xmlns:a="http://schemas.openxmlformats.org/drawingml/2006/main">
              <a:ext uri="{FF2B5EF4-FFF2-40B4-BE49-F238E27FC236}">
                <a16:creationId xmlns:a16="http://schemas.microsoft.com/office/drawing/2014/main" id="{00B816CB-EE17-4E65-9EA9-B8EB2701B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6954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67B2"/>
          </a:solidFill>
          <a:ln xmlns:a="http://schemas.openxmlformats.org/drawingml/2006/main" w="9525">
            <a:solidFill>
              <a:srgbClr val="0B67B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415" name="">
            <a:extLst xmlns:a="http://schemas.openxmlformats.org/drawingml/2006/main">
              <a:ext uri="{FF2B5EF4-FFF2-40B4-BE49-F238E27FC236}">
                <a16:creationId xmlns:a16="http://schemas.microsoft.com/office/drawing/2014/main" id="{325C6C35-425F-44C3-8D97-CB3571786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1619250"/>
            <a:ext cx="265747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63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863">
                <a:solidFill>
                  <a:srgbClr val="182230"/>
                </a:solidFill>
                <a:latin typeface="Arial"/>
                <a:ea typeface="Arial"/>
                <a:cs typeface="Arial"/>
              </a:rPr>
              <a:t>React + TypeScript - Vite front end</a:t>
            </a:r>
          </a:p>
        </p:txBody>
      </p:sp>
      <p:sp>
        <p:nvSpPr>
          <p:cNvPr id="17416" name="">
            <a:extLst xmlns:a="http://schemas.openxmlformats.org/drawingml/2006/main">
              <a:ext uri="{FF2B5EF4-FFF2-40B4-BE49-F238E27FC236}">
                <a16:creationId xmlns:a16="http://schemas.microsoft.com/office/drawing/2014/main" id="{3D57FC24-BB27-4B01-9FEA-5E172B449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22288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67B2"/>
          </a:solidFill>
          <a:ln xmlns:a="http://schemas.openxmlformats.org/drawingml/2006/main" w="9525">
            <a:solidFill>
              <a:srgbClr val="0B67B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417" name="">
            <a:extLst xmlns:a="http://schemas.openxmlformats.org/drawingml/2006/main">
              <a:ext uri="{FF2B5EF4-FFF2-40B4-BE49-F238E27FC236}">
                <a16:creationId xmlns:a16="http://schemas.microsoft.com/office/drawing/2014/main" id="{EA841960-D16C-47AD-99FC-C9AB3B8FB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2152650"/>
            <a:ext cx="265747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63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863">
                <a:solidFill>
                  <a:srgbClr val="182230"/>
                </a:solidFill>
                <a:latin typeface="Arial"/>
                <a:ea typeface="Arial"/>
                <a:cs typeface="Arial"/>
              </a:rPr>
              <a:t>FastAPI - 46 HTTP routes, live OpenAPI docs</a:t>
            </a:r>
          </a:p>
        </p:txBody>
      </p:sp>
      <p:sp>
        <p:nvSpPr>
          <p:cNvPr id="17418" name="">
            <a:extLst xmlns:a="http://schemas.openxmlformats.org/drawingml/2006/main">
              <a:ext uri="{FF2B5EF4-FFF2-40B4-BE49-F238E27FC236}">
                <a16:creationId xmlns:a16="http://schemas.microsoft.com/office/drawing/2014/main" id="{CF376DA5-CC5F-4EF3-9C5A-B22210FD6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27622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67B2"/>
          </a:solidFill>
          <a:ln xmlns:a="http://schemas.openxmlformats.org/drawingml/2006/main" w="9525">
            <a:solidFill>
              <a:srgbClr val="0B67B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419" name="">
            <a:extLst xmlns:a="http://schemas.openxmlformats.org/drawingml/2006/main">
              <a:ext uri="{FF2B5EF4-FFF2-40B4-BE49-F238E27FC236}">
                <a16:creationId xmlns:a16="http://schemas.microsoft.com/office/drawing/2014/main" id="{2D5A3983-9474-4D0A-A98C-D19E5C991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2686050"/>
            <a:ext cx="265747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63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863">
                <a:solidFill>
                  <a:srgbClr val="182230"/>
                </a:solidFill>
                <a:latin typeface="Arial"/>
                <a:ea typeface="Arial"/>
                <a:cs typeface="Arial"/>
              </a:rPr>
              <a:t>Deterministic rules extraction - .txt, .xlsx, .pdf, .csv, image OCR</a:t>
            </a:r>
          </a:p>
        </p:txBody>
      </p:sp>
      <p:sp>
        <p:nvSpPr>
          <p:cNvPr id="17420" name="">
            <a:extLst xmlns:a="http://schemas.openxmlformats.org/drawingml/2006/main">
              <a:ext uri="{FF2B5EF4-FFF2-40B4-BE49-F238E27FC236}">
                <a16:creationId xmlns:a16="http://schemas.microsoft.com/office/drawing/2014/main" id="{2E81CE4C-025A-4750-828C-C56359B52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3295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67B2"/>
          </a:solidFill>
          <a:ln xmlns:a="http://schemas.openxmlformats.org/drawingml/2006/main" w="9525">
            <a:solidFill>
              <a:srgbClr val="0B67B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421" name="">
            <a:extLst xmlns:a="http://schemas.openxmlformats.org/drawingml/2006/main">
              <a:ext uri="{FF2B5EF4-FFF2-40B4-BE49-F238E27FC236}">
                <a16:creationId xmlns:a16="http://schemas.microsoft.com/office/drawing/2014/main" id="{CF1D8369-DF6D-4ED3-9DB4-9CA36C3F4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3219450"/>
            <a:ext cx="265747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63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863">
                <a:solidFill>
                  <a:srgbClr val="182230"/>
                </a:solidFill>
                <a:latin typeface="Arial"/>
                <a:ea typeface="Arial"/>
                <a:cs typeface="Arial"/>
              </a:rPr>
              <a:t>Hybrid retrieval - exact tag + BM25 + MiniLM embeddings, RRF fused</a:t>
            </a:r>
          </a:p>
        </p:txBody>
      </p:sp>
      <p:sp>
        <p:nvSpPr>
          <p:cNvPr id="17422" name="">
            <a:extLst xmlns:a="http://schemas.openxmlformats.org/drawingml/2006/main">
              <a:ext uri="{FF2B5EF4-FFF2-40B4-BE49-F238E27FC236}">
                <a16:creationId xmlns:a16="http://schemas.microsoft.com/office/drawing/2014/main" id="{CF024693-D2F7-49D0-A1B1-EC63B3D43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38290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67B2"/>
          </a:solidFill>
          <a:ln xmlns:a="http://schemas.openxmlformats.org/drawingml/2006/main" w="9525">
            <a:solidFill>
              <a:srgbClr val="0B67B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423" name="">
            <a:extLst xmlns:a="http://schemas.openxmlformats.org/drawingml/2006/main">
              <a:ext uri="{FF2B5EF4-FFF2-40B4-BE49-F238E27FC236}">
                <a16:creationId xmlns:a16="http://schemas.microsoft.com/office/drawing/2014/main" id="{B70A24CD-0D19-4B82-8544-923B33634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3752850"/>
            <a:ext cx="265747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63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863">
                <a:solidFill>
                  <a:srgbClr val="182230"/>
                </a:solidFill>
                <a:latin typeface="Arial"/>
                <a:ea typeface="Arial"/>
                <a:cs typeface="Arial"/>
              </a:rPr>
              <a:t>Ranking - 6 explainable features, no black box in the loop</a:t>
            </a:r>
          </a:p>
        </p:txBody>
      </p:sp>
      <p:sp>
        <p:nvSpPr>
          <p:cNvPr id="17424" name="">
            <a:extLst xmlns:a="http://schemas.openxmlformats.org/drawingml/2006/main">
              <a:ext uri="{FF2B5EF4-FFF2-40B4-BE49-F238E27FC236}">
                <a16:creationId xmlns:a16="http://schemas.microsoft.com/office/drawing/2014/main" id="{C9BC8D23-38E6-4270-AC5A-6535ABC5D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43624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67B2"/>
          </a:solidFill>
          <a:ln xmlns:a="http://schemas.openxmlformats.org/drawingml/2006/main" w="9525">
            <a:solidFill>
              <a:srgbClr val="0B67B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425" name="">
            <a:extLst xmlns:a="http://schemas.openxmlformats.org/drawingml/2006/main">
              <a:ext uri="{FF2B5EF4-FFF2-40B4-BE49-F238E27FC236}">
                <a16:creationId xmlns:a16="http://schemas.microsoft.com/office/drawing/2014/main" id="{7D5D52EA-6F46-4EDD-A38F-21C1AE14E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286250"/>
            <a:ext cx="265747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63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863">
                <a:solidFill>
                  <a:srgbClr val="182230"/>
                </a:solidFill>
                <a:latin typeface="Arial"/>
                <a:ea typeface="Arial"/>
                <a:cs typeface="Arial"/>
              </a:rPr>
              <a:t>SQLite - actuals, review queue, append-only audit</a:t>
            </a:r>
          </a:p>
        </p:txBody>
      </p:sp>
      <p:sp>
        <p:nvSpPr>
          <p:cNvPr id="17426" name="">
            <a:extLst xmlns:a="http://schemas.openxmlformats.org/drawingml/2006/main">
              <a:ext uri="{FF2B5EF4-FFF2-40B4-BE49-F238E27FC236}">
                <a16:creationId xmlns:a16="http://schemas.microsoft.com/office/drawing/2014/main" id="{28292221-0D68-462B-8760-ABD828217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48958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67B2"/>
          </a:solidFill>
          <a:ln xmlns:a="http://schemas.openxmlformats.org/drawingml/2006/main" w="9525">
            <a:solidFill>
              <a:srgbClr val="0B67B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427" name="">
            <a:extLst xmlns:a="http://schemas.openxmlformats.org/drawingml/2006/main">
              <a:ext uri="{FF2B5EF4-FFF2-40B4-BE49-F238E27FC236}">
                <a16:creationId xmlns:a16="http://schemas.microsoft.com/office/drawing/2014/main" id="{AA819AE6-3A13-4709-A2B7-C754FF4AE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819650"/>
            <a:ext cx="265747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63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863">
                <a:solidFill>
                  <a:srgbClr val="182230"/>
                </a:solidFill>
                <a:latin typeface="Arial"/>
                <a:ea typeface="Arial"/>
                <a:cs typeface="Arial"/>
              </a:rPr>
              <a:t>Primavera P6 PMXML and XER - pure Python, no MPXJ, no JVM</a:t>
            </a:r>
          </a:p>
        </p:txBody>
      </p:sp>
      <p:sp>
        <p:nvSpPr>
          <p:cNvPr id="17428" name="">
            <a:extLst xmlns:a="http://schemas.openxmlformats.org/drawingml/2006/main">
              <a:ext uri="{FF2B5EF4-FFF2-40B4-BE49-F238E27FC236}">
                <a16:creationId xmlns:a16="http://schemas.microsoft.com/office/drawing/2014/main" id="{A35DCCE0-7774-4B38-B418-BA6E6EB5A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54292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6676"/>
          </a:solidFill>
          <a:ln xmlns:a="http://schemas.openxmlformats.org/drawingml/2006/main" w="9525">
            <a:solidFill>
              <a:srgbClr val="5A6676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429" name="">
            <a:extLst xmlns:a="http://schemas.openxmlformats.org/drawingml/2006/main">
              <a:ext uri="{FF2B5EF4-FFF2-40B4-BE49-F238E27FC236}">
                <a16:creationId xmlns:a16="http://schemas.microsoft.com/office/drawing/2014/main" id="{8FFC465A-98E6-4154-963D-00EE5EF34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5353050"/>
            <a:ext cx="265747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63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863">
                <a:solidFill>
                  <a:srgbClr val="182230"/>
                </a:solidFill>
                <a:latin typeface="Arial"/>
                <a:ea typeface="Arial"/>
                <a:cs typeface="Arial"/>
              </a:rPr>
              <a:t>Local LLM via Ollama - optional, OFF by default</a:t>
            </a:r>
          </a:p>
        </p:txBody>
      </p:sp>
      <p:sp>
        <p:nvSpPr>
          <p:cNvPr id="17430" name="">
            <a:extLst xmlns:a="http://schemas.openxmlformats.org/drawingml/2006/main">
              <a:ext uri="{FF2B5EF4-FFF2-40B4-BE49-F238E27FC236}">
                <a16:creationId xmlns:a16="http://schemas.microsoft.com/office/drawing/2014/main" id="{41A44572-1173-416C-B4D5-8349AA67F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5924550"/>
            <a:ext cx="28194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1B7F4B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1B7F4B"/>
                </a:solidFill>
                <a:latin typeface="Arial"/>
                <a:ea typeface="Arial"/>
                <a:cs typeface="Arial"/>
              </a:rPr>
              <a:t>Runs on one laptop CPU. No cloud service, no API key.</a:t>
            </a:r>
          </a:p>
        </p:txBody>
      </p:sp>
      <p:sp>
        <p:nvSpPr>
          <p:cNvPr id="17431" name="">
            <a:extLst xmlns:a="http://schemas.openxmlformats.org/drawingml/2006/main">
              <a:ext uri="{FF2B5EF4-FFF2-40B4-BE49-F238E27FC236}">
                <a16:creationId xmlns:a16="http://schemas.microsoft.com/office/drawing/2014/main" id="{23C2AAF0-863B-4461-A7B6-F91F9D219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1257300"/>
            <a:ext cx="0" cy="49149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C7D3E3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432" name="">
            <a:extLst xmlns:a="http://schemas.openxmlformats.org/drawingml/2006/main">
              <a:ext uri="{FF2B5EF4-FFF2-40B4-BE49-F238E27FC236}">
                <a16:creationId xmlns:a16="http://schemas.microsoft.com/office/drawing/2014/main" id="{C128A006-739E-49C6-B8BF-336436A97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219200"/>
            <a:ext cx="4381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B67B2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B67B2"/>
                </a:solidFill>
                <a:latin typeface="Arial"/>
                <a:ea typeface="Arial"/>
                <a:cs typeface="Arial"/>
              </a:rPr>
              <a:t>FLOW CHART</a:t>
            </a:r>
          </a:p>
        </p:txBody>
      </p:sp>
      <p:sp>
        <p:nvSpPr>
          <p:cNvPr id="17433" name="">
            <a:extLst xmlns:a="http://schemas.openxmlformats.org/drawingml/2006/main">
              <a:ext uri="{FF2B5EF4-FFF2-40B4-BE49-F238E27FC236}">
                <a16:creationId xmlns:a16="http://schemas.microsoft.com/office/drawing/2014/main" id="{D0B5E51E-054C-4FBC-AF4C-EE882B97F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438275"/>
            <a:ext cx="876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0B67B2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1747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293c8d3602470b"/>
          <a:stretch xmlns:a="http://schemas.openxmlformats.org/drawingml/2006/main"/>
        </p:blipFill>
        <p:spPr>
          <a:xfrm xmlns:a="http://schemas.openxmlformats.org/drawingml/2006/main">
            <a:off x="3505200" y="1507549"/>
            <a:ext cx="8343900" cy="3252353"/>
          </a:xfrm>
          <a:prstGeom xmlns:a="http://schemas.openxmlformats.org/drawingml/2006/main" prst="rect">
            <a:avLst/>
          </a:prstGeom>
        </p:spPr>
      </p:pic>
      <p:sp>
        <p:nvSpPr>
          <p:cNvPr id="17435" name="">
            <a:extLst xmlns:a="http://schemas.openxmlformats.org/drawingml/2006/main">
              <a:ext uri="{FF2B5EF4-FFF2-40B4-BE49-F238E27FC236}">
                <a16:creationId xmlns:a16="http://schemas.microsoft.com/office/drawing/2014/main" id="{3D31420B-13C4-4CD7-8FEC-92C3D5191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4895850"/>
            <a:ext cx="8343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B9C6D8"/>
            </a:solidFill>
            <a:prstDash val="dash"/>
          </a:ln>
        </p:spPr>
        <p:txBody xmlns:a="http://schemas.openxmlformats.org/drawingml/2006/main">
          <a:bodyPr/>
          <a:p/>
        </p:txBody>
      </p:sp>
      <p:sp>
        <p:nvSpPr>
          <p:cNvPr id="17436" name="">
            <a:extLst xmlns:a="http://schemas.openxmlformats.org/drawingml/2006/main">
              <a:ext uri="{FF2B5EF4-FFF2-40B4-BE49-F238E27FC236}">
                <a16:creationId xmlns:a16="http://schemas.microsoft.com/office/drawing/2014/main" id="{3FB07331-8052-46FC-9BC3-CDD62491F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5029200"/>
            <a:ext cx="1409700" cy="1123950"/>
          </a:xfrm>
          <a:prstGeom xmlns:a="http://schemas.openxmlformats.org/drawingml/2006/main" prst="roundRect">
            <a:avLst>
              <a:gd name="adj" fmla="val 9322"/>
            </a:avLst>
          </a:prstGeom>
          <a:solidFill xmlns:a="http://schemas.openxmlformats.org/drawingml/2006/main">
            <a:srgbClr val="EAF6EF"/>
          </a:solidFill>
          <a:ln xmlns:a="http://schemas.openxmlformats.org/drawingml/2006/main" w="12383">
            <a:solidFill>
              <a:srgbClr val="92C9A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437" name="">
            <a:extLst xmlns:a="http://schemas.openxmlformats.org/drawingml/2006/main">
              <a:ext uri="{FF2B5EF4-FFF2-40B4-BE49-F238E27FC236}">
                <a16:creationId xmlns:a16="http://schemas.microsoft.com/office/drawing/2014/main" id="{649B3BE3-9C8E-4960-B688-052BE5305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5114925"/>
            <a:ext cx="12954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B7F4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B7F4B"/>
                </a:solidFill>
                <a:latin typeface="Arial"/>
                <a:ea typeface="Arial"/>
                <a:cs typeface="Arial"/>
              </a:rPr>
              <a:t>100%</a:t>
            </a:r>
          </a:p>
        </p:txBody>
      </p:sp>
      <p:sp>
        <p:nvSpPr>
          <p:cNvPr id="17438" name="">
            <a:extLst xmlns:a="http://schemas.openxmlformats.org/drawingml/2006/main">
              <a:ext uri="{FF2B5EF4-FFF2-40B4-BE49-F238E27FC236}">
                <a16:creationId xmlns:a16="http://schemas.microsoft.com/office/drawing/2014/main" id="{FFA7892D-CD6C-494E-ADC8-26D286DDA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5448300"/>
            <a:ext cx="12573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788" b="1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82230"/>
                </a:solidFill>
                <a:latin typeface="Arial"/>
                <a:ea typeface="Arial"/>
                <a:cs typeface="Arial"/>
              </a:rPr>
              <a:t>AUTO-LINK PRECISION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788" b="1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82230"/>
                </a:solidFill>
                <a:latin typeface="Arial"/>
                <a:ea typeface="Arial"/>
                <a:cs typeface="Arial"/>
              </a:rPr>
              <a:t>67 of 67 correct</a:t>
            </a:r>
          </a:p>
        </p:txBody>
      </p:sp>
      <p:sp>
        <p:nvSpPr>
          <p:cNvPr id="17439" name="">
            <a:extLst xmlns:a="http://schemas.openxmlformats.org/drawingml/2006/main">
              <a:ext uri="{FF2B5EF4-FFF2-40B4-BE49-F238E27FC236}">
                <a16:creationId xmlns:a16="http://schemas.microsoft.com/office/drawing/2014/main" id="{089AB278-53ED-42D0-9AAB-9ACACF753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5029200"/>
            <a:ext cx="1409700" cy="1123950"/>
          </a:xfrm>
          <a:prstGeom xmlns:a="http://schemas.openxmlformats.org/drawingml/2006/main" prst="roundRect">
            <a:avLst>
              <a:gd name="adj" fmla="val 9322"/>
            </a:avLst>
          </a:prstGeom>
          <a:solidFill xmlns:a="http://schemas.openxmlformats.org/drawingml/2006/main">
            <a:srgbClr val="EAF3FB"/>
          </a:solidFill>
          <a:ln xmlns:a="http://schemas.openxmlformats.org/drawingml/2006/main" w="12383">
            <a:solidFill>
              <a:srgbClr val="9DC2E6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440" name="">
            <a:extLst xmlns:a="http://schemas.openxmlformats.org/drawingml/2006/main">
              <a:ext uri="{FF2B5EF4-FFF2-40B4-BE49-F238E27FC236}">
                <a16:creationId xmlns:a16="http://schemas.microsoft.com/office/drawing/2014/main" id="{044E9712-6BE6-4D6F-A0A1-A8476E9FE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5114925"/>
            <a:ext cx="12954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23F7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23F78"/>
                </a:solidFill>
                <a:latin typeface="Arial"/>
                <a:ea typeface="Arial"/>
                <a:cs typeface="Arial"/>
              </a:rPr>
              <a:t>43.5%</a:t>
            </a:r>
          </a:p>
        </p:txBody>
      </p:sp>
      <p:sp>
        <p:nvSpPr>
          <p:cNvPr id="17441" name="">
            <a:extLst xmlns:a="http://schemas.openxmlformats.org/drawingml/2006/main">
              <a:ext uri="{FF2B5EF4-FFF2-40B4-BE49-F238E27FC236}">
                <a16:creationId xmlns:a16="http://schemas.microsoft.com/office/drawing/2014/main" id="{804EA0B5-0415-41FB-9415-85069D9AC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5448300"/>
            <a:ext cx="12573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788" b="1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82230"/>
                </a:solidFill>
                <a:latin typeface="Arial"/>
                <a:ea typeface="Arial"/>
                <a:cs typeface="Arial"/>
              </a:rPr>
              <a:t>COVERAGE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788" b="1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82230"/>
                </a:solidFill>
                <a:latin typeface="Arial"/>
                <a:ea typeface="Arial"/>
                <a:cs typeface="Arial"/>
              </a:rPr>
              <a:t>67 of 154 mentions</a:t>
            </a:r>
          </a:p>
        </p:txBody>
      </p:sp>
      <p:sp>
        <p:nvSpPr>
          <p:cNvPr id="17442" name="">
            <a:extLst xmlns:a="http://schemas.openxmlformats.org/drawingml/2006/main">
              <a:ext uri="{FF2B5EF4-FFF2-40B4-BE49-F238E27FC236}">
                <a16:creationId xmlns:a16="http://schemas.microsoft.com/office/drawing/2014/main" id="{8E09AD82-37A7-4BE2-AE6B-2685ABEA3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5029200"/>
            <a:ext cx="1409700" cy="1123950"/>
          </a:xfrm>
          <a:prstGeom xmlns:a="http://schemas.openxmlformats.org/drawingml/2006/main" prst="roundRect">
            <a:avLst>
              <a:gd name="adj" fmla="val 9322"/>
            </a:avLst>
          </a:prstGeom>
          <a:solidFill xmlns:a="http://schemas.openxmlformats.org/drawingml/2006/main">
            <a:srgbClr val="FFF3E6"/>
          </a:solidFill>
          <a:ln xmlns:a="http://schemas.openxmlformats.org/drawingml/2006/main" w="12383">
            <a:solidFill>
              <a:srgbClr val="F1B36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443" name="">
            <a:extLst xmlns:a="http://schemas.openxmlformats.org/drawingml/2006/main">
              <a:ext uri="{FF2B5EF4-FFF2-40B4-BE49-F238E27FC236}">
                <a16:creationId xmlns:a16="http://schemas.microsoft.com/office/drawing/2014/main" id="{A79C1640-12F6-4CEE-BB66-A05AAE2B1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5114925"/>
            <a:ext cx="12954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C2660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C2660A"/>
                </a:solidFill>
                <a:latin typeface="Arial"/>
                <a:ea typeface="Arial"/>
                <a:cs typeface="Arial"/>
              </a:rPr>
              <a:t>86.9%</a:t>
            </a:r>
          </a:p>
        </p:txBody>
      </p:sp>
      <p:sp>
        <p:nvSpPr>
          <p:cNvPr id="17444" name="">
            <a:extLst xmlns:a="http://schemas.openxmlformats.org/drawingml/2006/main">
              <a:ext uri="{FF2B5EF4-FFF2-40B4-BE49-F238E27FC236}">
                <a16:creationId xmlns:a16="http://schemas.microsoft.com/office/drawing/2014/main" id="{462EB339-A285-49ED-9727-A0AB1EB34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5448300"/>
            <a:ext cx="12573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788" b="1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82230"/>
                </a:solidFill>
                <a:latin typeface="Arial"/>
                <a:ea typeface="Arial"/>
                <a:cs typeface="Arial"/>
              </a:rPr>
              <a:t>TOP-1 ACCURACY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788" b="1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82230"/>
                </a:solidFill>
                <a:latin typeface="Arial"/>
                <a:ea typeface="Arial"/>
                <a:cs typeface="Arial"/>
              </a:rPr>
              <a:t>126 of 145</a:t>
            </a:r>
          </a:p>
        </p:txBody>
      </p:sp>
      <p:sp>
        <p:nvSpPr>
          <p:cNvPr id="17445" name="">
            <a:extLst xmlns:a="http://schemas.openxmlformats.org/drawingml/2006/main">
              <a:ext uri="{FF2B5EF4-FFF2-40B4-BE49-F238E27FC236}">
                <a16:creationId xmlns:a16="http://schemas.microsoft.com/office/drawing/2014/main" id="{C399E1B7-C64E-4712-9C89-C73DD92F6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5029200"/>
            <a:ext cx="373380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4F8FC"/>
          </a:solidFill>
          <a:ln xmlns:a="http://schemas.openxmlformats.org/drawingml/2006/main" w="12383">
            <a:solidFill>
              <a:srgbClr val="C7D3E3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446" name="">
            <a:extLst xmlns:a="http://schemas.openxmlformats.org/drawingml/2006/main">
              <a:ext uri="{FF2B5EF4-FFF2-40B4-BE49-F238E27FC236}">
                <a16:creationId xmlns:a16="http://schemas.microsoft.com/office/drawing/2014/main" id="{5348D99F-C3C0-482E-ADE6-4BE74F3C8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5143500"/>
            <a:ext cx="5905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123F78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123F78"/>
                </a:solidFill>
                <a:latin typeface="Arial"/>
                <a:ea typeface="Arial"/>
                <a:cs typeface="Arial"/>
              </a:rPr>
              <a:t>Verify</a:t>
            </a:r>
          </a:p>
        </p:txBody>
      </p:sp>
      <p:sp>
        <p:nvSpPr>
          <p:cNvPr id="17447" name="">
            <a:extLst xmlns:a="http://schemas.openxmlformats.org/drawingml/2006/main">
              <a:ext uri="{FF2B5EF4-FFF2-40B4-BE49-F238E27FC236}">
                <a16:creationId xmlns:a16="http://schemas.microsoft.com/office/drawing/2014/main" id="{DBEDBF2F-686E-4561-8604-FAE580756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143500"/>
            <a:ext cx="28956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863">
                <a:solidFill>
                  <a:srgbClr val="182230"/>
                </a:solidFill>
                <a:latin typeface="Arial"/>
                <a:ea typeface="Arial"/>
                <a:cs typeface="Arial"/>
              </a:rPr>
              <a:t>python eval.py  reproduces every figure above</a:t>
            </a:r>
          </a:p>
        </p:txBody>
      </p:sp>
      <p:sp>
        <p:nvSpPr>
          <p:cNvPr id="17448" name="">
            <a:extLst xmlns:a="http://schemas.openxmlformats.org/drawingml/2006/main">
              <a:ext uri="{FF2B5EF4-FFF2-40B4-BE49-F238E27FC236}">
                <a16:creationId xmlns:a16="http://schemas.microsoft.com/office/drawing/2014/main" id="{F071E6FB-CE1E-4FBC-99D6-E51C5FB49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5391150"/>
            <a:ext cx="5905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123F78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123F78"/>
                </a:solidFill>
                <a:latin typeface="Arial"/>
                <a:ea typeface="Arial"/>
                <a:cs typeface="Arial"/>
              </a:rPr>
              <a:t>Scope</a:t>
            </a:r>
          </a:p>
        </p:txBody>
      </p:sp>
      <p:sp>
        <p:nvSpPr>
          <p:cNvPr id="17449" name="">
            <a:extLst xmlns:a="http://schemas.openxmlformats.org/drawingml/2006/main">
              <a:ext uri="{FF2B5EF4-FFF2-40B4-BE49-F238E27FC236}">
                <a16:creationId xmlns:a16="http://schemas.microsoft.com/office/drawing/2014/main" id="{3EA6472B-7880-4BB1-80E1-964BD6D09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391150"/>
            <a:ext cx="28956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863">
                <a:solidFill>
                  <a:srgbClr val="182230"/>
                </a:solidFill>
                <a:latin typeface="Arial"/>
                <a:ea typeface="Arial"/>
                <a:cs typeface="Arial"/>
              </a:rPr>
              <a:t>154 held-out mentions, synthetic corpus, one project</a:t>
            </a:r>
          </a:p>
        </p:txBody>
      </p:sp>
      <p:sp>
        <p:nvSpPr>
          <p:cNvPr id="17450" name="">
            <a:extLst xmlns:a="http://schemas.openxmlformats.org/drawingml/2006/main">
              <a:ext uri="{FF2B5EF4-FFF2-40B4-BE49-F238E27FC236}">
                <a16:creationId xmlns:a16="http://schemas.microsoft.com/office/drawing/2014/main" id="{A88B92C1-D7B1-4299-AF9D-B8C70A0BB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5695950"/>
            <a:ext cx="34861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B42318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B42318"/>
                </a:solidFill>
                <a:latin typeface="Arial"/>
                <a:ea typeface="Arial"/>
                <a:cs typeface="Arial"/>
              </a:rPr>
              <a:t>Working prototype - 1,431 automated tests passing</a:t>
            </a:r>
          </a:p>
        </p:txBody>
      </p:sp>
    </p:spTree>
    <p:extLst>
      <p:ext uri="{BB962C8B-B14F-4D97-AF65-F5344CB8AC3E}">
        <p14:creationId xmlns:p14="http://schemas.microsoft.com/office/powerpoint/2010/main" val="188078681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54762"/>
            <a:ext cx="12191999" cy="503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0C0"/>
          </a:solidFill>
          <a:ln xmlns:a="http://schemas.openxmlformats.org/drawingml/2006/main" w="9525">
            <a:noFill/>
          </a:ln>
          <a:effectLst xmlns:a="http://schemas.openxmlformats.org/drawingml/2006/main"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marL="0" marR="0" lvl="0" indent="0" algn="ctr" defTabSz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1800" b="0" i="0" u="none" kern="1200" cap="none" spc="0" baseline="0">
              <a:ln>
                <a:noFill/>
              </a:ln>
              <a:solidFill>
                <a:srgbClr val="C0504D">
                  <a:lumMod val="75000"/>
                </a:srgbClr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7409" name="Title 1">
            <a:extLst xmlns:a="http://schemas.openxmlformats.org/drawingml/2006/main">
              <a:ext uri="{FF2B5EF4-FFF2-40B4-BE49-F238E27FC236}">
                <a16:creationId xmlns:a16="http://schemas.microsoft.com/office/drawing/2014/main" id="{6166DBCF-7EBB-4706-99A6-849F8A66C01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rPr sz="3600" b="1">
                <a:latin typeface="Times New Roman"/>
                <a:ea typeface="Times New Roman"/>
                <a:cs typeface="Times New Roman"/>
              </a:rPr>
              <a:t>FEASIBILITY AND VIABILITY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ABBAB69-07C6-4471-A5A9-2DB4324FD97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marR="0" lvl="0" indent="0" algn="r" defTabSz="4572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fld id="{677C3CE7-23F7-4828-823C-E0205DF2CF97}" type="slidenum">
              <a:rPr sz="1200" b="1" i="0" u="none" cap="none" spc="0">
                <a:ln>
                  <a:noFill/>
                </a:ln>
                <a:solidFill>
                  <a:prstClr val="white"/>
                </a:solidFill>
                <a:latin typeface="TradeGothic"/>
                <a:ea typeface="TradeGothic"/>
                <a:cs typeface="TradeGothic"/>
              </a:rPr>
              <a:t>4</a:t>
            </a:fld>
            <a:endParaRPr sz="1200" b="1" i="0" u="none" kern="1200" cap="none" spc="0" baseline="0">
              <a:ln>
                <a:noFill/>
              </a:ln>
              <a:solidFill>
                <a:prstClr val="white"/>
              </a:solidFill>
              <a:latin typeface="TradeGothic"/>
              <a:ea typeface="TradeGothic"/>
              <a:cs typeface="TradeGothic"/>
            </a:endParaRPr>
          </a:p>
        </p:txBody>
      </p:sp>
      <p:sp>
        <p:nvSpPr>
          <p:cNvPr id="7" name="Footer Placeholder 6">
            <a:extLst xmlns:a="http://schemas.openxmlformats.org/drawingml/2006/main">
              <a:ext uri="{FF2B5EF4-FFF2-40B4-BE49-F238E27FC236}">
                <a16:creationId xmlns:a16="http://schemas.microsoft.com/office/drawing/2014/main" id="{91F1656F-10E9-496D-95EC-29C56B95225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648200" y="6356353"/>
            <a:ext cx="3204000" cy="3651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marR="0" lvl="0" indent="0" algn="ctr" defTabSz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sz="1200" b="0" i="0" u="none" cap="none" spc="0">
                <a:ln>
                  <a:noFill/>
                </a:ln>
                <a:solidFill>
                  <a:prstClr val="white"/>
                </a:solidFill>
                <a:latin typeface="TradeGothic"/>
                <a:ea typeface="TradeGothic"/>
                <a:cs typeface="TradeGothic"/>
              </a:rPr>
              <a:t>@SIH Idea submission- Template</a:t>
            </a:r>
            <a:endParaRPr sz="1200" b="0" i="0" u="none" kern="1200" cap="none" spc="0" baseline="0">
              <a:ln>
                <a:noFill/>
              </a:ln>
              <a:solidFill>
                <a:prstClr val="white"/>
              </a:solidFill>
              <a:latin typeface="TradeGothic"/>
              <a:ea typeface="TradeGothic"/>
              <a:cs typeface="TradeGothic"/>
            </a:endParaRPr>
          </a:p>
        </p:txBody>
      </p:sp>
      <p:sp>
        <p:nvSpPr>
          <p:cNvPr id="12" name="Oval 11">
            <a:extLst xmlns:a="http://schemas.openxmlformats.org/drawingml/2006/main">
              <a:ext uri="{FF2B5EF4-FFF2-40B4-BE49-F238E27FC236}">
                <a16:creationId xmlns:a16="http://schemas.microsoft.com/office/drawing/2014/main" id="{5DBCE864-823D-4A13-9607-5DA1F0ED5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773" y="252246"/>
            <a:ext cx="1251857" cy="807334"/>
          </a:xfrm>
          <a:prstGeom xmlns:a="http://schemas.openxmlformats.org/drawingml/2006/main" prst="ellipse">
            <a:avLst/>
          </a:prstGeom>
        </p:spPr>
        <p:style>
          <a:lnRef xmlns:a="http://schemas.openxmlformats.org/drawingml/2006/main" idx="2">
            <a:schemeClr val="accent4"/>
          </a:lnRef>
          <a:fillRef xmlns:a="http://schemas.openxmlformats.org/drawingml/2006/main" idx="1">
            <a:schemeClr val="lt1"/>
          </a:fillRef>
          <a:effectRef xmlns:a="http://schemas.openxmlformats.org/drawingml/2006/main" idx="0">
            <a:schemeClr val="accent4"/>
          </a:effectRef>
          <a:fontRef xmlns:a="http://schemas.openxmlformats.org/drawingml/2006/main" idx="minor">
            <a:schemeClr val="dk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/>
              <a:t>NamasteByte</a:t>
            </a:r>
            <a:endParaRPr/>
          </a:p>
        </p:txBody>
      </p:sp>
      <p:pic>
        <p:nvPicPr>
          <p:cNvPr id="17470" name="Picture 1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91e78976bc402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780086" y="1500"/>
            <a:ext cx="2249850" cy="1062337"/>
          </a:xfrm>
          <a:prstGeom xmlns:a="http://schemas.openxmlformats.org/drawingml/2006/main" prst="rect">
            <a:avLst/>
          </a:prstGeom>
        </p:spPr>
      </p:pic>
      <p:sp>
        <p:nvSpPr>
          <p:cNvPr id="17412" name="">
            <a:extLst xmlns:a="http://schemas.openxmlformats.org/drawingml/2006/main">
              <a:ext uri="{FF2B5EF4-FFF2-40B4-BE49-F238E27FC236}">
                <a16:creationId xmlns:a16="http://schemas.microsoft.com/office/drawing/2014/main" id="{DC28D37F-BD4C-4132-8135-786D833F1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200150"/>
            <a:ext cx="4381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B67B2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B67B2"/>
                </a:solidFill>
                <a:latin typeface="Arial"/>
                <a:ea typeface="Arial"/>
                <a:cs typeface="Arial"/>
              </a:rPr>
              <a:t>FEASIBILITY - IT RUNS ON ONE LAPTOP</a:t>
            </a:r>
          </a:p>
        </p:txBody>
      </p:sp>
      <p:sp>
        <p:nvSpPr>
          <p:cNvPr id="17413" name="">
            <a:extLst xmlns:a="http://schemas.openxmlformats.org/drawingml/2006/main">
              <a:ext uri="{FF2B5EF4-FFF2-40B4-BE49-F238E27FC236}">
                <a16:creationId xmlns:a16="http://schemas.microsoft.com/office/drawing/2014/main" id="{CCA046EB-7613-4FAA-9D8A-35A976ACB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419225"/>
            <a:ext cx="2552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0B67B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414" name="">
            <a:extLst xmlns:a="http://schemas.openxmlformats.org/drawingml/2006/main">
              <a:ext uri="{FF2B5EF4-FFF2-40B4-BE49-F238E27FC236}">
                <a16:creationId xmlns:a16="http://schemas.microsoft.com/office/drawing/2014/main" id="{8054039F-B7BA-4D30-84FE-D9D1AA9DC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1181100"/>
            <a:ext cx="5905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82230"/>
                </a:solidFill>
                <a:latin typeface="Arial"/>
                <a:ea typeface="Arial"/>
                <a:cs typeface="Arial"/>
              </a:rPr>
              <a:t>No cloud service, no API key, nothing leaves your network.</a:t>
            </a:r>
          </a:p>
        </p:txBody>
      </p:sp>
      <p:sp>
        <p:nvSpPr>
          <p:cNvPr id="17415" name="">
            <a:extLst xmlns:a="http://schemas.openxmlformats.org/drawingml/2006/main">
              <a:ext uri="{FF2B5EF4-FFF2-40B4-BE49-F238E27FC236}">
                <a16:creationId xmlns:a16="http://schemas.microsoft.com/office/drawing/2014/main" id="{0E1D09ED-18FA-455B-B94D-33B972FD6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447800"/>
            <a:ext cx="9620250" cy="2286000"/>
          </a:xfrm>
          <a:prstGeom xmlns:a="http://schemas.openxmlformats.org/drawingml/2006/main" prst="roundRect">
            <a:avLst>
              <a:gd name="adj" fmla="val 5833"/>
            </a:avLst>
          </a:prstGeom>
          <a:solidFill xmlns:a="http://schemas.openxmlformats.org/drawingml/2006/main">
            <a:srgbClr val="F7FAFD"/>
          </a:solidFill>
          <a:ln xmlns:a="http://schemas.openxmlformats.org/drawingml/2006/main" w="12383">
            <a:solidFill>
              <a:srgbClr val="0B67B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416" name="">
            <a:extLst xmlns:a="http://schemas.openxmlformats.org/drawingml/2006/main">
              <a:ext uri="{FF2B5EF4-FFF2-40B4-BE49-F238E27FC236}">
                <a16:creationId xmlns:a16="http://schemas.microsoft.com/office/drawing/2014/main" id="{5706A7D3-57F0-419E-A61E-AAEC0A2DF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43050"/>
            <a:ext cx="91440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0B67B2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0B67B2"/>
                </a:solidFill>
                <a:latin typeface="Arial"/>
                <a:ea typeface="Arial"/>
                <a:cs typeface="Arial"/>
              </a:rPr>
              <a:t>ON-PREMISE BOUNDARY - no cloud service, no API key, nothing leaves your network</a:t>
            </a:r>
          </a:p>
        </p:txBody>
      </p:sp>
      <p:sp>
        <p:nvSpPr>
          <p:cNvPr id="17417" name="">
            <a:extLst xmlns:a="http://schemas.openxmlformats.org/drawingml/2006/main">
              <a:ext uri="{FF2B5EF4-FFF2-40B4-BE49-F238E27FC236}">
                <a16:creationId xmlns:a16="http://schemas.microsoft.com/office/drawing/2014/main" id="{3325E9B1-FDEE-4EC6-8872-CF54095D5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847850"/>
            <a:ext cx="1695450" cy="1733550"/>
          </a:xfrm>
          <a:prstGeom xmlns:a="http://schemas.openxmlformats.org/drawingml/2006/main" prst="roundRect">
            <a:avLst>
              <a:gd name="adj" fmla="val 6180"/>
            </a:avLst>
          </a:prstGeom>
          <a:solidFill xmlns:a="http://schemas.openxmlformats.org/drawingml/2006/main">
            <a:srgbClr val="EAF6EF"/>
          </a:solidFill>
          <a:ln xmlns:a="http://schemas.openxmlformats.org/drawingml/2006/main" w="12383">
            <a:solidFill>
              <a:srgbClr val="92C9A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418" name="">
            <a:extLst xmlns:a="http://schemas.openxmlformats.org/drawingml/2006/main">
              <a:ext uri="{FF2B5EF4-FFF2-40B4-BE49-F238E27FC236}">
                <a16:creationId xmlns:a16="http://schemas.microsoft.com/office/drawing/2014/main" id="{1AA2693F-4318-40FA-9580-2FF0B9E9A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43100"/>
            <a:ext cx="1504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63" b="1">
                <a:solidFill>
                  <a:srgbClr val="1B7F4B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1B7F4B"/>
                </a:solidFill>
                <a:latin typeface="Arial"/>
                <a:ea typeface="Arial"/>
                <a:cs typeface="Arial"/>
              </a:rPr>
              <a:t>CLIENT</a:t>
            </a:r>
          </a:p>
        </p:txBody>
      </p:sp>
      <p:sp>
        <p:nvSpPr>
          <p:cNvPr id="17419" name="">
            <a:extLst xmlns:a="http://schemas.openxmlformats.org/drawingml/2006/main">
              <a:ext uri="{FF2B5EF4-FFF2-40B4-BE49-F238E27FC236}">
                <a16:creationId xmlns:a16="http://schemas.microsoft.com/office/drawing/2014/main" id="{FB97F345-CCBC-4DC6-8D01-AC7DC4EB2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152650"/>
            <a:ext cx="1504950" cy="1352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88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788">
                <a:solidFill>
                  <a:srgbClr val="182230"/>
                </a:solidFill>
                <a:latin typeface="Arial"/>
                <a:ea typeface="Arial"/>
                <a:cs typeface="Arial"/>
              </a:rPr>
              <a:t>Planner web app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788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788">
                <a:solidFill>
                  <a:srgbClr val="182230"/>
                </a:solidFill>
                <a:latin typeface="Arial"/>
                <a:ea typeface="Arial"/>
                <a:cs typeface="Arial"/>
              </a:rPr>
              <a:t>(React + TypeScript)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788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788">
                <a:solidFill>
                  <a:srgbClr val="182230"/>
                </a:solidFill>
                <a:latin typeface="Arial"/>
                <a:ea typeface="Arial"/>
                <a:cs typeface="Arial"/>
              </a:rPr>
              <a:t>Field supervisor screen</a:t>
            </a:r>
          </a:p>
        </p:txBody>
      </p:sp>
      <p:sp>
        <p:nvSpPr>
          <p:cNvPr id="17420" name="">
            <a:extLst xmlns:a="http://schemas.openxmlformats.org/drawingml/2006/main">
              <a:ext uri="{FF2B5EF4-FFF2-40B4-BE49-F238E27FC236}">
                <a16:creationId xmlns:a16="http://schemas.microsoft.com/office/drawing/2014/main" id="{618BABF7-819A-49A0-B359-8F407FC90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847850"/>
            <a:ext cx="1695450" cy="1733550"/>
          </a:xfrm>
          <a:prstGeom xmlns:a="http://schemas.openxmlformats.org/drawingml/2006/main" prst="roundRect">
            <a:avLst>
              <a:gd name="adj" fmla="val 6180"/>
            </a:avLst>
          </a:prstGeom>
          <a:solidFill xmlns:a="http://schemas.openxmlformats.org/drawingml/2006/main">
            <a:srgbClr val="FBF0FA"/>
          </a:solidFill>
          <a:ln xmlns:a="http://schemas.openxmlformats.org/drawingml/2006/main" w="12383">
            <a:solidFill>
              <a:srgbClr val="D9A9D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421" name="">
            <a:extLst xmlns:a="http://schemas.openxmlformats.org/drawingml/2006/main">
              <a:ext uri="{FF2B5EF4-FFF2-40B4-BE49-F238E27FC236}">
                <a16:creationId xmlns:a16="http://schemas.microsoft.com/office/drawing/2014/main" id="{039D652E-2C0C-488B-B7C9-8160B423D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1943100"/>
            <a:ext cx="1504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63" b="1">
                <a:solidFill>
                  <a:srgbClr val="8E3C82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8E3C82"/>
                </a:solidFill>
                <a:latin typeface="Arial"/>
                <a:ea typeface="Arial"/>
                <a:cs typeface="Arial"/>
              </a:rPr>
              <a:t>API</a:t>
            </a:r>
          </a:p>
        </p:txBody>
      </p:sp>
      <p:sp>
        <p:nvSpPr>
          <p:cNvPr id="17422" name="">
            <a:extLst xmlns:a="http://schemas.openxmlformats.org/drawingml/2006/main">
              <a:ext uri="{FF2B5EF4-FFF2-40B4-BE49-F238E27FC236}">
                <a16:creationId xmlns:a16="http://schemas.microsoft.com/office/drawing/2014/main" id="{B2B0CC9F-DBCE-4415-ABBE-3A3DEFDD5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2152650"/>
            <a:ext cx="1504950" cy="1352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88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788">
                <a:solidFill>
                  <a:srgbClr val="182230"/>
                </a:solidFill>
                <a:latin typeface="Arial"/>
                <a:ea typeface="Arial"/>
                <a:cs typeface="Arial"/>
              </a:rPr>
              <a:t>FastAPI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788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788">
                <a:solidFill>
                  <a:srgbClr val="182230"/>
                </a:solidFill>
                <a:latin typeface="Arial"/>
                <a:ea typeface="Arial"/>
                <a:cs typeface="Arial"/>
              </a:rPr>
              <a:t>46 HTTP routes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788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788">
                <a:solidFill>
                  <a:srgbClr val="182230"/>
                </a:solidFill>
                <a:latin typeface="Arial"/>
                <a:ea typeface="Arial"/>
                <a:cs typeface="Arial"/>
              </a:rPr>
              <a:t>live OpenAPI docs</a:t>
            </a:r>
          </a:p>
        </p:txBody>
      </p:sp>
      <p:sp>
        <p:nvSpPr>
          <p:cNvPr id="17423" name="">
            <a:extLst xmlns:a="http://schemas.openxmlformats.org/drawingml/2006/main">
              <a:ext uri="{FF2B5EF4-FFF2-40B4-BE49-F238E27FC236}">
                <a16:creationId xmlns:a16="http://schemas.microsoft.com/office/drawing/2014/main" id="{DE36B3A2-D41B-4F5F-B15E-FE51D5E68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847850"/>
            <a:ext cx="1695450" cy="1733550"/>
          </a:xfrm>
          <a:prstGeom xmlns:a="http://schemas.openxmlformats.org/drawingml/2006/main" prst="roundRect">
            <a:avLst>
              <a:gd name="adj" fmla="val 6180"/>
            </a:avLst>
          </a:prstGeom>
          <a:solidFill xmlns:a="http://schemas.openxmlformats.org/drawingml/2006/main">
            <a:srgbClr val="FFFAF0"/>
          </a:solidFill>
          <a:ln xmlns:a="http://schemas.openxmlformats.org/drawingml/2006/main" w="12383">
            <a:solidFill>
              <a:srgbClr val="E3B96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424" name="">
            <a:extLst xmlns:a="http://schemas.openxmlformats.org/drawingml/2006/main">
              <a:ext uri="{FF2B5EF4-FFF2-40B4-BE49-F238E27FC236}">
                <a16:creationId xmlns:a16="http://schemas.microsoft.com/office/drawing/2014/main" id="{00798BE6-0D97-4C6F-B362-30F052A02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943100"/>
            <a:ext cx="1504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63" b="1">
                <a:solidFill>
                  <a:srgbClr val="C2660A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C2660A"/>
                </a:solidFill>
                <a:latin typeface="Arial"/>
                <a:ea typeface="Arial"/>
                <a:cs typeface="Arial"/>
              </a:rPr>
              <a:t>ENGINE</a:t>
            </a:r>
          </a:p>
        </p:txBody>
      </p:sp>
      <p:sp>
        <p:nvSpPr>
          <p:cNvPr id="17425" name="">
            <a:extLst xmlns:a="http://schemas.openxmlformats.org/drawingml/2006/main">
              <a:ext uri="{FF2B5EF4-FFF2-40B4-BE49-F238E27FC236}">
                <a16:creationId xmlns:a16="http://schemas.microsoft.com/office/drawing/2014/main" id="{04FFF4EC-8FC3-4687-A202-AA3A3E7EB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152650"/>
            <a:ext cx="1504950" cy="1352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88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788">
                <a:solidFill>
                  <a:srgbClr val="182230"/>
                </a:solidFill>
                <a:latin typeface="Arial"/>
                <a:ea typeface="Arial"/>
                <a:cs typeface="Arial"/>
              </a:rPr>
              <a:t>Extraction rules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788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788">
                <a:solidFill>
                  <a:srgbClr val="182230"/>
                </a:solidFill>
                <a:latin typeface="Arial"/>
                <a:ea typeface="Arial"/>
                <a:cs typeface="Arial"/>
              </a:rPr>
              <a:t>Hybrid matcher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788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788">
                <a:solidFill>
                  <a:srgbClr val="182230"/>
                </a:solidFill>
                <a:latin typeface="Arial"/>
                <a:ea typeface="Arial"/>
                <a:cs typeface="Arial"/>
              </a:rPr>
              <a:t>Confidence policy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788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788">
                <a:solidFill>
                  <a:srgbClr val="182230"/>
                </a:solidFill>
                <a:latin typeface="Arial"/>
                <a:ea typeface="Arial"/>
                <a:cs typeface="Arial"/>
              </a:rPr>
              <a:t>Local LLM (Ollama):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788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788">
                <a:solidFill>
                  <a:srgbClr val="182230"/>
                </a:solidFill>
                <a:latin typeface="Arial"/>
                <a:ea typeface="Arial"/>
                <a:cs typeface="Arial"/>
              </a:rPr>
              <a:t>optional, OFF by default</a:t>
            </a:r>
          </a:p>
        </p:txBody>
      </p:sp>
      <p:sp>
        <p:nvSpPr>
          <p:cNvPr id="17426" name="">
            <a:extLst xmlns:a="http://schemas.openxmlformats.org/drawingml/2006/main">
              <a:ext uri="{FF2B5EF4-FFF2-40B4-BE49-F238E27FC236}">
                <a16:creationId xmlns:a16="http://schemas.microsoft.com/office/drawing/2014/main" id="{2F1F4F1F-9620-476C-A265-F06DC91A6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847850"/>
            <a:ext cx="1695450" cy="1733550"/>
          </a:xfrm>
          <a:prstGeom xmlns:a="http://schemas.openxmlformats.org/drawingml/2006/main" prst="roundRect">
            <a:avLst>
              <a:gd name="adj" fmla="val 6180"/>
            </a:avLst>
          </a:prstGeom>
          <a:solidFill xmlns:a="http://schemas.openxmlformats.org/drawingml/2006/main">
            <a:srgbClr val="EAF3FB"/>
          </a:solidFill>
          <a:ln xmlns:a="http://schemas.openxmlformats.org/drawingml/2006/main" w="12383">
            <a:solidFill>
              <a:srgbClr val="9DC2E6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427" name="">
            <a:extLst xmlns:a="http://schemas.openxmlformats.org/drawingml/2006/main">
              <a:ext uri="{FF2B5EF4-FFF2-40B4-BE49-F238E27FC236}">
                <a16:creationId xmlns:a16="http://schemas.microsoft.com/office/drawing/2014/main" id="{C553AC4C-6450-49FC-8923-71990FC05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943100"/>
            <a:ext cx="1504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63" b="1">
                <a:solidFill>
                  <a:srgbClr val="123F78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123F78"/>
                </a:solidFill>
                <a:latin typeface="Arial"/>
                <a:ea typeface="Arial"/>
                <a:cs typeface="Arial"/>
              </a:rPr>
              <a:t>DATA</a:t>
            </a:r>
          </a:p>
        </p:txBody>
      </p:sp>
      <p:sp>
        <p:nvSpPr>
          <p:cNvPr id="17428" name="">
            <a:extLst xmlns:a="http://schemas.openxmlformats.org/drawingml/2006/main">
              <a:ext uri="{FF2B5EF4-FFF2-40B4-BE49-F238E27FC236}">
                <a16:creationId xmlns:a16="http://schemas.microsoft.com/office/drawing/2014/main" id="{36DA1C48-B1C8-47CA-8592-A7724A512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152650"/>
            <a:ext cx="1504950" cy="1352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88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788">
                <a:solidFill>
                  <a:srgbClr val="182230"/>
                </a:solidFill>
                <a:latin typeface="Arial"/>
                <a:ea typeface="Arial"/>
                <a:cs typeface="Arial"/>
              </a:rPr>
              <a:t>SQLite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788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788">
                <a:solidFill>
                  <a:srgbClr val="182230"/>
                </a:solidFill>
                <a:latin typeface="Arial"/>
                <a:ea typeface="Arial"/>
                <a:cs typeface="Arial"/>
              </a:rPr>
              <a:t>Actuals, review queue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788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788">
                <a:solidFill>
                  <a:srgbClr val="182230"/>
                </a:solidFill>
                <a:latin typeface="Arial"/>
                <a:ea typeface="Arial"/>
                <a:cs typeface="Arial"/>
              </a:rPr>
              <a:t>Append-only audit</a:t>
            </a:r>
          </a:p>
        </p:txBody>
      </p:sp>
      <p:sp>
        <p:nvSpPr>
          <p:cNvPr id="17429" name="">
            <a:extLst xmlns:a="http://schemas.openxmlformats.org/drawingml/2006/main">
              <a:ext uri="{FF2B5EF4-FFF2-40B4-BE49-F238E27FC236}">
                <a16:creationId xmlns:a16="http://schemas.microsoft.com/office/drawing/2014/main" id="{962BAD83-716D-4718-B490-512B99D27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1847850"/>
            <a:ext cx="1695450" cy="1733550"/>
          </a:xfrm>
          <a:prstGeom xmlns:a="http://schemas.openxmlformats.org/drawingml/2006/main" prst="roundRect">
            <a:avLst>
              <a:gd name="adj" fmla="val 6180"/>
            </a:avLst>
          </a:prstGeom>
          <a:solidFill xmlns:a="http://schemas.openxmlformats.org/drawingml/2006/main">
            <a:srgbClr val="F4F8FC"/>
          </a:solidFill>
          <a:ln xmlns:a="http://schemas.openxmlformats.org/drawingml/2006/main" w="12383">
            <a:solidFill>
              <a:srgbClr val="C7D3E3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430" name="">
            <a:extLst xmlns:a="http://schemas.openxmlformats.org/drawingml/2006/main">
              <a:ext uri="{FF2B5EF4-FFF2-40B4-BE49-F238E27FC236}">
                <a16:creationId xmlns:a16="http://schemas.microsoft.com/office/drawing/2014/main" id="{BD038287-9EA4-48E5-8029-0E5F3970D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943100"/>
            <a:ext cx="1504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63" b="1">
                <a:solidFill>
                  <a:srgbClr val="123F78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123F78"/>
                </a:solidFill>
                <a:latin typeface="Arial"/>
                <a:ea typeface="Arial"/>
                <a:cs typeface="Arial"/>
              </a:rPr>
              <a:t>INTEROP</a:t>
            </a:r>
          </a:p>
        </p:txBody>
      </p:sp>
      <p:sp>
        <p:nvSpPr>
          <p:cNvPr id="17431" name="">
            <a:extLst xmlns:a="http://schemas.openxmlformats.org/drawingml/2006/main">
              <a:ext uri="{FF2B5EF4-FFF2-40B4-BE49-F238E27FC236}">
                <a16:creationId xmlns:a16="http://schemas.microsoft.com/office/drawing/2014/main" id="{658D0B16-4703-4682-B2BC-EBC33F001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152650"/>
            <a:ext cx="1504950" cy="1352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88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788">
                <a:solidFill>
                  <a:srgbClr val="182230"/>
                </a:solidFill>
                <a:latin typeface="Arial"/>
                <a:ea typeface="Arial"/>
                <a:cs typeface="Arial"/>
              </a:rPr>
              <a:t>Import: P6 PMXML,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788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788">
                <a:solidFill>
                  <a:srgbClr val="182230"/>
                </a:solidFill>
                <a:latin typeface="Arial"/>
                <a:ea typeface="Arial"/>
                <a:cs typeface="Arial"/>
              </a:rPr>
              <a:t>P6 XER, JSON baseline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788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788">
                <a:solidFill>
                  <a:srgbClr val="182230"/>
                </a:solidFill>
                <a:latin typeface="Arial"/>
                <a:ea typeface="Arial"/>
                <a:cs typeface="Arial"/>
              </a:rPr>
              <a:t>Export: PMXML, XER</a:t>
            </a:r>
          </a:p>
        </p:txBody>
      </p:sp>
      <p:cxnSp>
        <p:nvCxnSpPr>
          <p:cNvPr id="17491" name=""/>
          <p:cNvCxnSpPr>
            <a:stCxn xmlns:a="http://schemas.openxmlformats.org/drawingml/2006/main" id="17417" idx="3"/>
            <a:endCxn xmlns:a="http://schemas.openxmlformats.org/drawingml/2006/main" id="17420" idx="1"/>
          </p:cNvCxnSpPr>
          <p:nvPr/>
        </p:nvCxnSpPr>
        <p:spPr>
          <a:xfrm xmlns:a="http://schemas.openxmlformats.org/drawingml/2006/main">
            <a:off x="2190750" y="2714625"/>
            <a:ext cx="209550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0B67B2"/>
            </a:solidFill>
            <a:prstDash val="solid"/>
            <a:tailEnd type="triangle" w="sm" len="sm"/>
          </a:ln>
        </p:spPr>
      </p:cxnSp>
      <p:cxnSp>
        <p:nvCxnSpPr>
          <p:cNvPr id="17492" name=""/>
          <p:cNvCxnSpPr>
            <a:stCxn xmlns:a="http://schemas.openxmlformats.org/drawingml/2006/main" id="17420" idx="3"/>
            <a:endCxn xmlns:a="http://schemas.openxmlformats.org/drawingml/2006/main" id="17423" idx="1"/>
          </p:cNvCxnSpPr>
          <p:nvPr/>
        </p:nvCxnSpPr>
        <p:spPr>
          <a:xfrm xmlns:a="http://schemas.openxmlformats.org/drawingml/2006/main">
            <a:off x="4095750" y="2714625"/>
            <a:ext cx="209550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0B67B2"/>
            </a:solidFill>
            <a:prstDash val="solid"/>
            <a:tailEnd type="triangle" w="sm" len="sm"/>
          </a:ln>
        </p:spPr>
      </p:cxnSp>
      <p:cxnSp>
        <p:nvCxnSpPr>
          <p:cNvPr id="17493" name=""/>
          <p:cNvCxnSpPr>
            <a:stCxn xmlns:a="http://schemas.openxmlformats.org/drawingml/2006/main" id="17423" idx="3"/>
            <a:endCxn xmlns:a="http://schemas.openxmlformats.org/drawingml/2006/main" id="17426" idx="1"/>
          </p:cNvCxnSpPr>
          <p:nvPr/>
        </p:nvCxnSpPr>
        <p:spPr>
          <a:xfrm xmlns:a="http://schemas.openxmlformats.org/drawingml/2006/main">
            <a:off x="6000750" y="2714625"/>
            <a:ext cx="209550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0B67B2"/>
            </a:solidFill>
            <a:prstDash val="solid"/>
            <a:tailEnd type="triangle" w="sm" len="sm"/>
          </a:ln>
        </p:spPr>
      </p:cxnSp>
      <p:cxnSp>
        <p:nvCxnSpPr>
          <p:cNvPr id="17494" name=""/>
          <p:cNvCxnSpPr>
            <a:stCxn xmlns:a="http://schemas.openxmlformats.org/drawingml/2006/main" id="17426" idx="3"/>
            <a:endCxn xmlns:a="http://schemas.openxmlformats.org/drawingml/2006/main" id="17429" idx="1"/>
          </p:cNvCxnSpPr>
          <p:nvPr/>
        </p:nvCxnSpPr>
        <p:spPr>
          <a:xfrm xmlns:a="http://schemas.openxmlformats.org/drawingml/2006/main">
            <a:off x="7905750" y="2714625"/>
            <a:ext cx="209550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0B67B2"/>
            </a:solidFill>
            <a:prstDash val="solid"/>
            <a:tailEnd type="triangle" w="sm" len="sm"/>
          </a:ln>
        </p:spPr>
      </p:cxnSp>
      <p:sp>
        <p:nvSpPr>
          <p:cNvPr id="17436" name="">
            <a:extLst xmlns:a="http://schemas.openxmlformats.org/drawingml/2006/main">
              <a:ext uri="{FF2B5EF4-FFF2-40B4-BE49-F238E27FC236}">
                <a16:creationId xmlns:a16="http://schemas.microsoft.com/office/drawing/2014/main" id="{75B2DC0F-EAEE-41D6-A5FB-D6CD323F2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1847850"/>
            <a:ext cx="1733550" cy="1733550"/>
          </a:xfrm>
          <a:prstGeom xmlns:a="http://schemas.openxmlformats.org/drawingml/2006/main" prst="roundRect">
            <a:avLst>
              <a:gd name="adj" fmla="val 6044"/>
            </a:avLst>
          </a:prstGeom>
          <a:solidFill xmlns:a="http://schemas.openxmlformats.org/drawingml/2006/main">
            <a:srgbClr val="EAF6EF"/>
          </a:solidFill>
          <a:ln xmlns:a="http://schemas.openxmlformats.org/drawingml/2006/main" w="12383">
            <a:solidFill>
              <a:srgbClr val="92C9A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437" name="">
            <a:extLst xmlns:a="http://schemas.openxmlformats.org/drawingml/2006/main">
              <a:ext uri="{FF2B5EF4-FFF2-40B4-BE49-F238E27FC236}">
                <a16:creationId xmlns:a16="http://schemas.microsoft.com/office/drawing/2014/main" id="{F18AB97F-313E-45CB-A4D1-6779937D0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2038350"/>
            <a:ext cx="15811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1B7F4B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B7F4B"/>
                </a:solidFill>
                <a:latin typeface="Arial"/>
                <a:ea typeface="Arial"/>
                <a:cs typeface="Arial"/>
              </a:rPr>
              <a:t>1,431</a:t>
            </a:r>
          </a:p>
        </p:txBody>
      </p:sp>
      <p:sp>
        <p:nvSpPr>
          <p:cNvPr id="17438" name="">
            <a:extLst xmlns:a="http://schemas.openxmlformats.org/drawingml/2006/main">
              <a:ext uri="{FF2B5EF4-FFF2-40B4-BE49-F238E27FC236}">
                <a16:creationId xmlns:a16="http://schemas.microsoft.com/office/drawing/2014/main" id="{4433F2FD-4350-43A2-826B-5364BB72E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2400300"/>
            <a:ext cx="15811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788" b="1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82230"/>
                </a:solidFill>
                <a:latin typeface="Arial"/>
                <a:ea typeface="Arial"/>
                <a:cs typeface="Arial"/>
              </a:rPr>
              <a:t>automated tests passing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788" b="1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82230"/>
                </a:solidFill>
                <a:latin typeface="Arial"/>
                <a:ea typeface="Arial"/>
                <a:cs typeface="Arial"/>
              </a:rPr>
              <a:t>1,202 pytest + 229 vitest</a:t>
            </a:r>
          </a:p>
        </p:txBody>
      </p:sp>
      <p:sp>
        <p:nvSpPr>
          <p:cNvPr id="17439" name="">
            <a:extLst xmlns:a="http://schemas.openxmlformats.org/drawingml/2006/main">
              <a:ext uri="{FF2B5EF4-FFF2-40B4-BE49-F238E27FC236}">
                <a16:creationId xmlns:a16="http://schemas.microsoft.com/office/drawing/2014/main" id="{57AF56F6-BD62-443D-96C3-0E33F6869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2914650"/>
            <a:ext cx="15811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88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788">
                <a:solidFill>
                  <a:srgbClr val="182230"/>
                </a:solidFill>
                <a:latin typeface="Arial"/>
                <a:ea typeface="Arial"/>
                <a:cs typeface="Arial"/>
              </a:rPr>
              <a:t>Single-command Docker deploy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788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788">
                <a:solidFill>
                  <a:srgbClr val="182230"/>
                </a:solidFill>
                <a:latin typeface="Arial"/>
                <a:ea typeface="Arial"/>
                <a:cs typeface="Arial"/>
              </a:rPr>
              <a:t>Laptop CPU, no GPU</a:t>
            </a:r>
          </a:p>
        </p:txBody>
      </p:sp>
      <p:sp>
        <p:nvSpPr>
          <p:cNvPr id="17440" name="">
            <a:extLst xmlns:a="http://schemas.openxmlformats.org/drawingml/2006/main">
              <a:ext uri="{FF2B5EF4-FFF2-40B4-BE49-F238E27FC236}">
                <a16:creationId xmlns:a16="http://schemas.microsoft.com/office/drawing/2014/main" id="{FA82C77E-BB19-43DF-9839-BA4B3C251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3886200"/>
            <a:ext cx="4381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B42318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B42318"/>
                </a:solidFill>
                <a:latin typeface="Arial"/>
                <a:ea typeface="Arial"/>
                <a:cs typeface="Arial"/>
              </a:rPr>
              <a:t>CHALLENGES AND RISKS</a:t>
            </a:r>
          </a:p>
        </p:txBody>
      </p:sp>
      <p:sp>
        <p:nvSpPr>
          <p:cNvPr id="17441" name="">
            <a:extLst xmlns:a="http://schemas.openxmlformats.org/drawingml/2006/main">
              <a:ext uri="{FF2B5EF4-FFF2-40B4-BE49-F238E27FC236}">
                <a16:creationId xmlns:a16="http://schemas.microsoft.com/office/drawing/2014/main" id="{86E15C22-FA73-4364-B1D4-353F5DCA1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4105275"/>
            <a:ext cx="1619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B4231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442" name="">
            <a:extLst xmlns:a="http://schemas.openxmlformats.org/drawingml/2006/main">
              <a:ext uri="{FF2B5EF4-FFF2-40B4-BE49-F238E27FC236}">
                <a16:creationId xmlns:a16="http://schemas.microsoft.com/office/drawing/2014/main" id="{7CCCA864-EE6F-4822-9F88-EA1E7ABDE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886200"/>
            <a:ext cx="4381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B7F4B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B7F4B"/>
                </a:solidFill>
                <a:latin typeface="Arial"/>
                <a:ea typeface="Arial"/>
                <a:cs typeface="Arial"/>
              </a:rPr>
              <a:t>MITIGATION - ALREADY BUILT</a:t>
            </a:r>
          </a:p>
        </p:txBody>
      </p:sp>
      <p:sp>
        <p:nvSpPr>
          <p:cNvPr id="17443" name="">
            <a:extLst xmlns:a="http://schemas.openxmlformats.org/drawingml/2006/main">
              <a:ext uri="{FF2B5EF4-FFF2-40B4-BE49-F238E27FC236}">
                <a16:creationId xmlns:a16="http://schemas.microsoft.com/office/drawing/2014/main" id="{813B58AA-2318-4896-A234-A718B043B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105275"/>
            <a:ext cx="190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1B7F4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444" name="">
            <a:extLst xmlns:a="http://schemas.openxmlformats.org/drawingml/2006/main">
              <a:ext uri="{FF2B5EF4-FFF2-40B4-BE49-F238E27FC236}">
                <a16:creationId xmlns:a16="http://schemas.microsoft.com/office/drawing/2014/main" id="{AFB4BCF0-41D0-4D91-88EC-890534947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43053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9525">
            <a:solidFill>
              <a:srgbClr val="B4231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445" name="">
            <a:extLst xmlns:a="http://schemas.openxmlformats.org/drawingml/2006/main">
              <a:ext uri="{FF2B5EF4-FFF2-40B4-BE49-F238E27FC236}">
                <a16:creationId xmlns:a16="http://schemas.microsoft.com/office/drawing/2014/main" id="{1B364F6E-9E0D-4E62-AFED-914981FD1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229100"/>
            <a:ext cx="5429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863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863">
                <a:solidFill>
                  <a:srgbClr val="182230"/>
                </a:solidFill>
                <a:latin typeface="Arial"/>
                <a:ea typeface="Arial"/>
                <a:cs typeface="Arial"/>
              </a:rPr>
              <a:t>Field wording never matches the WBS text</a:t>
            </a:r>
          </a:p>
        </p:txBody>
      </p:sp>
      <p:sp>
        <p:nvSpPr>
          <p:cNvPr id="17446" name="">
            <a:extLst xmlns:a="http://schemas.openxmlformats.org/drawingml/2006/main">
              <a:ext uri="{FF2B5EF4-FFF2-40B4-BE49-F238E27FC236}">
                <a16:creationId xmlns:a16="http://schemas.microsoft.com/office/drawing/2014/main" id="{9F558969-B647-4FB5-AC1F-A933C67F2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3053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7F4B"/>
          </a:solidFill>
          <a:ln xmlns:a="http://schemas.openxmlformats.org/drawingml/2006/main" w="9525">
            <a:solidFill>
              <a:srgbClr val="1B7F4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447" name="">
            <a:extLst xmlns:a="http://schemas.openxmlformats.org/drawingml/2006/main">
              <a:ext uri="{FF2B5EF4-FFF2-40B4-BE49-F238E27FC236}">
                <a16:creationId xmlns:a16="http://schemas.microsoft.com/office/drawing/2014/main" id="{BC5DCBC5-85D3-422B-AB7B-F619DC968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229100"/>
            <a:ext cx="54673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863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863">
                <a:solidFill>
                  <a:srgbClr val="182230"/>
                </a:solidFill>
                <a:latin typeface="Arial"/>
                <a:ea typeface="Arial"/>
                <a:cs typeface="Arial"/>
              </a:rPr>
              <a:t>Three retrieval channels fused - the correct activity is inside the top 20, recall@20 = 100%</a:t>
            </a:r>
          </a:p>
        </p:txBody>
      </p:sp>
      <p:sp>
        <p:nvSpPr>
          <p:cNvPr id="17448" name="">
            <a:extLst xmlns:a="http://schemas.openxmlformats.org/drawingml/2006/main">
              <a:ext uri="{FF2B5EF4-FFF2-40B4-BE49-F238E27FC236}">
                <a16:creationId xmlns:a16="http://schemas.microsoft.com/office/drawing/2014/main" id="{3D45DF93-CFE8-47BB-9DAB-C3D74E7D2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46577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9525">
            <a:solidFill>
              <a:srgbClr val="B4231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449" name="">
            <a:extLst xmlns:a="http://schemas.openxmlformats.org/drawingml/2006/main">
              <a:ext uri="{FF2B5EF4-FFF2-40B4-BE49-F238E27FC236}">
                <a16:creationId xmlns:a16="http://schemas.microsoft.com/office/drawing/2014/main" id="{94A93BF1-E1BC-445D-8AF1-3B58EA841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581525"/>
            <a:ext cx="5429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863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863">
                <a:solidFill>
                  <a:srgbClr val="182230"/>
                </a:solidFill>
                <a:latin typeface="Arial"/>
                <a:ea typeface="Arial"/>
                <a:cs typeface="Arial"/>
              </a:rPr>
              <a:t>A wrong actual date means false billing or a premature hydrotest</a:t>
            </a:r>
          </a:p>
        </p:txBody>
      </p:sp>
      <p:sp>
        <p:nvSpPr>
          <p:cNvPr id="17450" name="">
            <a:extLst xmlns:a="http://schemas.openxmlformats.org/drawingml/2006/main">
              <a:ext uri="{FF2B5EF4-FFF2-40B4-BE49-F238E27FC236}">
                <a16:creationId xmlns:a16="http://schemas.microsoft.com/office/drawing/2014/main" id="{CE0C745D-461E-481F-A7B5-7CFC7EAEA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6577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7F4B"/>
          </a:solidFill>
          <a:ln xmlns:a="http://schemas.openxmlformats.org/drawingml/2006/main" w="9525">
            <a:solidFill>
              <a:srgbClr val="1B7F4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451" name="">
            <a:extLst xmlns:a="http://schemas.openxmlformats.org/drawingml/2006/main">
              <a:ext uri="{FF2B5EF4-FFF2-40B4-BE49-F238E27FC236}">
                <a16:creationId xmlns:a16="http://schemas.microsoft.com/office/drawing/2014/main" id="{28DA2276-C2AA-4D28-846C-5F2E518CA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581525"/>
            <a:ext cx="54673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863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863">
                <a:solidFill>
                  <a:srgbClr val="182230"/>
                </a:solidFill>
                <a:latin typeface="Arial"/>
                <a:ea typeface="Arial"/>
                <a:cs typeface="Arial"/>
              </a:rPr>
              <a:t>Nothing is auto-written unless score, margin and discipline all agree - 0 wrong auto-links</a:t>
            </a:r>
          </a:p>
        </p:txBody>
      </p:sp>
      <p:sp>
        <p:nvSpPr>
          <p:cNvPr id="17452" name="">
            <a:extLst xmlns:a="http://schemas.openxmlformats.org/drawingml/2006/main">
              <a:ext uri="{FF2B5EF4-FFF2-40B4-BE49-F238E27FC236}">
                <a16:creationId xmlns:a16="http://schemas.microsoft.com/office/drawing/2014/main" id="{43A7A325-B77B-4FD4-935A-57E9A2AE5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50101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9525">
            <a:solidFill>
              <a:srgbClr val="B4231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453" name="">
            <a:extLst xmlns:a="http://schemas.openxmlformats.org/drawingml/2006/main">
              <a:ext uri="{FF2B5EF4-FFF2-40B4-BE49-F238E27FC236}">
                <a16:creationId xmlns:a16="http://schemas.microsoft.com/office/drawing/2014/main" id="{208B93D8-658A-4289-8F0D-194778875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933950"/>
            <a:ext cx="5429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863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863">
                <a:solidFill>
                  <a:srgbClr val="182230"/>
                </a:solidFill>
                <a:latin typeface="Arial"/>
                <a:ea typeface="Arial"/>
                <a:cs typeface="Arial"/>
              </a:rPr>
              <a:t>Work happens that nobody planned</a:t>
            </a:r>
          </a:p>
        </p:txBody>
      </p:sp>
      <p:sp>
        <p:nvSpPr>
          <p:cNvPr id="17454" name="">
            <a:extLst xmlns:a="http://schemas.openxmlformats.org/drawingml/2006/main">
              <a:ext uri="{FF2B5EF4-FFF2-40B4-BE49-F238E27FC236}">
                <a16:creationId xmlns:a16="http://schemas.microsoft.com/office/drawing/2014/main" id="{F50CA9BD-A25F-4C18-A936-D52D71FD5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50101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7F4B"/>
          </a:solidFill>
          <a:ln xmlns:a="http://schemas.openxmlformats.org/drawingml/2006/main" w="9525">
            <a:solidFill>
              <a:srgbClr val="1B7F4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455" name="">
            <a:extLst xmlns:a="http://schemas.openxmlformats.org/drawingml/2006/main">
              <a:ext uri="{FF2B5EF4-FFF2-40B4-BE49-F238E27FC236}">
                <a16:creationId xmlns:a16="http://schemas.microsoft.com/office/drawing/2014/main" id="{829E673B-56FE-499B-ABB2-D830DDD44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933950"/>
            <a:ext cx="54673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863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863">
                <a:solidFill>
                  <a:srgbClr val="182230"/>
                </a:solidFill>
                <a:latin typeface="Arial"/>
                <a:ea typeface="Arial"/>
                <a:cs typeface="Arial"/>
              </a:rPr>
              <a:t>Raised to the planner as a new-scope proposal, never dropped silently</a:t>
            </a:r>
          </a:p>
        </p:txBody>
      </p:sp>
      <p:sp>
        <p:nvSpPr>
          <p:cNvPr id="17456" name="">
            <a:extLst xmlns:a="http://schemas.openxmlformats.org/drawingml/2006/main">
              <a:ext uri="{FF2B5EF4-FFF2-40B4-BE49-F238E27FC236}">
                <a16:creationId xmlns:a16="http://schemas.microsoft.com/office/drawing/2014/main" id="{0EFC6A07-812B-4EF7-8326-9BC0A86D6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53625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9525">
            <a:solidFill>
              <a:srgbClr val="B4231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457" name="">
            <a:extLst xmlns:a="http://schemas.openxmlformats.org/drawingml/2006/main">
              <a:ext uri="{FF2B5EF4-FFF2-40B4-BE49-F238E27FC236}">
                <a16:creationId xmlns:a16="http://schemas.microsoft.com/office/drawing/2014/main" id="{64E474FF-7959-4C65-9057-FE0E0282F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286375"/>
            <a:ext cx="5429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863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863">
                <a:solidFill>
                  <a:srgbClr val="182230"/>
                </a:solidFill>
                <a:latin typeface="Arial"/>
                <a:ea typeface="Arial"/>
                <a:cs typeface="Arial"/>
              </a:rPr>
              <a:t>No live Oil India schedule is available to us</a:t>
            </a:r>
          </a:p>
        </p:txBody>
      </p:sp>
      <p:sp>
        <p:nvSpPr>
          <p:cNvPr id="17458" name="">
            <a:extLst xmlns:a="http://schemas.openxmlformats.org/drawingml/2006/main">
              <a:ext uri="{FF2B5EF4-FFF2-40B4-BE49-F238E27FC236}">
                <a16:creationId xmlns:a16="http://schemas.microsoft.com/office/drawing/2014/main" id="{DDDFC10B-603A-4C5D-A515-8C784574C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53625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7F4B"/>
          </a:solidFill>
          <a:ln xmlns:a="http://schemas.openxmlformats.org/drawingml/2006/main" w="9525">
            <a:solidFill>
              <a:srgbClr val="1B7F4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459" name="">
            <a:extLst xmlns:a="http://schemas.openxmlformats.org/drawingml/2006/main">
              <a:ext uri="{FF2B5EF4-FFF2-40B4-BE49-F238E27FC236}">
                <a16:creationId xmlns:a16="http://schemas.microsoft.com/office/drawing/2014/main" id="{6B6EE9A8-E5A6-4273-8F80-20316F66F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286375"/>
            <a:ext cx="54673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863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863">
                <a:solidFill>
                  <a:srgbClr val="182230"/>
                </a:solidFill>
                <a:latin typeface="Arial"/>
                <a:ea typeface="Arial"/>
                <a:cs typeface="Arial"/>
              </a:rPr>
              <a:t>Synthetic schedule structured on the public CFIHOS oil and gas taxonomy - and we say so</a:t>
            </a:r>
          </a:p>
        </p:txBody>
      </p:sp>
      <p:sp>
        <p:nvSpPr>
          <p:cNvPr id="17460" name="">
            <a:extLst xmlns:a="http://schemas.openxmlformats.org/drawingml/2006/main">
              <a:ext uri="{FF2B5EF4-FFF2-40B4-BE49-F238E27FC236}">
                <a16:creationId xmlns:a16="http://schemas.microsoft.com/office/drawing/2014/main" id="{223F4A0C-ABB0-48BE-BCC2-C2A2EB88E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57150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9525">
            <a:solidFill>
              <a:srgbClr val="B4231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461" name="">
            <a:extLst xmlns:a="http://schemas.openxmlformats.org/drawingml/2006/main">
              <a:ext uri="{FF2B5EF4-FFF2-40B4-BE49-F238E27FC236}">
                <a16:creationId xmlns:a16="http://schemas.microsoft.com/office/drawing/2014/main" id="{C9DA072D-2EFC-40AB-B59E-6D0381AA4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638800"/>
            <a:ext cx="5429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863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863">
                <a:solidFill>
                  <a:srgbClr val="182230"/>
                </a:solidFill>
                <a:latin typeface="Arial"/>
                <a:ea typeface="Arial"/>
                <a:cs typeface="Arial"/>
              </a:rPr>
              <a:t>Site or venue has no internet</a:t>
            </a:r>
          </a:p>
        </p:txBody>
      </p:sp>
      <p:sp>
        <p:nvSpPr>
          <p:cNvPr id="17462" name="">
            <a:extLst xmlns:a="http://schemas.openxmlformats.org/drawingml/2006/main">
              <a:ext uri="{FF2B5EF4-FFF2-40B4-BE49-F238E27FC236}">
                <a16:creationId xmlns:a16="http://schemas.microsoft.com/office/drawing/2014/main" id="{2B6F7A89-7403-47D8-A9F1-27E6D3D63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57150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7F4B"/>
          </a:solidFill>
          <a:ln xmlns:a="http://schemas.openxmlformats.org/drawingml/2006/main" w="9525">
            <a:solidFill>
              <a:srgbClr val="1B7F4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463" name="">
            <a:extLst xmlns:a="http://schemas.openxmlformats.org/drawingml/2006/main">
              <a:ext uri="{FF2B5EF4-FFF2-40B4-BE49-F238E27FC236}">
                <a16:creationId xmlns:a16="http://schemas.microsoft.com/office/drawing/2014/main" id="{7000DA65-35A9-4204-818D-936451193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638800"/>
            <a:ext cx="54673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863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863">
                <a:solidFill>
                  <a:srgbClr val="182230"/>
                </a:solidFill>
                <a:latin typeface="Arial"/>
                <a:ea typeface="Arial"/>
                <a:cs typeface="Arial"/>
              </a:rPr>
              <a:t>The whole stack runs on one laptop CPU - no cloud, no GPU, no API key</a:t>
            </a:r>
          </a:p>
        </p:txBody>
      </p:sp>
      <p:sp>
        <p:nvSpPr>
          <p:cNvPr id="17464" name="">
            <a:extLst xmlns:a="http://schemas.openxmlformats.org/drawingml/2006/main">
              <a:ext uri="{FF2B5EF4-FFF2-40B4-BE49-F238E27FC236}">
                <a16:creationId xmlns:a16="http://schemas.microsoft.com/office/drawing/2014/main" id="{06BCC037-8243-4287-BDCC-3F306A439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5981700"/>
            <a:ext cx="115062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A6676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5A6676"/>
                </a:solidFill>
                <a:latin typeface="Arial"/>
                <a:ea typeface="Arial"/>
                <a:cs typeface="Arial"/>
              </a:rPr>
              <a:t>Known gaps, stated: no authentication (the login screen is a role picker), no offline queue, no .mpp import, synthetic labels.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54762"/>
            <a:ext cx="12191999" cy="503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0C0"/>
          </a:solidFill>
          <a:ln xmlns:a="http://schemas.openxmlformats.org/drawingml/2006/main" w="9525">
            <a:noFill/>
          </a:ln>
          <a:effectLst xmlns:a="http://schemas.openxmlformats.org/drawingml/2006/main"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marL="0" marR="0" lvl="0" indent="0" algn="ctr" defTabSz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1800" b="0" i="0" u="none" kern="1200" cap="none" spc="0" baseline="0">
              <a:ln>
                <a:noFill/>
              </a:ln>
              <a:solidFill>
                <a:srgbClr val="C0504D">
                  <a:lumMod val="75000"/>
                </a:srgbClr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7409" name="Title 1">
            <a:extLst xmlns:a="http://schemas.openxmlformats.org/drawingml/2006/main">
              <a:ext uri="{FF2B5EF4-FFF2-40B4-BE49-F238E27FC236}">
                <a16:creationId xmlns:a16="http://schemas.microsoft.com/office/drawing/2014/main" id="{07FD3E74-7138-4BD4-9EA7-AB7878A03CE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rPr sz="3600" b="1">
                <a:latin typeface="Times New Roman"/>
                <a:ea typeface="Times New Roman"/>
                <a:cs typeface="Times New Roman"/>
              </a:rPr>
              <a:t>IMPACT AND BENEFITS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13E2A57-05CA-4F3A-818D-8C411FCF174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marR="0" lvl="0" indent="0" algn="r" defTabSz="4572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fld id="{677C3CE7-23F7-4828-823C-E0205DF2CF97}" type="slidenum">
              <a:rPr sz="1200" b="1" i="0" u="none" cap="none" spc="0">
                <a:ln>
                  <a:noFill/>
                </a:ln>
                <a:solidFill>
                  <a:prstClr val="white"/>
                </a:solidFill>
                <a:latin typeface="TradeGothic"/>
                <a:ea typeface="TradeGothic"/>
                <a:cs typeface="TradeGothic"/>
              </a:rPr>
              <a:t>5</a:t>
            </a:fld>
            <a:endParaRPr sz="1200" b="1" i="0" u="none" kern="1200" cap="none" spc="0" baseline="0">
              <a:ln>
                <a:noFill/>
              </a:ln>
              <a:solidFill>
                <a:prstClr val="white"/>
              </a:solidFill>
              <a:latin typeface="TradeGothic"/>
              <a:ea typeface="TradeGothic"/>
              <a:cs typeface="TradeGothic"/>
            </a:endParaRPr>
          </a:p>
        </p:txBody>
      </p:sp>
      <p:sp>
        <p:nvSpPr>
          <p:cNvPr id="7" name="Footer Placeholder 6">
            <a:extLst xmlns:a="http://schemas.openxmlformats.org/drawingml/2006/main">
              <a:ext uri="{FF2B5EF4-FFF2-40B4-BE49-F238E27FC236}">
                <a16:creationId xmlns:a16="http://schemas.microsoft.com/office/drawing/2014/main" id="{16148796-595E-4B62-BFEE-59485931BBE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648200" y="6356353"/>
            <a:ext cx="3204000" cy="3651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marR="0" lvl="0" indent="0" algn="ctr" defTabSz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sz="1200" b="0" i="0" u="none" cap="none" spc="0">
                <a:ln>
                  <a:noFill/>
                </a:ln>
                <a:solidFill>
                  <a:prstClr val="white"/>
                </a:solidFill>
                <a:latin typeface="TradeGothic"/>
                <a:ea typeface="TradeGothic"/>
                <a:cs typeface="TradeGothic"/>
              </a:rPr>
              <a:t>@SIH Idea submission- Template</a:t>
            </a:r>
            <a:endParaRPr sz="1200" b="0" i="0" u="none" kern="1200" cap="none" spc="0" baseline="0">
              <a:ln>
                <a:noFill/>
              </a:ln>
              <a:solidFill>
                <a:prstClr val="white"/>
              </a:solidFill>
              <a:latin typeface="TradeGothic"/>
              <a:ea typeface="TradeGothic"/>
              <a:cs typeface="TradeGothic"/>
            </a:endParaRPr>
          </a:p>
        </p:txBody>
      </p:sp>
      <p:sp>
        <p:nvSpPr>
          <p:cNvPr id="12" name="Oval 11">
            <a:extLst xmlns:a="http://schemas.openxmlformats.org/drawingml/2006/main">
              <a:ext uri="{FF2B5EF4-FFF2-40B4-BE49-F238E27FC236}">
                <a16:creationId xmlns:a16="http://schemas.microsoft.com/office/drawing/2014/main" id="{5DBCE864-823D-4A13-9607-5DA1F0ED5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773" y="252246"/>
            <a:ext cx="1251857" cy="807334"/>
          </a:xfrm>
          <a:prstGeom xmlns:a="http://schemas.openxmlformats.org/drawingml/2006/main" prst="ellipse">
            <a:avLst/>
          </a:prstGeom>
        </p:spPr>
        <p:style>
          <a:lnRef xmlns:a="http://schemas.openxmlformats.org/drawingml/2006/main" idx="2">
            <a:schemeClr val="accent4"/>
          </a:lnRef>
          <a:fillRef xmlns:a="http://schemas.openxmlformats.org/drawingml/2006/main" idx="1">
            <a:schemeClr val="lt1"/>
          </a:fillRef>
          <a:effectRef xmlns:a="http://schemas.openxmlformats.org/drawingml/2006/main" idx="0">
            <a:schemeClr val="accent4"/>
          </a:effectRef>
          <a:fontRef xmlns:a="http://schemas.openxmlformats.org/drawingml/2006/main" idx="minor">
            <a:schemeClr val="dk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/>
              <a:t>NamasteByte</a:t>
            </a:r>
            <a:endParaRPr/>
          </a:p>
        </p:txBody>
      </p:sp>
      <p:pic>
        <p:nvPicPr>
          <p:cNvPr id="17459" name="Picture 1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1ecde235af4b1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780086" y="1500"/>
            <a:ext cx="2249850" cy="1062337"/>
          </a:xfrm>
          <a:prstGeom xmlns:a="http://schemas.openxmlformats.org/drawingml/2006/main" prst="rect">
            <a:avLst/>
          </a:prstGeom>
        </p:spPr>
      </p:pic>
      <p:sp>
        <p:nvSpPr>
          <p:cNvPr id="17412" name="">
            <a:extLst xmlns:a="http://schemas.openxmlformats.org/drawingml/2006/main">
              <a:ext uri="{FF2B5EF4-FFF2-40B4-BE49-F238E27FC236}">
                <a16:creationId xmlns:a16="http://schemas.microsoft.com/office/drawing/2014/main" id="{747FE5A8-7308-48F0-AD77-4C5296FC4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200150"/>
            <a:ext cx="4381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B67B2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B67B2"/>
                </a:solidFill>
                <a:latin typeface="Arial"/>
                <a:ea typeface="Arial"/>
                <a:cs typeface="Arial"/>
              </a:rPr>
              <a:t>THE LOOP THAT CLOSES</a:t>
            </a:r>
          </a:p>
        </p:txBody>
      </p:sp>
      <p:sp>
        <p:nvSpPr>
          <p:cNvPr id="17413" name="">
            <a:extLst xmlns:a="http://schemas.openxmlformats.org/drawingml/2006/main">
              <a:ext uri="{FF2B5EF4-FFF2-40B4-BE49-F238E27FC236}">
                <a16:creationId xmlns:a16="http://schemas.microsoft.com/office/drawing/2014/main" id="{797DC435-872F-4D39-9583-718DC3447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419225"/>
            <a:ext cx="1504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0B67B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414" name="">
            <a:extLst xmlns:a="http://schemas.openxmlformats.org/drawingml/2006/main">
              <a:ext uri="{FF2B5EF4-FFF2-40B4-BE49-F238E27FC236}">
                <a16:creationId xmlns:a16="http://schemas.microsoft.com/office/drawing/2014/main" id="{E68AF32A-7D4C-432D-948E-758B96FB3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1181100"/>
            <a:ext cx="6667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B42318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B42318"/>
                </a:solidFill>
                <a:latin typeface="Arial"/>
                <a:ea typeface="Arial"/>
                <a:cs typeface="Arial"/>
              </a:rPr>
              <a:t>Today this knowledge dies in a supervisor's notebook at project close.</a:t>
            </a:r>
          </a:p>
        </p:txBody>
      </p:sp>
      <p:sp>
        <p:nvSpPr>
          <p:cNvPr id="17415" name="">
            <a:extLst xmlns:a="http://schemas.openxmlformats.org/drawingml/2006/main">
              <a:ext uri="{FF2B5EF4-FFF2-40B4-BE49-F238E27FC236}">
                <a16:creationId xmlns:a16="http://schemas.microsoft.com/office/drawing/2014/main" id="{D9E55447-3527-48B0-8A78-8F79EB074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866900"/>
            <a:ext cx="207645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C7D3E3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416" name="">
            <a:extLst xmlns:a="http://schemas.openxmlformats.org/drawingml/2006/main">
              <a:ext uri="{FF2B5EF4-FFF2-40B4-BE49-F238E27FC236}">
                <a16:creationId xmlns:a16="http://schemas.microsoft.com/office/drawing/2014/main" id="{CB275176-05D8-40C0-92F8-9298988B5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962150"/>
            <a:ext cx="1885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82230"/>
                </a:solidFill>
                <a:latin typeface="Arial"/>
                <a:ea typeface="Arial"/>
                <a:cs typeface="Arial"/>
              </a:rPr>
              <a:t>PROJECT EXECUTES</a:t>
            </a:r>
          </a:p>
        </p:txBody>
      </p:sp>
      <p:sp>
        <p:nvSpPr>
          <p:cNvPr id="17417" name="">
            <a:extLst xmlns:a="http://schemas.openxmlformats.org/drawingml/2006/main">
              <a:ext uri="{FF2B5EF4-FFF2-40B4-BE49-F238E27FC236}">
                <a16:creationId xmlns:a16="http://schemas.microsoft.com/office/drawing/2014/main" id="{57025044-31FB-47D3-9FF1-A755D2526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2190750"/>
            <a:ext cx="188595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825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825">
                <a:solidFill>
                  <a:srgbClr val="182230"/>
                </a:solidFill>
                <a:latin typeface="Arial"/>
                <a:ea typeface="Arial"/>
                <a:cs typeface="Arial"/>
              </a:rPr>
              <a:t>reports, diaries,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825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825">
                <a:solidFill>
                  <a:srgbClr val="182230"/>
                </a:solidFill>
                <a:latin typeface="Arial"/>
                <a:ea typeface="Arial"/>
                <a:cs typeface="Arial"/>
              </a:rPr>
              <a:t>field updates</a:t>
            </a:r>
          </a:p>
        </p:txBody>
      </p:sp>
      <p:sp>
        <p:nvSpPr>
          <p:cNvPr id="17418" name="">
            <a:extLst xmlns:a="http://schemas.openxmlformats.org/drawingml/2006/main">
              <a:ext uri="{FF2B5EF4-FFF2-40B4-BE49-F238E27FC236}">
                <a16:creationId xmlns:a16="http://schemas.microsoft.com/office/drawing/2014/main" id="{90DC38CB-DD00-4942-AD97-484BD9F17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0338" y="1866900"/>
            <a:ext cx="207645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EAF3FB"/>
          </a:solidFill>
          <a:ln xmlns:a="http://schemas.openxmlformats.org/drawingml/2006/main" w="12383">
            <a:solidFill>
              <a:srgbClr val="9DC2E6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419" name="">
            <a:extLst xmlns:a="http://schemas.openxmlformats.org/drawingml/2006/main">
              <a:ext uri="{FF2B5EF4-FFF2-40B4-BE49-F238E27FC236}">
                <a16:creationId xmlns:a16="http://schemas.microsoft.com/office/drawing/2014/main" id="{2420DFC0-E95A-4F7C-BBD9-18758AC29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5588" y="1962150"/>
            <a:ext cx="1885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23F78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23F78"/>
                </a:solidFill>
                <a:latin typeface="Arial"/>
                <a:ea typeface="Arial"/>
                <a:cs typeface="Arial"/>
              </a:rPr>
              <a:t>NAVIS CAPTURES</a:t>
            </a:r>
          </a:p>
        </p:txBody>
      </p:sp>
      <p:sp>
        <p:nvSpPr>
          <p:cNvPr id="17420" name="">
            <a:extLst xmlns:a="http://schemas.openxmlformats.org/drawingml/2006/main">
              <a:ext uri="{FF2B5EF4-FFF2-40B4-BE49-F238E27FC236}">
                <a16:creationId xmlns:a16="http://schemas.microsoft.com/office/drawing/2014/main" id="{F9E66C68-06C0-4742-84F1-51263A76B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5588" y="2190750"/>
            <a:ext cx="188595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825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825">
                <a:solidFill>
                  <a:srgbClr val="182230"/>
                </a:solidFill>
                <a:latin typeface="Arial"/>
                <a:ea typeface="Arial"/>
                <a:cs typeface="Arial"/>
              </a:rPr>
              <a:t>real start, real finish,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825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825">
                <a:solidFill>
                  <a:srgbClr val="182230"/>
                </a:solidFill>
                <a:latin typeface="Arial"/>
                <a:ea typeface="Arial"/>
                <a:cs typeface="Arial"/>
              </a:rPr>
              <a:t>real quantity</a:t>
            </a:r>
          </a:p>
        </p:txBody>
      </p:sp>
      <p:sp>
        <p:nvSpPr>
          <p:cNvPr id="17421" name="">
            <a:extLst xmlns:a="http://schemas.openxmlformats.org/drawingml/2006/main">
              <a:ext uri="{FF2B5EF4-FFF2-40B4-BE49-F238E27FC236}">
                <a16:creationId xmlns:a16="http://schemas.microsoft.com/office/drawing/2014/main" id="{543647F9-1020-48E7-8EFD-EB566371B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7775" y="1866900"/>
            <a:ext cx="207645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EAF6EF"/>
          </a:solidFill>
          <a:ln xmlns:a="http://schemas.openxmlformats.org/drawingml/2006/main" w="12383">
            <a:solidFill>
              <a:srgbClr val="92C9A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422" name="">
            <a:extLst xmlns:a="http://schemas.openxmlformats.org/drawingml/2006/main">
              <a:ext uri="{FF2B5EF4-FFF2-40B4-BE49-F238E27FC236}">
                <a16:creationId xmlns:a16="http://schemas.microsoft.com/office/drawing/2014/main" id="{F55B879D-C79A-4B47-AEE4-5F3D1975B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3025" y="1962150"/>
            <a:ext cx="1885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B7F4B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B7F4B"/>
                </a:solidFill>
                <a:latin typeface="Arial"/>
                <a:ea typeface="Arial"/>
                <a:cs typeface="Arial"/>
              </a:rPr>
              <a:t>STRUCTURED RECORD</a:t>
            </a:r>
          </a:p>
        </p:txBody>
      </p:sp>
      <p:sp>
        <p:nvSpPr>
          <p:cNvPr id="17423" name="">
            <a:extLst xmlns:a="http://schemas.openxmlformats.org/drawingml/2006/main">
              <a:ext uri="{FF2B5EF4-FFF2-40B4-BE49-F238E27FC236}">
                <a16:creationId xmlns:a16="http://schemas.microsoft.com/office/drawing/2014/main" id="{1A60C45B-DBA9-4367-9945-227192AA0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3025" y="2190750"/>
            <a:ext cx="188595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825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825">
                <a:solidFill>
                  <a:srgbClr val="182230"/>
                </a:solidFill>
                <a:latin typeface="Arial"/>
                <a:ea typeface="Arial"/>
                <a:cs typeface="Arial"/>
              </a:rPr>
              <a:t>durations, delay causes,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825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825">
                <a:solidFill>
                  <a:srgbClr val="182230"/>
                </a:solidFill>
                <a:latin typeface="Arial"/>
                <a:ea typeface="Arial"/>
                <a:cs typeface="Arial"/>
              </a:rPr>
              <a:t>discipline productivity</a:t>
            </a:r>
          </a:p>
        </p:txBody>
      </p:sp>
      <p:sp>
        <p:nvSpPr>
          <p:cNvPr id="17424" name="">
            <a:extLst xmlns:a="http://schemas.openxmlformats.org/drawingml/2006/main">
              <a:ext uri="{FF2B5EF4-FFF2-40B4-BE49-F238E27FC236}">
                <a16:creationId xmlns:a16="http://schemas.microsoft.com/office/drawing/2014/main" id="{2E349F44-76E7-4327-8A4C-4EF5D936E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5213" y="1866900"/>
            <a:ext cx="207645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EAF3FB"/>
          </a:solidFill>
          <a:ln xmlns:a="http://schemas.openxmlformats.org/drawingml/2006/main" w="12383">
            <a:solidFill>
              <a:srgbClr val="9DC2E6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425" name="">
            <a:extLst xmlns:a="http://schemas.openxmlformats.org/drawingml/2006/main">
              <a:ext uri="{FF2B5EF4-FFF2-40B4-BE49-F238E27FC236}">
                <a16:creationId xmlns:a16="http://schemas.microsoft.com/office/drawing/2014/main" id="{9D607ED9-31C5-4319-BABC-9D032AE0F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0463" y="1962150"/>
            <a:ext cx="1885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23F78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23F78"/>
                </a:solidFill>
                <a:latin typeface="Arial"/>
                <a:ea typeface="Arial"/>
                <a:cs typeface="Arial"/>
              </a:rPr>
              <a:t>QUERYABLE HISTORY</a:t>
            </a:r>
          </a:p>
        </p:txBody>
      </p:sp>
      <p:sp>
        <p:nvSpPr>
          <p:cNvPr id="17426" name="">
            <a:extLst xmlns:a="http://schemas.openxmlformats.org/drawingml/2006/main">
              <a:ext uri="{FF2B5EF4-FFF2-40B4-BE49-F238E27FC236}">
                <a16:creationId xmlns:a16="http://schemas.microsoft.com/office/drawing/2014/main" id="{6CFA9EC0-F2F6-44DB-B104-62ECAA649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0463" y="2190750"/>
            <a:ext cx="188595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825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825">
                <a:solidFill>
                  <a:srgbClr val="182230"/>
                </a:solidFill>
                <a:latin typeface="Arial"/>
                <a:ea typeface="Arial"/>
                <a:cs typeface="Arial"/>
              </a:rPr>
              <a:t>how long does this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825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825">
                <a:solidFill>
                  <a:srgbClr val="182230"/>
                </a:solidFill>
                <a:latin typeface="Arial"/>
                <a:ea typeface="Arial"/>
                <a:cs typeface="Arial"/>
              </a:rPr>
              <a:t>really take here</a:t>
            </a:r>
          </a:p>
        </p:txBody>
      </p:sp>
      <p:sp>
        <p:nvSpPr>
          <p:cNvPr id="17427" name="">
            <a:extLst xmlns:a="http://schemas.openxmlformats.org/drawingml/2006/main">
              <a:ext uri="{FF2B5EF4-FFF2-40B4-BE49-F238E27FC236}">
                <a16:creationId xmlns:a16="http://schemas.microsoft.com/office/drawing/2014/main" id="{CBCC2343-9395-4873-AF02-C52FACEFA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866900"/>
            <a:ext cx="207645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FFF3E6"/>
          </a:solidFill>
          <a:ln xmlns:a="http://schemas.openxmlformats.org/drawingml/2006/main" w="12383">
            <a:solidFill>
              <a:srgbClr val="F1B36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428" name="">
            <a:extLst xmlns:a="http://schemas.openxmlformats.org/drawingml/2006/main">
              <a:ext uri="{FF2B5EF4-FFF2-40B4-BE49-F238E27FC236}">
                <a16:creationId xmlns:a16="http://schemas.microsoft.com/office/drawing/2014/main" id="{EA3304E6-D6AC-481C-9C42-8CA1601A7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1962150"/>
            <a:ext cx="1885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C2660A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C2660A"/>
                </a:solidFill>
                <a:latin typeface="Arial"/>
                <a:ea typeface="Arial"/>
                <a:cs typeface="Arial"/>
              </a:rPr>
              <a:t>NEXT BASELINE</a:t>
            </a:r>
          </a:p>
        </p:txBody>
      </p:sp>
      <p:sp>
        <p:nvSpPr>
          <p:cNvPr id="17429" name="">
            <a:extLst xmlns:a="http://schemas.openxmlformats.org/drawingml/2006/main">
              <a:ext uri="{FF2B5EF4-FFF2-40B4-BE49-F238E27FC236}">
                <a16:creationId xmlns:a16="http://schemas.microsoft.com/office/drawing/2014/main" id="{2DC41350-CB9D-41FD-9AC7-115DE610E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2190750"/>
            <a:ext cx="188595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825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825">
                <a:solidFill>
                  <a:srgbClr val="182230"/>
                </a:solidFill>
                <a:latin typeface="Arial"/>
                <a:ea typeface="Arial"/>
                <a:cs typeface="Arial"/>
              </a:rPr>
              <a:t>calibrated,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825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825">
                <a:solidFill>
                  <a:srgbClr val="182230"/>
                </a:solidFill>
                <a:latin typeface="Arial"/>
                <a:ea typeface="Arial"/>
                <a:cs typeface="Arial"/>
              </a:rPr>
              <a:t>not guessed</a:t>
            </a:r>
          </a:p>
        </p:txBody>
      </p:sp>
      <p:cxnSp>
        <p:nvCxnSpPr>
          <p:cNvPr id="17478" name=""/>
          <p:cNvCxnSpPr>
            <a:stCxn xmlns:a="http://schemas.openxmlformats.org/drawingml/2006/main" id="17415" idx="3"/>
            <a:endCxn xmlns:a="http://schemas.openxmlformats.org/drawingml/2006/main" id="17418" idx="1"/>
          </p:cNvCxnSpPr>
          <p:nvPr/>
        </p:nvCxnSpPr>
        <p:spPr>
          <a:xfrm xmlns:a="http://schemas.openxmlformats.org/drawingml/2006/main">
            <a:off x="2419350" y="2305050"/>
            <a:ext cx="280988" cy="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0B67B2"/>
            </a:solidFill>
            <a:prstDash val="solid"/>
            <a:tailEnd type="triangle" w="sm" len="sm"/>
          </a:ln>
        </p:spPr>
      </p:cxnSp>
      <p:cxnSp>
        <p:nvCxnSpPr>
          <p:cNvPr id="17479" name=""/>
          <p:cNvCxnSpPr>
            <a:stCxn xmlns:a="http://schemas.openxmlformats.org/drawingml/2006/main" id="17418" idx="3"/>
            <a:endCxn xmlns:a="http://schemas.openxmlformats.org/drawingml/2006/main" id="17421" idx="1"/>
          </p:cNvCxnSpPr>
          <p:nvPr/>
        </p:nvCxnSpPr>
        <p:spPr>
          <a:xfrm xmlns:a="http://schemas.openxmlformats.org/drawingml/2006/main">
            <a:off x="4776788" y="2305050"/>
            <a:ext cx="280987" cy="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0B67B2"/>
            </a:solidFill>
            <a:prstDash val="solid"/>
            <a:tailEnd type="triangle" w="sm" len="sm"/>
          </a:ln>
        </p:spPr>
      </p:cxnSp>
      <p:cxnSp>
        <p:nvCxnSpPr>
          <p:cNvPr id="17480" name=""/>
          <p:cNvCxnSpPr>
            <a:stCxn xmlns:a="http://schemas.openxmlformats.org/drawingml/2006/main" id="17421" idx="3"/>
            <a:endCxn xmlns:a="http://schemas.openxmlformats.org/drawingml/2006/main" id="17424" idx="1"/>
          </p:cNvCxnSpPr>
          <p:nvPr/>
        </p:nvCxnSpPr>
        <p:spPr>
          <a:xfrm xmlns:a="http://schemas.openxmlformats.org/drawingml/2006/main">
            <a:off x="7134225" y="2305050"/>
            <a:ext cx="280988" cy="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0B67B2"/>
            </a:solidFill>
            <a:prstDash val="solid"/>
            <a:tailEnd type="triangle" w="sm" len="sm"/>
          </a:ln>
        </p:spPr>
      </p:cxnSp>
      <p:cxnSp>
        <p:nvCxnSpPr>
          <p:cNvPr id="17481" name=""/>
          <p:cNvCxnSpPr>
            <a:stCxn xmlns:a="http://schemas.openxmlformats.org/drawingml/2006/main" id="17424" idx="3"/>
            <a:endCxn xmlns:a="http://schemas.openxmlformats.org/drawingml/2006/main" id="17427" idx="1"/>
          </p:cNvCxnSpPr>
          <p:nvPr/>
        </p:nvCxnSpPr>
        <p:spPr>
          <a:xfrm xmlns:a="http://schemas.openxmlformats.org/drawingml/2006/main">
            <a:off x="9491663" y="2305050"/>
            <a:ext cx="280987" cy="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0B67B2"/>
            </a:solidFill>
            <a:prstDash val="solid"/>
            <a:tailEnd type="triangle" w="sm" len="sm"/>
          </a:ln>
        </p:spPr>
      </p:cxnSp>
      <p:cxnSp>
        <p:nvCxnSpPr>
          <p:cNvPr id="17482" name=""/>
          <p:cNvCxnSpPr>
            <a:stCxn xmlns:a="http://schemas.openxmlformats.org/drawingml/2006/main" id="17427" idx="0"/>
            <a:endCxn xmlns:a="http://schemas.openxmlformats.org/drawingml/2006/main" id="17415" idx="0"/>
          </p:cNvCxnSpPr>
          <p:nvPr/>
        </p:nvCxnSpPr>
        <p:spPr>
          <a:xfrm xmlns:a="http://schemas.openxmlformats.org/drawingml/2006/main" flipH="1">
            <a:off x="228600" y="1066800"/>
            <a:ext cx="10582275" cy="800100"/>
          </a:xfrm>
          <a:prstGeom xmlns:a="http://schemas.openxmlformats.org/drawingml/2006/main" prst="bentConnector4">
            <a:avLst/>
          </a:prstGeom>
          <a:ln xmlns:a="http://schemas.openxmlformats.org/drawingml/2006/main" w="14288">
            <a:solidFill>
              <a:srgbClr val="5A6676"/>
            </a:solidFill>
            <a:prstDash val="dash"/>
            <a:tailEnd type="triangle" w="sm" len="sm"/>
          </a:ln>
        </p:spPr>
      </p:cxnSp>
      <p:sp>
        <p:nvSpPr>
          <p:cNvPr id="17435" name="">
            <a:extLst xmlns:a="http://schemas.openxmlformats.org/drawingml/2006/main">
              <a:ext uri="{FF2B5EF4-FFF2-40B4-BE49-F238E27FC236}">
                <a16:creationId xmlns:a16="http://schemas.microsoft.com/office/drawing/2014/main" id="{C02B28C9-2411-4F28-B4A1-CC81D30DA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562100"/>
            <a:ext cx="40005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5A6676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5A6676"/>
                </a:solidFill>
                <a:latin typeface="Arial"/>
                <a:ea typeface="Arial"/>
                <a:cs typeface="Arial"/>
              </a:rPr>
              <a:t>the loop closes - execution history becomes the next plan</a:t>
            </a:r>
          </a:p>
        </p:txBody>
      </p:sp>
      <p:sp>
        <p:nvSpPr>
          <p:cNvPr id="17436" name="">
            <a:extLst xmlns:a="http://schemas.openxmlformats.org/drawingml/2006/main">
              <a:ext uri="{FF2B5EF4-FFF2-40B4-BE49-F238E27FC236}">
                <a16:creationId xmlns:a16="http://schemas.microsoft.com/office/drawing/2014/main" id="{F40C19CF-55B3-468A-84A0-D9E543018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3009900"/>
            <a:ext cx="4381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B67B2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B67B2"/>
                </a:solidFill>
                <a:latin typeface="Arial"/>
                <a:ea typeface="Arial"/>
                <a:cs typeface="Arial"/>
              </a:rPr>
              <a:t>WHO GAINS, AND WHAT THEY GAIN</a:t>
            </a:r>
          </a:p>
        </p:txBody>
      </p:sp>
      <p:sp>
        <p:nvSpPr>
          <p:cNvPr id="17437" name="">
            <a:extLst xmlns:a="http://schemas.openxmlformats.org/drawingml/2006/main">
              <a:ext uri="{FF2B5EF4-FFF2-40B4-BE49-F238E27FC236}">
                <a16:creationId xmlns:a16="http://schemas.microsoft.com/office/drawing/2014/main" id="{863214EE-70AA-4A86-9B92-63B3ECDA7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3228975"/>
            <a:ext cx="2209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0B67B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438" name="">
            <a:extLst xmlns:a="http://schemas.openxmlformats.org/drawingml/2006/main">
              <a:ext uri="{FF2B5EF4-FFF2-40B4-BE49-F238E27FC236}">
                <a16:creationId xmlns:a16="http://schemas.microsoft.com/office/drawing/2014/main" id="{5105D971-9F4B-4DBC-97AC-DBFDD610E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3352800"/>
            <a:ext cx="5667375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4F8FC"/>
          </a:solidFill>
          <a:ln xmlns:a="http://schemas.openxmlformats.org/drawingml/2006/main" w="12383">
            <a:solidFill>
              <a:srgbClr val="C7D3E3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439" name="">
            <a:extLst xmlns:a="http://schemas.openxmlformats.org/drawingml/2006/main">
              <a:ext uri="{FF2B5EF4-FFF2-40B4-BE49-F238E27FC236}">
                <a16:creationId xmlns:a16="http://schemas.microsoft.com/office/drawing/2014/main" id="{324BC9B3-08A1-40C9-BE3B-05D839797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467100"/>
            <a:ext cx="5400675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23F78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123F78"/>
                </a:solidFill>
                <a:latin typeface="Arial"/>
                <a:ea typeface="Arial"/>
                <a:cs typeface="Arial"/>
              </a:rPr>
              <a:t>SITE SUPERVISOR</a:t>
            </a:r>
          </a:p>
        </p:txBody>
      </p:sp>
      <p:sp>
        <p:nvSpPr>
          <p:cNvPr id="17440" name="">
            <a:extLst xmlns:a="http://schemas.openxmlformats.org/drawingml/2006/main">
              <a:ext uri="{FF2B5EF4-FFF2-40B4-BE49-F238E27FC236}">
                <a16:creationId xmlns:a16="http://schemas.microsoft.com/office/drawing/2014/main" id="{A0286B37-0600-4D4A-9472-B8C3D7233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695700"/>
            <a:ext cx="5400675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182230"/>
                </a:solidFill>
                <a:latin typeface="Arial"/>
                <a:ea typeface="Arial"/>
                <a:cs typeface="Arial"/>
              </a:rPr>
              <a:t>Speaks one sentence instead of filling a form. Reporting stops being a second job.</a:t>
            </a:r>
          </a:p>
        </p:txBody>
      </p:sp>
      <p:sp>
        <p:nvSpPr>
          <p:cNvPr id="17441" name="">
            <a:extLst xmlns:a="http://schemas.openxmlformats.org/drawingml/2006/main">
              <a:ext uri="{FF2B5EF4-FFF2-40B4-BE49-F238E27FC236}">
                <a16:creationId xmlns:a16="http://schemas.microsoft.com/office/drawing/2014/main" id="{71B10463-F599-4E0F-8158-26B3880CB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3352800"/>
            <a:ext cx="5667375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C7D3E3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442" name="">
            <a:extLst xmlns:a="http://schemas.openxmlformats.org/drawingml/2006/main">
              <a:ext uri="{FF2B5EF4-FFF2-40B4-BE49-F238E27FC236}">
                <a16:creationId xmlns:a16="http://schemas.microsoft.com/office/drawing/2014/main" id="{681F5CAF-7E7E-4421-A825-5853F66CB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467100"/>
            <a:ext cx="5400675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23F78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123F78"/>
                </a:solidFill>
                <a:latin typeface="Arial"/>
                <a:ea typeface="Arial"/>
                <a:cs typeface="Arial"/>
              </a:rPr>
              <a:t>PLANNING ENGINEER</a:t>
            </a:r>
          </a:p>
        </p:txBody>
      </p:sp>
      <p:sp>
        <p:nvSpPr>
          <p:cNvPr id="17443" name="">
            <a:extLst xmlns:a="http://schemas.openxmlformats.org/drawingml/2006/main">
              <a:ext uri="{FF2B5EF4-FFF2-40B4-BE49-F238E27FC236}">
                <a16:creationId xmlns:a16="http://schemas.microsoft.com/office/drawing/2014/main" id="{674DD35F-C66A-4168-97AC-F717268E7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695700"/>
            <a:ext cx="5400675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182230"/>
                </a:solidFill>
                <a:latin typeface="Arial"/>
                <a:ea typeface="Arial"/>
                <a:cs typeface="Arial"/>
              </a:rPr>
              <a:t>Reviews ranked exceptions instead of matching thousands of rows by hand.</a:t>
            </a:r>
          </a:p>
        </p:txBody>
      </p:sp>
      <p:sp>
        <p:nvSpPr>
          <p:cNvPr id="17444" name="">
            <a:extLst xmlns:a="http://schemas.openxmlformats.org/drawingml/2006/main">
              <a:ext uri="{FF2B5EF4-FFF2-40B4-BE49-F238E27FC236}">
                <a16:creationId xmlns:a16="http://schemas.microsoft.com/office/drawing/2014/main" id="{0BDC0166-68EB-4FE9-BE22-F1B4C97F2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4267200"/>
            <a:ext cx="5667375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4F8FC"/>
          </a:solidFill>
          <a:ln xmlns:a="http://schemas.openxmlformats.org/drawingml/2006/main" w="12383">
            <a:solidFill>
              <a:srgbClr val="C7D3E3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445" name="">
            <a:extLst xmlns:a="http://schemas.openxmlformats.org/drawingml/2006/main">
              <a:ext uri="{FF2B5EF4-FFF2-40B4-BE49-F238E27FC236}">
                <a16:creationId xmlns:a16="http://schemas.microsoft.com/office/drawing/2014/main" id="{4D352BE6-9F60-47CB-8297-9097E845D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381500"/>
            <a:ext cx="5400675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23F78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123F78"/>
                </a:solidFill>
                <a:latin typeface="Arial"/>
                <a:ea typeface="Arial"/>
                <a:cs typeface="Arial"/>
              </a:rPr>
              <a:t>PROJECT MANAGER</a:t>
            </a:r>
          </a:p>
        </p:txBody>
      </p:sp>
      <p:sp>
        <p:nvSpPr>
          <p:cNvPr id="17446" name="">
            <a:extLst xmlns:a="http://schemas.openxmlformats.org/drawingml/2006/main">
              <a:ext uri="{FF2B5EF4-FFF2-40B4-BE49-F238E27FC236}">
                <a16:creationId xmlns:a16="http://schemas.microsoft.com/office/drawing/2014/main" id="{DE41AD84-8910-40F3-82AE-9B39A3BDA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610100"/>
            <a:ext cx="5400675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182230"/>
                </a:solidFill>
                <a:latin typeface="Arial"/>
                <a:ea typeface="Arial"/>
                <a:cs typeface="Arial"/>
              </a:rPr>
              <a:t>Sees a schedule that reflects this week, not last month - slippage while it can still be acted on.</a:t>
            </a:r>
          </a:p>
        </p:txBody>
      </p:sp>
      <p:sp>
        <p:nvSpPr>
          <p:cNvPr id="17447" name="">
            <a:extLst xmlns:a="http://schemas.openxmlformats.org/drawingml/2006/main">
              <a:ext uri="{FF2B5EF4-FFF2-40B4-BE49-F238E27FC236}">
                <a16:creationId xmlns:a16="http://schemas.microsoft.com/office/drawing/2014/main" id="{7798EDC4-13FF-4873-91B8-D39A75C52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4267200"/>
            <a:ext cx="5667375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C7D3E3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448" name="">
            <a:extLst xmlns:a="http://schemas.openxmlformats.org/drawingml/2006/main">
              <a:ext uri="{FF2B5EF4-FFF2-40B4-BE49-F238E27FC236}">
                <a16:creationId xmlns:a16="http://schemas.microsoft.com/office/drawing/2014/main" id="{2847670A-023B-44C6-B829-457369896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4381500"/>
            <a:ext cx="5400675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23F78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123F78"/>
                </a:solidFill>
                <a:latin typeface="Arial"/>
                <a:ea typeface="Arial"/>
                <a:cs typeface="Arial"/>
              </a:rPr>
              <a:t>PSU / OWNER</a:t>
            </a:r>
          </a:p>
        </p:txBody>
      </p:sp>
      <p:sp>
        <p:nvSpPr>
          <p:cNvPr id="17449" name="">
            <a:extLst xmlns:a="http://schemas.openxmlformats.org/drawingml/2006/main">
              <a:ext uri="{FF2B5EF4-FFF2-40B4-BE49-F238E27FC236}">
                <a16:creationId xmlns:a16="http://schemas.microsoft.com/office/drawing/2014/main" id="{60B6D88E-3562-4695-A5DC-BC0FB176B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4610100"/>
            <a:ext cx="5400675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182230"/>
                </a:solidFill>
                <a:latin typeface="Arial"/>
                <a:ea typeface="Arial"/>
                <a:cs typeface="Arial"/>
              </a:rPr>
              <a:t>Every actual date is defensible with a file, a line and a confidence.</a:t>
            </a:r>
          </a:p>
        </p:txBody>
      </p:sp>
      <p:sp>
        <p:nvSpPr>
          <p:cNvPr id="17450" name="">
            <a:extLst xmlns:a="http://schemas.openxmlformats.org/drawingml/2006/main">
              <a:ext uri="{FF2B5EF4-FFF2-40B4-BE49-F238E27FC236}">
                <a16:creationId xmlns:a16="http://schemas.microsoft.com/office/drawing/2014/main" id="{78962EF0-64AC-47A3-A95C-C70DAEA77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5486400"/>
            <a:ext cx="1150620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FFF3E6"/>
          </a:solidFill>
          <a:ln xmlns:a="http://schemas.openxmlformats.org/drawingml/2006/main" w="12383">
            <a:solidFill>
              <a:srgbClr val="F1B36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451" name="">
            <a:extLst xmlns:a="http://schemas.openxmlformats.org/drawingml/2006/main">
              <a:ext uri="{FF2B5EF4-FFF2-40B4-BE49-F238E27FC236}">
                <a16:creationId xmlns:a16="http://schemas.microsoft.com/office/drawing/2014/main" id="{8F52DA43-D686-42B5-8886-B1B9E2AAB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619750"/>
            <a:ext cx="24765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2660A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C2660A"/>
                </a:solidFill>
                <a:latin typeface="Arial"/>
                <a:ea typeface="Arial"/>
                <a:cs typeface="Arial"/>
              </a:rPr>
              <a:t>SCALE OF THE EXPOSURE</a:t>
            </a:r>
          </a:p>
        </p:txBody>
      </p:sp>
      <p:sp>
        <p:nvSpPr>
          <p:cNvPr id="17452" name="">
            <a:extLst xmlns:a="http://schemas.openxmlformats.org/drawingml/2006/main">
              <a:ext uri="{FF2B5EF4-FFF2-40B4-BE49-F238E27FC236}">
                <a16:creationId xmlns:a16="http://schemas.microsoft.com/office/drawing/2014/main" id="{A0B2FFF3-1CC2-47E6-83E9-BD60528C4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829300"/>
            <a:ext cx="6667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863">
                <a:solidFill>
                  <a:srgbClr val="182230"/>
                </a:solidFill>
                <a:latin typeface="Arial"/>
                <a:ea typeface="Arial"/>
                <a:cs typeface="Arial"/>
              </a:rPr>
              <a:t>1,948 monitored central-sector projects, ₹41.99 lakh crore latest revised cost (MoSPI PAIMANA, February 2026).</a:t>
            </a:r>
          </a:p>
        </p:txBody>
      </p:sp>
      <p:sp>
        <p:nvSpPr>
          <p:cNvPr id="17453" name="">
            <a:extLst xmlns:a="http://schemas.openxmlformats.org/drawingml/2006/main">
              <a:ext uri="{FF2B5EF4-FFF2-40B4-BE49-F238E27FC236}">
                <a16:creationId xmlns:a16="http://schemas.microsoft.com/office/drawing/2014/main" id="{A8396B67-F387-4A85-80B4-423232597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715000"/>
            <a:ext cx="44577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63" b="1">
                <a:solidFill>
                  <a:srgbClr val="B42318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B42318"/>
                </a:solidFill>
                <a:latin typeface="Arial"/>
                <a:ea typeface="Arial"/>
                <a:cs typeface="Arial"/>
              </a:rPr>
              <a:t>Context only. NAVIS has run no field pilot, so no saving, ROI or productivity figure is claimed.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54762"/>
            <a:ext cx="12191999" cy="503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0C0"/>
          </a:solidFill>
          <a:ln xmlns:a="http://schemas.openxmlformats.org/drawingml/2006/main" w="9525">
            <a:noFill/>
          </a:ln>
          <a:effectLst xmlns:a="http://schemas.openxmlformats.org/drawingml/2006/main"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marL="0" marR="0" lvl="0" indent="0" algn="ctr" defTabSz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1800" b="0" i="0" u="none" kern="1200" cap="none" spc="0" baseline="0">
              <a:ln>
                <a:noFill/>
              </a:ln>
              <a:solidFill>
                <a:srgbClr val="C0504D">
                  <a:lumMod val="75000"/>
                </a:srgbClr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7409" name="Title 1">
            <a:extLst xmlns:a="http://schemas.openxmlformats.org/drawingml/2006/main">
              <a:ext uri="{FF2B5EF4-FFF2-40B4-BE49-F238E27FC236}">
                <a16:creationId xmlns:a16="http://schemas.microsoft.com/office/drawing/2014/main" id="{AABD50E0-EA69-460E-AFCA-DE538446275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rPr sz="3600" b="1">
                <a:latin typeface="Times New Roman"/>
                <a:ea typeface="Times New Roman"/>
                <a:cs typeface="Times New Roman"/>
              </a:rPr>
              <a:t>RESEARCH  AND REFERENCES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2465257-66BA-4E9F-8599-B7D8581AC67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marR="0" lvl="0" indent="0" algn="r" defTabSz="4572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fld id="{677C3CE7-23F7-4828-823C-E0205DF2CF97}" type="slidenum">
              <a:rPr sz="1200" b="1" i="0" u="none" cap="none" spc="0">
                <a:ln>
                  <a:noFill/>
                </a:ln>
                <a:solidFill>
                  <a:prstClr val="white"/>
                </a:solidFill>
                <a:latin typeface="TradeGothic"/>
                <a:ea typeface="TradeGothic"/>
                <a:cs typeface="TradeGothic"/>
              </a:rPr>
              <a:t>6</a:t>
            </a:fld>
            <a:endParaRPr sz="1200" b="1" i="0" u="none" kern="1200" cap="none" spc="0" baseline="0">
              <a:ln>
                <a:noFill/>
              </a:ln>
              <a:solidFill>
                <a:prstClr val="white"/>
              </a:solidFill>
              <a:latin typeface="TradeGothic"/>
              <a:ea typeface="TradeGothic"/>
              <a:cs typeface="TradeGothic"/>
            </a:endParaRPr>
          </a:p>
        </p:txBody>
      </p:sp>
      <p:sp>
        <p:nvSpPr>
          <p:cNvPr id="7" name="Footer Placeholder 6">
            <a:extLst xmlns:a="http://schemas.openxmlformats.org/drawingml/2006/main">
              <a:ext uri="{FF2B5EF4-FFF2-40B4-BE49-F238E27FC236}">
                <a16:creationId xmlns:a16="http://schemas.microsoft.com/office/drawing/2014/main" id="{7CC46F93-1938-4626-9B9F-366EFB1C94B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648200" y="6356353"/>
            <a:ext cx="3204000" cy="3651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marR="0" lvl="0" indent="0" algn="ctr" defTabSz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sz="1200" b="0" i="0" u="none" cap="none" spc="0">
                <a:ln>
                  <a:noFill/>
                </a:ln>
                <a:solidFill>
                  <a:prstClr val="white"/>
                </a:solidFill>
                <a:latin typeface="TradeGothic"/>
                <a:ea typeface="TradeGothic"/>
                <a:cs typeface="TradeGothic"/>
              </a:rPr>
              <a:t>@SIH Idea submission- Template</a:t>
            </a:r>
            <a:endParaRPr sz="1200" b="0" i="0" u="none" kern="1200" cap="none" spc="0" baseline="0">
              <a:ln>
                <a:noFill/>
              </a:ln>
              <a:solidFill>
                <a:prstClr val="white"/>
              </a:solidFill>
              <a:latin typeface="TradeGothic"/>
              <a:ea typeface="TradeGothic"/>
              <a:cs typeface="TradeGothic"/>
            </a:endParaRPr>
          </a:p>
        </p:txBody>
      </p:sp>
      <p:sp>
        <p:nvSpPr>
          <p:cNvPr id="9" name="Oval 8">
            <a:extLst xmlns:a="http://schemas.openxmlformats.org/drawingml/2006/main">
              <a:ext uri="{FF2B5EF4-FFF2-40B4-BE49-F238E27FC236}">
                <a16:creationId xmlns:a16="http://schemas.microsoft.com/office/drawing/2014/main" id="{5DBCE864-823D-4A13-9607-5DA1F0ED5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773" y="252246"/>
            <a:ext cx="1251857" cy="807334"/>
          </a:xfrm>
          <a:prstGeom xmlns:a="http://schemas.openxmlformats.org/drawingml/2006/main" prst="ellipse">
            <a:avLst/>
          </a:prstGeom>
        </p:spPr>
        <p:style>
          <a:lnRef xmlns:a="http://schemas.openxmlformats.org/drawingml/2006/main" idx="2">
            <a:schemeClr val="accent4"/>
          </a:lnRef>
          <a:fillRef xmlns:a="http://schemas.openxmlformats.org/drawingml/2006/main" idx="1">
            <a:schemeClr val="lt1"/>
          </a:fillRef>
          <a:effectRef xmlns:a="http://schemas.openxmlformats.org/drawingml/2006/main" idx="0">
            <a:schemeClr val="accent4"/>
          </a:effectRef>
          <a:fontRef xmlns:a="http://schemas.openxmlformats.org/drawingml/2006/main" idx="minor">
            <a:schemeClr val="dk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/>
              <a:t>NamasteByte</a:t>
            </a:r>
            <a:endParaRPr/>
          </a:p>
        </p:txBody>
      </p:sp>
      <p:pic>
        <p:nvPicPr>
          <p:cNvPr id="17465" name="Picture 1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a70a2de762434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780086" y="1500"/>
            <a:ext cx="2249850" cy="1062337"/>
          </a:xfrm>
          <a:prstGeom xmlns:a="http://schemas.openxmlformats.org/drawingml/2006/main" prst="rect">
            <a:avLst/>
          </a:prstGeom>
        </p:spPr>
      </p:pic>
      <p:sp>
        <p:nvSpPr>
          <p:cNvPr id="17412" name="">
            <a:extLst xmlns:a="http://schemas.openxmlformats.org/drawingml/2006/main">
              <a:ext uri="{FF2B5EF4-FFF2-40B4-BE49-F238E27FC236}">
                <a16:creationId xmlns:a16="http://schemas.microsoft.com/office/drawing/2014/main" id="{6A7DDB0D-3204-4873-97FE-632E6DE1F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200150"/>
            <a:ext cx="4381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B67B2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B67B2"/>
                </a:solidFill>
                <a:latin typeface="Arial"/>
                <a:ea typeface="Arial"/>
                <a:cs typeface="Arial"/>
              </a:rPr>
              <a:t>REFERENCE AND RESEARCH WORK</a:t>
            </a:r>
          </a:p>
        </p:txBody>
      </p:sp>
      <p:sp>
        <p:nvSpPr>
          <p:cNvPr id="17413" name="">
            <a:extLst xmlns:a="http://schemas.openxmlformats.org/drawingml/2006/main">
              <a:ext uri="{FF2B5EF4-FFF2-40B4-BE49-F238E27FC236}">
                <a16:creationId xmlns:a16="http://schemas.microsoft.com/office/drawing/2014/main" id="{B293E198-0D71-41D3-9266-199814C7B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419225"/>
            <a:ext cx="2152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0B67B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414" name="">
            <a:extLst xmlns:a="http://schemas.openxmlformats.org/drawingml/2006/main">
              <a:ext uri="{FF2B5EF4-FFF2-40B4-BE49-F238E27FC236}">
                <a16:creationId xmlns:a16="http://schemas.microsoft.com/office/drawing/2014/main" id="{5F0AD7E1-EF60-4597-9B22-8B2465260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600200"/>
            <a:ext cx="5676900" cy="609600"/>
          </a:xfrm>
          <a:prstGeom xmlns:a="http://schemas.openxmlformats.org/drawingml/2006/main" prst="roundRect">
            <a:avLst>
              <a:gd name="adj" fmla="val 17188"/>
            </a:avLst>
          </a:prstGeom>
          <a:solidFill xmlns:a="http://schemas.openxmlformats.org/drawingml/2006/main">
            <a:srgbClr val="F4F8FC"/>
          </a:solidFill>
          <a:ln xmlns:a="http://schemas.openxmlformats.org/drawingml/2006/main" w="12383">
            <a:solidFill>
              <a:srgbClr val="C7D3E3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415" name="">
            <a:extLst xmlns:a="http://schemas.openxmlformats.org/drawingml/2006/main">
              <a:ext uri="{FF2B5EF4-FFF2-40B4-BE49-F238E27FC236}">
                <a16:creationId xmlns:a16="http://schemas.microsoft.com/office/drawing/2014/main" id="{31D9E9B2-B9AA-4D35-8A1E-2745152A7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685925"/>
            <a:ext cx="54292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23F78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123F78"/>
                </a:solidFill>
                <a:latin typeface="Arial"/>
                <a:ea typeface="Arial"/>
                <a:cs typeface="Arial"/>
              </a:rPr>
              <a:t>MoSPI PAIMANA</a:t>
            </a:r>
          </a:p>
        </p:txBody>
      </p:sp>
      <p:sp>
        <p:nvSpPr>
          <p:cNvPr id="17416" name="">
            <a:extLst xmlns:a="http://schemas.openxmlformats.org/drawingml/2006/main">
              <a:ext uri="{FF2B5EF4-FFF2-40B4-BE49-F238E27FC236}">
                <a16:creationId xmlns:a16="http://schemas.microsoft.com/office/drawing/2014/main" id="{C17AD2DF-527C-43B0-8B6A-44F5B85C6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895475"/>
            <a:ext cx="32385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825">
                <a:solidFill>
                  <a:srgbClr val="182230"/>
                </a:solidFill>
                <a:latin typeface="Arial"/>
                <a:ea typeface="Arial"/>
                <a:cs typeface="Arial"/>
              </a:rPr>
              <a:t>Official central-project monitoring portal</a:t>
            </a:r>
          </a:p>
        </p:txBody>
      </p:sp>
      <p:sp>
        <p:nvSpPr>
          <p:cNvPr id="17417" name="">
            <a:extLst xmlns:a="http://schemas.openxmlformats.org/drawingml/2006/main">
              <a:ext uri="{FF2B5EF4-FFF2-40B4-BE49-F238E27FC236}">
                <a16:creationId xmlns:a16="http://schemas.microsoft.com/office/drawing/2014/main" id="{EB5FDD28-5F89-4947-935F-3737E78B9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1895475"/>
            <a:ext cx="23241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A6676"/>
                </a:solidFill>
                <a:latin typeface="Arial"/>
                <a:ea typeface="Arial"/>
                <a:cs typeface="Arial"/>
              </a:defRPr>
            </a:pPr>
            <a:r>
              <a:rPr sz="788">
                <a:solidFill>
                  <a:srgbClr val="5A6676"/>
                </a:solidFill>
                <a:latin typeface="Arial"/>
                <a:ea typeface="Arial"/>
                <a:cs typeface="Arial"/>
              </a:rPr>
              <a:t>used for: the scale figure on slide 5</a:t>
            </a:r>
          </a:p>
        </p:txBody>
      </p:sp>
      <p:sp>
        <p:nvSpPr>
          <p:cNvPr id="17418" name="">
            <a:extLst xmlns:a="http://schemas.openxmlformats.org/drawingml/2006/main">
              <a:ext uri="{FF2B5EF4-FFF2-40B4-BE49-F238E27FC236}">
                <a16:creationId xmlns:a16="http://schemas.microsoft.com/office/drawing/2014/main" id="{736FA416-4B6F-44C8-9593-3AD652342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2305050"/>
            <a:ext cx="5676900" cy="609600"/>
          </a:xfrm>
          <a:prstGeom xmlns:a="http://schemas.openxmlformats.org/drawingml/2006/main" prst="roundRect">
            <a:avLst>
              <a:gd name="adj" fmla="val 171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C7D3E3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419" name="">
            <a:extLst xmlns:a="http://schemas.openxmlformats.org/drawingml/2006/main">
              <a:ext uri="{FF2B5EF4-FFF2-40B4-BE49-F238E27FC236}">
                <a16:creationId xmlns:a16="http://schemas.microsoft.com/office/drawing/2014/main" id="{1CB9DABF-7609-4146-BF49-D32B8F4F4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390775"/>
            <a:ext cx="54292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23F78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123F78"/>
                </a:solidFill>
                <a:latin typeface="Arial"/>
                <a:ea typeface="Arial"/>
                <a:cs typeface="Arial"/>
              </a:rPr>
              <a:t>GAO Schedule Assessment Guide (GAO-16-89G)</a:t>
            </a:r>
          </a:p>
        </p:txBody>
      </p:sp>
      <p:sp>
        <p:nvSpPr>
          <p:cNvPr id="17420" name="">
            <a:extLst xmlns:a="http://schemas.openxmlformats.org/drawingml/2006/main">
              <a:ext uri="{FF2B5EF4-FFF2-40B4-BE49-F238E27FC236}">
                <a16:creationId xmlns:a16="http://schemas.microsoft.com/office/drawing/2014/main" id="{20F015EB-BE00-4AB4-9373-185D46178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600325"/>
            <a:ext cx="32385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825">
                <a:solidFill>
                  <a:srgbClr val="182230"/>
                </a:solidFill>
                <a:latin typeface="Arial"/>
                <a:ea typeface="Arial"/>
                <a:cs typeface="Arial"/>
              </a:rPr>
              <a:t>What makes a schedule reliable</a:t>
            </a:r>
          </a:p>
        </p:txBody>
      </p:sp>
      <p:sp>
        <p:nvSpPr>
          <p:cNvPr id="17421" name="">
            <a:extLst xmlns:a="http://schemas.openxmlformats.org/drawingml/2006/main">
              <a:ext uri="{FF2B5EF4-FFF2-40B4-BE49-F238E27FC236}">
                <a16:creationId xmlns:a16="http://schemas.microsoft.com/office/drawing/2014/main" id="{928993AD-EE7C-4404-A364-1BDA24DCD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600325"/>
            <a:ext cx="23241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A6676"/>
                </a:solidFill>
                <a:latin typeface="Arial"/>
                <a:ea typeface="Arial"/>
                <a:cs typeface="Arial"/>
              </a:defRPr>
            </a:pPr>
            <a:r>
              <a:rPr sz="788">
                <a:solidFill>
                  <a:srgbClr val="5A6676"/>
                </a:solidFill>
                <a:latin typeface="Arial"/>
                <a:ea typeface="Arial"/>
                <a:cs typeface="Arial"/>
              </a:rPr>
              <a:t>used for: why actuals must be traceable</a:t>
            </a:r>
          </a:p>
        </p:txBody>
      </p:sp>
      <p:sp>
        <p:nvSpPr>
          <p:cNvPr id="17422" name="">
            <a:extLst xmlns:a="http://schemas.openxmlformats.org/drawingml/2006/main">
              <a:ext uri="{FF2B5EF4-FFF2-40B4-BE49-F238E27FC236}">
                <a16:creationId xmlns:a16="http://schemas.microsoft.com/office/drawing/2014/main" id="{E869345F-DAED-490C-B6FA-B123D375B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3009900"/>
            <a:ext cx="5676900" cy="609600"/>
          </a:xfrm>
          <a:prstGeom xmlns:a="http://schemas.openxmlformats.org/drawingml/2006/main" prst="roundRect">
            <a:avLst>
              <a:gd name="adj" fmla="val 17188"/>
            </a:avLst>
          </a:prstGeom>
          <a:solidFill xmlns:a="http://schemas.openxmlformats.org/drawingml/2006/main">
            <a:srgbClr val="F4F8FC"/>
          </a:solidFill>
          <a:ln xmlns:a="http://schemas.openxmlformats.org/drawingml/2006/main" w="12383">
            <a:solidFill>
              <a:srgbClr val="C7D3E3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423" name="">
            <a:extLst xmlns:a="http://schemas.openxmlformats.org/drawingml/2006/main">
              <a:ext uri="{FF2B5EF4-FFF2-40B4-BE49-F238E27FC236}">
                <a16:creationId xmlns:a16="http://schemas.microsoft.com/office/drawing/2014/main" id="{73E65B2F-01E7-4704-A070-4F44F1E53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095625"/>
            <a:ext cx="54292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23F78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123F78"/>
                </a:solidFill>
                <a:latin typeface="Arial"/>
                <a:ea typeface="Arial"/>
                <a:cs typeface="Arial"/>
              </a:rPr>
              <a:t>NIST AI Risk Management Framework</a:t>
            </a:r>
          </a:p>
        </p:txBody>
      </p:sp>
      <p:sp>
        <p:nvSpPr>
          <p:cNvPr id="17424" name="">
            <a:extLst xmlns:a="http://schemas.openxmlformats.org/drawingml/2006/main">
              <a:ext uri="{FF2B5EF4-FFF2-40B4-BE49-F238E27FC236}">
                <a16:creationId xmlns:a16="http://schemas.microsoft.com/office/drawing/2014/main" id="{3D173541-7766-4EFC-99C8-F5A50D5C6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305175"/>
            <a:ext cx="32385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825">
                <a:solidFill>
                  <a:srgbClr val="182230"/>
                </a:solidFill>
                <a:latin typeface="Arial"/>
                <a:ea typeface="Arial"/>
                <a:cs typeface="Arial"/>
              </a:rPr>
              <a:t>Traceability and human oversight</a:t>
            </a:r>
          </a:p>
        </p:txBody>
      </p:sp>
      <p:sp>
        <p:nvSpPr>
          <p:cNvPr id="17425" name="">
            <a:extLst xmlns:a="http://schemas.openxmlformats.org/drawingml/2006/main">
              <a:ext uri="{FF2B5EF4-FFF2-40B4-BE49-F238E27FC236}">
                <a16:creationId xmlns:a16="http://schemas.microsoft.com/office/drawing/2014/main" id="{36AF9C28-F749-48FE-87A9-93639724C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305175"/>
            <a:ext cx="23241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99894"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A6676"/>
                </a:solidFill>
                <a:latin typeface="Arial"/>
                <a:ea typeface="Arial"/>
                <a:cs typeface="Arial"/>
              </a:defRPr>
            </a:pPr>
            <a:r>
              <a:rPr sz="788">
                <a:solidFill>
                  <a:srgbClr val="5A6676"/>
                </a:solidFill>
                <a:latin typeface="Arial"/>
                <a:ea typeface="Arial"/>
                <a:cs typeface="Arial"/>
              </a:rPr>
              <a:t>used for: why a human confirms every uncertain row</a:t>
            </a:r>
          </a:p>
        </p:txBody>
      </p:sp>
      <p:sp>
        <p:nvSpPr>
          <p:cNvPr id="17426" name="">
            <a:extLst xmlns:a="http://schemas.openxmlformats.org/drawingml/2006/main">
              <a:ext uri="{FF2B5EF4-FFF2-40B4-BE49-F238E27FC236}">
                <a16:creationId xmlns:a16="http://schemas.microsoft.com/office/drawing/2014/main" id="{7805F118-A0E9-4F5E-A655-D8DA8D404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3714750"/>
            <a:ext cx="5676900" cy="609600"/>
          </a:xfrm>
          <a:prstGeom xmlns:a="http://schemas.openxmlformats.org/drawingml/2006/main" prst="roundRect">
            <a:avLst>
              <a:gd name="adj" fmla="val 171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C7D3E3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427" name="">
            <a:extLst xmlns:a="http://schemas.openxmlformats.org/drawingml/2006/main">
              <a:ext uri="{FF2B5EF4-FFF2-40B4-BE49-F238E27FC236}">
                <a16:creationId xmlns:a16="http://schemas.microsoft.com/office/drawing/2014/main" id="{8828EE12-A0AA-4DE7-A565-4337F2AEA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800475"/>
            <a:ext cx="54292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23F78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123F78"/>
                </a:solidFill>
                <a:latin typeface="Arial"/>
                <a:ea typeface="Arial"/>
                <a:cs typeface="Arial"/>
              </a:rPr>
              <a:t>Oracle Primavera P6 EPPM documentation</a:t>
            </a:r>
          </a:p>
        </p:txBody>
      </p:sp>
      <p:sp>
        <p:nvSpPr>
          <p:cNvPr id="17428" name="">
            <a:extLst xmlns:a="http://schemas.openxmlformats.org/drawingml/2006/main">
              <a:ext uri="{FF2B5EF4-FFF2-40B4-BE49-F238E27FC236}">
                <a16:creationId xmlns:a16="http://schemas.microsoft.com/office/drawing/2014/main" id="{594DFC2D-BE96-4A5A-9748-7E2751DFE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010025"/>
            <a:ext cx="32385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825">
                <a:solidFill>
                  <a:srgbClr val="182230"/>
                </a:solidFill>
                <a:latin typeface="Arial"/>
                <a:ea typeface="Arial"/>
                <a:cs typeface="Arial"/>
              </a:rPr>
              <a:t>PMXML and XER interchange formats</a:t>
            </a:r>
          </a:p>
        </p:txBody>
      </p:sp>
      <p:sp>
        <p:nvSpPr>
          <p:cNvPr id="17429" name="">
            <a:extLst xmlns:a="http://schemas.openxmlformats.org/drawingml/2006/main">
              <a:ext uri="{FF2B5EF4-FFF2-40B4-BE49-F238E27FC236}">
                <a16:creationId xmlns:a16="http://schemas.microsoft.com/office/drawing/2014/main" id="{22295730-D7DE-4E92-8C55-CF32F27FE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4010025"/>
            <a:ext cx="23241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A6676"/>
                </a:solidFill>
                <a:latin typeface="Arial"/>
                <a:ea typeface="Arial"/>
                <a:cs typeface="Arial"/>
              </a:defRPr>
            </a:pPr>
            <a:r>
              <a:rPr sz="788">
                <a:solidFill>
                  <a:srgbClr val="5A6676"/>
                </a:solidFill>
                <a:latin typeface="Arial"/>
                <a:ea typeface="Arial"/>
                <a:cs typeface="Arial"/>
              </a:rPr>
              <a:t>used for: our pure-Python parsers</a:t>
            </a:r>
          </a:p>
        </p:txBody>
      </p:sp>
      <p:sp>
        <p:nvSpPr>
          <p:cNvPr id="17430" name="">
            <a:extLst xmlns:a="http://schemas.openxmlformats.org/drawingml/2006/main">
              <a:ext uri="{FF2B5EF4-FFF2-40B4-BE49-F238E27FC236}">
                <a16:creationId xmlns:a16="http://schemas.microsoft.com/office/drawing/2014/main" id="{A083E34A-12E4-4AF1-83C7-A3537C689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4419600"/>
            <a:ext cx="5676900" cy="609600"/>
          </a:xfrm>
          <a:prstGeom xmlns:a="http://schemas.openxmlformats.org/drawingml/2006/main" prst="roundRect">
            <a:avLst>
              <a:gd name="adj" fmla="val 17188"/>
            </a:avLst>
          </a:prstGeom>
          <a:solidFill xmlns:a="http://schemas.openxmlformats.org/drawingml/2006/main">
            <a:srgbClr val="F4F8FC"/>
          </a:solidFill>
          <a:ln xmlns:a="http://schemas.openxmlformats.org/drawingml/2006/main" w="12383">
            <a:solidFill>
              <a:srgbClr val="C7D3E3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431" name="">
            <a:extLst xmlns:a="http://schemas.openxmlformats.org/drawingml/2006/main">
              <a:ext uri="{FF2B5EF4-FFF2-40B4-BE49-F238E27FC236}">
                <a16:creationId xmlns:a16="http://schemas.microsoft.com/office/drawing/2014/main" id="{0C176F63-4DCC-4C93-96D7-F6F3EEF6B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505325"/>
            <a:ext cx="54292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23F78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123F78"/>
                </a:solidFill>
                <a:latin typeface="Arial"/>
                <a:ea typeface="Arial"/>
                <a:cs typeface="Arial"/>
              </a:rPr>
              <a:t>CFIHOS oil and gas taxonomy</a:t>
            </a:r>
          </a:p>
        </p:txBody>
      </p:sp>
      <p:sp>
        <p:nvSpPr>
          <p:cNvPr id="17432" name="">
            <a:extLst xmlns:a="http://schemas.openxmlformats.org/drawingml/2006/main">
              <a:ext uri="{FF2B5EF4-FFF2-40B4-BE49-F238E27FC236}">
                <a16:creationId xmlns:a16="http://schemas.microsoft.com/office/drawing/2014/main" id="{C9D545B5-C199-4B43-81A9-87FA357CC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714875"/>
            <a:ext cx="32385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825">
                <a:solidFill>
                  <a:srgbClr val="182230"/>
                </a:solidFill>
                <a:latin typeface="Arial"/>
                <a:ea typeface="Arial"/>
                <a:cs typeface="Arial"/>
              </a:rPr>
              <a:t>Public equipment and discipline taxonomy</a:t>
            </a:r>
          </a:p>
        </p:txBody>
      </p:sp>
      <p:sp>
        <p:nvSpPr>
          <p:cNvPr id="17433" name="">
            <a:extLst xmlns:a="http://schemas.openxmlformats.org/drawingml/2006/main">
              <a:ext uri="{FF2B5EF4-FFF2-40B4-BE49-F238E27FC236}">
                <a16:creationId xmlns:a16="http://schemas.microsoft.com/office/drawing/2014/main" id="{00E9D1AC-B6D1-4AE9-8209-816F17FC4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4714875"/>
            <a:ext cx="23241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A6676"/>
                </a:solidFill>
                <a:latin typeface="Arial"/>
                <a:ea typeface="Arial"/>
                <a:cs typeface="Arial"/>
              </a:defRPr>
            </a:pPr>
            <a:r>
              <a:rPr sz="788">
                <a:solidFill>
                  <a:srgbClr val="5A6676"/>
                </a:solidFill>
                <a:latin typeface="Arial"/>
                <a:ea typeface="Arial"/>
                <a:cs typeface="Arial"/>
              </a:rPr>
              <a:t>used for: the structure of the synthetic schedule</a:t>
            </a:r>
          </a:p>
        </p:txBody>
      </p:sp>
      <p:sp>
        <p:nvSpPr>
          <p:cNvPr id="17434" name="">
            <a:extLst xmlns:a="http://schemas.openxmlformats.org/drawingml/2006/main">
              <a:ext uri="{FF2B5EF4-FFF2-40B4-BE49-F238E27FC236}">
                <a16:creationId xmlns:a16="http://schemas.microsoft.com/office/drawing/2014/main" id="{D52E71E4-8D11-4C12-99D8-29368316C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200150"/>
            <a:ext cx="4381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B7F4B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B7F4B"/>
                </a:solidFill>
                <a:latin typeface="Arial"/>
                <a:ea typeface="Arial"/>
                <a:cs typeface="Arial"/>
              </a:rPr>
              <a:t>OUR OWN EVIDENCE - WHY COVERAGE IS UNDER HALF</a:t>
            </a:r>
          </a:p>
        </p:txBody>
      </p:sp>
      <p:sp>
        <p:nvSpPr>
          <p:cNvPr id="17435" name="">
            <a:extLst xmlns:a="http://schemas.openxmlformats.org/drawingml/2006/main">
              <a:ext uri="{FF2B5EF4-FFF2-40B4-BE49-F238E27FC236}">
                <a16:creationId xmlns:a16="http://schemas.microsoft.com/office/drawing/2014/main" id="{5820577F-3C4D-4679-8C00-7F9570FA4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419225"/>
            <a:ext cx="3143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1B7F4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436" name="">
            <a:extLst xmlns:a="http://schemas.openxmlformats.org/drawingml/2006/main">
              <a:ext uri="{FF2B5EF4-FFF2-40B4-BE49-F238E27FC236}">
                <a16:creationId xmlns:a16="http://schemas.microsoft.com/office/drawing/2014/main" id="{B4E2EE2F-D9F2-48D3-876B-0F2C72B3D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600200"/>
            <a:ext cx="5524500" cy="590550"/>
          </a:xfrm>
          <a:prstGeom xmlns:a="http://schemas.openxmlformats.org/drawingml/2006/main" prst="roundRect">
            <a:avLst>
              <a:gd name="adj" fmla="val 177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C7D3E3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437" name="">
            <a:extLst xmlns:a="http://schemas.openxmlformats.org/drawingml/2006/main">
              <a:ext uri="{FF2B5EF4-FFF2-40B4-BE49-F238E27FC236}">
                <a16:creationId xmlns:a16="http://schemas.microsoft.com/office/drawing/2014/main" id="{0AB7B50E-039C-4C2B-A086-DF432208D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1695450"/>
            <a:ext cx="52578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182230"/>
                </a:solidFill>
                <a:latin typeface="Arial"/>
                <a:ea typeface="Arial"/>
                <a:cs typeface="Arial"/>
              </a:rPr>
              <a:t>154 held-out test mentions</a:t>
            </a:r>
          </a:p>
        </p:txBody>
      </p:sp>
      <p:sp>
        <p:nvSpPr>
          <p:cNvPr id="17438" name="">
            <a:extLst xmlns:a="http://schemas.openxmlformats.org/drawingml/2006/main">
              <a:ext uri="{FF2B5EF4-FFF2-40B4-BE49-F238E27FC236}">
                <a16:creationId xmlns:a16="http://schemas.microsoft.com/office/drawing/2014/main" id="{2FCF3145-9744-4726-BB4B-AD2E3D4B0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1905000"/>
            <a:ext cx="52578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>
                <a:solidFill>
                  <a:srgbClr val="5A6676"/>
                </a:solidFill>
                <a:latin typeface="Arial"/>
                <a:ea typeface="Arial"/>
                <a:cs typeface="Arial"/>
              </a:defRPr>
            </a:pPr>
            <a:r>
              <a:rPr sz="825">
                <a:solidFill>
                  <a:srgbClr val="5A6676"/>
                </a:solidFill>
                <a:latin typeface="Arial"/>
                <a:ea typeface="Arial"/>
                <a:cs typeface="Arial"/>
              </a:rPr>
              <a:t>six source files, no threshold tuned on them</a:t>
            </a:r>
          </a:p>
        </p:txBody>
      </p:sp>
      <p:sp>
        <p:nvSpPr>
          <p:cNvPr id="17439" name="">
            <a:extLst xmlns:a="http://schemas.openxmlformats.org/drawingml/2006/main">
              <a:ext uri="{FF2B5EF4-FFF2-40B4-BE49-F238E27FC236}">
                <a16:creationId xmlns:a16="http://schemas.microsoft.com/office/drawing/2014/main" id="{9410AE3C-5A9B-4077-83D7-7053390B8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190750"/>
            <a:ext cx="55245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675">
                <a:solidFill>
                  <a:srgbClr val="5A6676"/>
                </a:solidFill>
                <a:latin typeface="Arial"/>
                <a:ea typeface="Arial"/>
                <a:cs typeface="Arial"/>
              </a:defRPr>
            </a:pPr>
            <a:r>
              <a:rPr sz="675">
                <a:solidFill>
                  <a:srgbClr val="5A6676"/>
                </a:solidFill>
                <a:latin typeface="Arial"/>
                <a:ea typeface="Arial"/>
                <a:cs typeface="Arial"/>
              </a:rPr>
              <a:t>▼</a:t>
            </a:r>
          </a:p>
        </p:txBody>
      </p:sp>
      <p:sp>
        <p:nvSpPr>
          <p:cNvPr id="17440" name="">
            <a:extLst xmlns:a="http://schemas.openxmlformats.org/drawingml/2006/main">
              <a:ext uri="{FF2B5EF4-FFF2-40B4-BE49-F238E27FC236}">
                <a16:creationId xmlns:a16="http://schemas.microsoft.com/office/drawing/2014/main" id="{3B2F3D6B-4E61-487C-A606-436BFF1C2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343150"/>
            <a:ext cx="5524500" cy="590550"/>
          </a:xfrm>
          <a:prstGeom xmlns:a="http://schemas.openxmlformats.org/drawingml/2006/main" prst="roundRect">
            <a:avLst>
              <a:gd name="adj" fmla="val 17742"/>
            </a:avLst>
          </a:prstGeom>
          <a:solidFill xmlns:a="http://schemas.openxmlformats.org/drawingml/2006/main">
            <a:srgbClr val="EAF6EF"/>
          </a:solidFill>
          <a:ln xmlns:a="http://schemas.openxmlformats.org/drawingml/2006/main" w="12383">
            <a:solidFill>
              <a:srgbClr val="92C9A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441" name="">
            <a:extLst xmlns:a="http://schemas.openxmlformats.org/drawingml/2006/main">
              <a:ext uri="{FF2B5EF4-FFF2-40B4-BE49-F238E27FC236}">
                <a16:creationId xmlns:a16="http://schemas.microsoft.com/office/drawing/2014/main" id="{F7758273-7FFF-401B-BF2E-68450B752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438400"/>
            <a:ext cx="52578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B7F4B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1B7F4B"/>
                </a:solidFill>
                <a:latin typeface="Arial"/>
                <a:ea typeface="Arial"/>
                <a:cs typeface="Arial"/>
              </a:rPr>
              <a:t>67 auto-linked</a:t>
            </a:r>
          </a:p>
        </p:txBody>
      </p:sp>
      <p:sp>
        <p:nvSpPr>
          <p:cNvPr id="17442" name="">
            <a:extLst xmlns:a="http://schemas.openxmlformats.org/drawingml/2006/main">
              <a:ext uri="{FF2B5EF4-FFF2-40B4-BE49-F238E27FC236}">
                <a16:creationId xmlns:a16="http://schemas.microsoft.com/office/drawing/2014/main" id="{37C6212A-A3C4-4794-9953-B5329F87F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647950"/>
            <a:ext cx="52578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>
                <a:solidFill>
                  <a:srgbClr val="5A6676"/>
                </a:solidFill>
                <a:latin typeface="Arial"/>
                <a:ea typeface="Arial"/>
                <a:cs typeface="Arial"/>
              </a:defRPr>
            </a:pPr>
            <a:r>
              <a:rPr sz="825">
                <a:solidFill>
                  <a:srgbClr val="5A6676"/>
                </a:solidFill>
                <a:latin typeface="Arial"/>
                <a:ea typeface="Arial"/>
                <a:cs typeface="Arial"/>
              </a:rPr>
              <a:t>43.5% coverage at 100% precision</a:t>
            </a:r>
          </a:p>
        </p:txBody>
      </p:sp>
      <p:sp>
        <p:nvSpPr>
          <p:cNvPr id="17443" name="">
            <a:extLst xmlns:a="http://schemas.openxmlformats.org/drawingml/2006/main">
              <a:ext uri="{FF2B5EF4-FFF2-40B4-BE49-F238E27FC236}">
                <a16:creationId xmlns:a16="http://schemas.microsoft.com/office/drawing/2014/main" id="{46BB3968-2E89-4C16-A151-F274FF170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933700"/>
            <a:ext cx="55245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675">
                <a:solidFill>
                  <a:srgbClr val="5A6676"/>
                </a:solidFill>
                <a:latin typeface="Arial"/>
                <a:ea typeface="Arial"/>
                <a:cs typeface="Arial"/>
              </a:defRPr>
            </a:pPr>
            <a:r>
              <a:rPr sz="675">
                <a:solidFill>
                  <a:srgbClr val="5A6676"/>
                </a:solidFill>
                <a:latin typeface="Arial"/>
                <a:ea typeface="Arial"/>
                <a:cs typeface="Arial"/>
              </a:rPr>
              <a:t>▼</a:t>
            </a:r>
          </a:p>
        </p:txBody>
      </p:sp>
      <p:sp>
        <p:nvSpPr>
          <p:cNvPr id="17444" name="">
            <a:extLst xmlns:a="http://schemas.openxmlformats.org/drawingml/2006/main">
              <a:ext uri="{FF2B5EF4-FFF2-40B4-BE49-F238E27FC236}">
                <a16:creationId xmlns:a16="http://schemas.microsoft.com/office/drawing/2014/main" id="{D24FA405-8F35-48D2-A07E-82010D425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086100"/>
            <a:ext cx="5524500" cy="590550"/>
          </a:xfrm>
          <a:prstGeom xmlns:a="http://schemas.openxmlformats.org/drawingml/2006/main" prst="roundRect">
            <a:avLst>
              <a:gd name="adj" fmla="val 17742"/>
            </a:avLst>
          </a:prstGeom>
          <a:solidFill xmlns:a="http://schemas.openxmlformats.org/drawingml/2006/main">
            <a:srgbClr val="EAF3FB"/>
          </a:solidFill>
          <a:ln xmlns:a="http://schemas.openxmlformats.org/drawingml/2006/main" w="12383">
            <a:solidFill>
              <a:srgbClr val="9DC2E6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445" name="">
            <a:extLst xmlns:a="http://schemas.openxmlformats.org/drawingml/2006/main">
              <a:ext uri="{FF2B5EF4-FFF2-40B4-BE49-F238E27FC236}">
                <a16:creationId xmlns:a16="http://schemas.microsoft.com/office/drawing/2014/main" id="{4B7742F3-A001-4308-B4C9-4AA2AB184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181350"/>
            <a:ext cx="52578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23F78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123F78"/>
                </a:solidFill>
                <a:latin typeface="Arial"/>
                <a:ea typeface="Arial"/>
                <a:cs typeface="Arial"/>
              </a:rPr>
              <a:t>39 schedule nodes touched</a:t>
            </a:r>
          </a:p>
        </p:txBody>
      </p:sp>
      <p:sp>
        <p:nvSpPr>
          <p:cNvPr id="17446" name="">
            <a:extLst xmlns:a="http://schemas.openxmlformats.org/drawingml/2006/main">
              <a:ext uri="{FF2B5EF4-FFF2-40B4-BE49-F238E27FC236}">
                <a16:creationId xmlns:a16="http://schemas.microsoft.com/office/drawing/2014/main" id="{DF73E379-782B-4909-980D-FC54146B4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390900"/>
            <a:ext cx="52578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>
                <a:solidFill>
                  <a:srgbClr val="5A6676"/>
                </a:solidFill>
                <a:latin typeface="Arial"/>
                <a:ea typeface="Arial"/>
                <a:cs typeface="Arial"/>
              </a:defRPr>
            </a:pPr>
            <a:r>
              <a:rPr sz="825">
                <a:solidFill>
                  <a:srgbClr val="5A6676"/>
                </a:solidFill>
                <a:latin typeface="Arial"/>
                <a:ea typeface="Arial"/>
                <a:cs typeface="Arial"/>
              </a:rPr>
              <a:t>after quantity-based roll-up</a:t>
            </a:r>
          </a:p>
        </p:txBody>
      </p:sp>
      <p:sp>
        <p:nvSpPr>
          <p:cNvPr id="17447" name="">
            <a:extLst xmlns:a="http://schemas.openxmlformats.org/drawingml/2006/main">
              <a:ext uri="{FF2B5EF4-FFF2-40B4-BE49-F238E27FC236}">
                <a16:creationId xmlns:a16="http://schemas.microsoft.com/office/drawing/2014/main" id="{2763BE19-3776-40C3-BD8F-C3AAC3FCD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829050"/>
            <a:ext cx="2686050" cy="590550"/>
          </a:xfrm>
          <a:prstGeom xmlns:a="http://schemas.openxmlformats.org/drawingml/2006/main" prst="roundRect">
            <a:avLst>
              <a:gd name="adj" fmla="val 17742"/>
            </a:avLst>
          </a:prstGeom>
          <a:solidFill xmlns:a="http://schemas.openxmlformats.org/drawingml/2006/main">
            <a:srgbClr val="FFF3E6"/>
          </a:solidFill>
          <a:ln xmlns:a="http://schemas.openxmlformats.org/drawingml/2006/main" w="12383">
            <a:solidFill>
              <a:srgbClr val="F1B36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448" name="">
            <a:extLst xmlns:a="http://schemas.openxmlformats.org/drawingml/2006/main">
              <a:ext uri="{FF2B5EF4-FFF2-40B4-BE49-F238E27FC236}">
                <a16:creationId xmlns:a16="http://schemas.microsoft.com/office/drawing/2014/main" id="{D0079512-4A91-4BFB-B940-B100F7509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924300"/>
            <a:ext cx="24574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2660A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C2660A"/>
                </a:solidFill>
                <a:latin typeface="Arial"/>
                <a:ea typeface="Arial"/>
                <a:cs typeface="Arial"/>
              </a:rPr>
              <a:t>32 had no measurable quantity</a:t>
            </a:r>
          </a:p>
        </p:txBody>
      </p:sp>
      <p:sp>
        <p:nvSpPr>
          <p:cNvPr id="17449" name="">
            <a:extLst xmlns:a="http://schemas.openxmlformats.org/drawingml/2006/main">
              <a:ext uri="{FF2B5EF4-FFF2-40B4-BE49-F238E27FC236}">
                <a16:creationId xmlns:a16="http://schemas.microsoft.com/office/drawing/2014/main" id="{2DA3C480-8A80-4953-839D-2458577C4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133850"/>
            <a:ext cx="24574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>
                <a:solidFill>
                  <a:srgbClr val="5A6676"/>
                </a:solidFill>
                <a:latin typeface="Arial"/>
                <a:ea typeface="Arial"/>
                <a:cs typeface="Arial"/>
              </a:defRPr>
            </a:pPr>
            <a:r>
              <a:rPr sz="825">
                <a:solidFill>
                  <a:srgbClr val="5A6676"/>
                </a:solidFill>
                <a:latin typeface="Arial"/>
                <a:ea typeface="Arial"/>
                <a:cs typeface="Arial"/>
              </a:rPr>
              <a:t>no percentage, no date written</a:t>
            </a:r>
          </a:p>
        </p:txBody>
      </p:sp>
      <p:sp>
        <p:nvSpPr>
          <p:cNvPr id="17450" name="">
            <a:extLst xmlns:a="http://schemas.openxmlformats.org/drawingml/2006/main">
              <a:ext uri="{FF2B5EF4-FFF2-40B4-BE49-F238E27FC236}">
                <a16:creationId xmlns:a16="http://schemas.microsoft.com/office/drawing/2014/main" id="{6D7C8DE0-F6D5-49B3-A17A-C71F36D35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829050"/>
            <a:ext cx="2686050" cy="590550"/>
          </a:xfrm>
          <a:prstGeom xmlns:a="http://schemas.openxmlformats.org/drawingml/2006/main" prst="roundRect">
            <a:avLst>
              <a:gd name="adj" fmla="val 17742"/>
            </a:avLst>
          </a:prstGeom>
          <a:solidFill xmlns:a="http://schemas.openxmlformats.org/drawingml/2006/main">
            <a:srgbClr val="FDECEC"/>
          </a:solidFill>
          <a:ln xmlns:a="http://schemas.openxmlformats.org/drawingml/2006/main" w="12383">
            <a:solidFill>
              <a:srgbClr val="F0BDB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451" name="">
            <a:extLst xmlns:a="http://schemas.openxmlformats.org/drawingml/2006/main">
              <a:ext uri="{FF2B5EF4-FFF2-40B4-BE49-F238E27FC236}">
                <a16:creationId xmlns:a16="http://schemas.microsoft.com/office/drawing/2014/main" id="{DC71AE4E-36E1-4E0F-AB68-11BF391D8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924300"/>
            <a:ext cx="24574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B42318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B42318"/>
                </a:solidFill>
                <a:latin typeface="Arial"/>
                <a:ea typeface="Arial"/>
                <a:cs typeface="Arial"/>
              </a:rPr>
              <a:t>7 finish dates withheld</a:t>
            </a:r>
          </a:p>
        </p:txBody>
      </p:sp>
      <p:sp>
        <p:nvSpPr>
          <p:cNvPr id="17452" name="">
            <a:extLst xmlns:a="http://schemas.openxmlformats.org/drawingml/2006/main">
              <a:ext uri="{FF2B5EF4-FFF2-40B4-BE49-F238E27FC236}">
                <a16:creationId xmlns:a16="http://schemas.microsoft.com/office/drawing/2014/main" id="{CFC895EA-D47D-4E0A-BC02-790804EBA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4133850"/>
            <a:ext cx="24574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>
                <a:solidFill>
                  <a:srgbClr val="5A6676"/>
                </a:solidFill>
                <a:latin typeface="Arial"/>
                <a:ea typeface="Arial"/>
                <a:cs typeface="Arial"/>
              </a:defRPr>
            </a:pPr>
            <a:r>
              <a:rPr sz="825">
                <a:solidFill>
                  <a:srgbClr val="5A6676"/>
                </a:solidFill>
                <a:latin typeface="Arial"/>
                <a:ea typeface="Arial"/>
                <a:cs typeface="Arial"/>
              </a:rPr>
              <a:t>the only date came from a report header</a:t>
            </a:r>
          </a:p>
        </p:txBody>
      </p:sp>
      <p:sp>
        <p:nvSpPr>
          <p:cNvPr id="17453" name="">
            <a:extLst xmlns:a="http://schemas.openxmlformats.org/drawingml/2006/main">
              <a:ext uri="{FF2B5EF4-FFF2-40B4-BE49-F238E27FC236}">
                <a16:creationId xmlns:a16="http://schemas.microsoft.com/office/drawing/2014/main" id="{72F4E212-0D44-4C8E-B370-8B64443CF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533900"/>
            <a:ext cx="5524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1B7F4B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1B7F4B"/>
                </a:solidFill>
                <a:latin typeface="Arial"/>
                <a:ea typeface="Arial"/>
                <a:cs typeface="Arial"/>
              </a:rPr>
              <a:t>Every narrowing step is a deliberate refusal. Reproduce it live: python eval.py</a:t>
            </a:r>
          </a:p>
        </p:txBody>
      </p:sp>
      <p:sp>
        <p:nvSpPr>
          <p:cNvPr id="17454" name="">
            <a:extLst xmlns:a="http://schemas.openxmlformats.org/drawingml/2006/main">
              <a:ext uri="{FF2B5EF4-FFF2-40B4-BE49-F238E27FC236}">
                <a16:creationId xmlns:a16="http://schemas.microsoft.com/office/drawing/2014/main" id="{7E81F295-FF5D-460B-87E4-1E0A995C8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5200650"/>
            <a:ext cx="115062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4F8FC"/>
          </a:solidFill>
          <a:ln xmlns:a="http://schemas.openxmlformats.org/drawingml/2006/main" w="12383">
            <a:solidFill>
              <a:srgbClr val="C7D3E3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455" name="">
            <a:extLst xmlns:a="http://schemas.openxmlformats.org/drawingml/2006/main">
              <a:ext uri="{FF2B5EF4-FFF2-40B4-BE49-F238E27FC236}">
                <a16:creationId xmlns:a16="http://schemas.microsoft.com/office/drawing/2014/main" id="{4B583A06-6AB9-4002-BBA9-C664E5D1E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314950"/>
            <a:ext cx="24765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B42318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B42318"/>
                </a:solidFill>
                <a:latin typeface="Arial"/>
                <a:ea typeface="Arial"/>
                <a:cs typeface="Arial"/>
              </a:rPr>
              <a:t>EVIDENCE BOUNDARY</a:t>
            </a:r>
          </a:p>
        </p:txBody>
      </p:sp>
      <p:sp>
        <p:nvSpPr>
          <p:cNvPr id="17456" name="">
            <a:extLst xmlns:a="http://schemas.openxmlformats.org/drawingml/2006/main">
              <a:ext uri="{FF2B5EF4-FFF2-40B4-BE49-F238E27FC236}">
                <a16:creationId xmlns:a16="http://schemas.microsoft.com/office/drawing/2014/main" id="{45078D87-52C6-40BD-8F1B-492AC34F9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581650"/>
            <a:ext cx="2667000" cy="438150"/>
          </a:xfrm>
          <a:prstGeom xmlns:a="http://schemas.openxmlformats.org/drawingml/2006/main" prst="roundRect">
            <a:avLst>
              <a:gd name="adj" fmla="val 2173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C7D3E3"/>
            </a:solidFill>
            <a:prstDash val="solid"/>
          </a:ln>
        </p:spPr>
        <p:txBody>
          <a:bodyPr xmlns:a="http://schemas.openxmlformats.org/drawingml/2006/main" wrap="square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63" b="1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182230"/>
                </a:solidFill>
                <a:latin typeface="Arial"/>
                <a:ea typeface="Arial"/>
                <a:cs typeface="Arial"/>
              </a:rPr>
              <a:t>Synthetic schedule and reports</a:t>
            </a:r>
          </a:p>
        </p:txBody>
      </p:sp>
      <p:sp>
        <p:nvSpPr>
          <p:cNvPr id="17457" name="">
            <a:extLst xmlns:a="http://schemas.openxmlformats.org/drawingml/2006/main">
              <a:ext uri="{FF2B5EF4-FFF2-40B4-BE49-F238E27FC236}">
                <a16:creationId xmlns:a16="http://schemas.microsoft.com/office/drawing/2014/main" id="{FDF928F0-4D0A-4E6F-953A-353BD8945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5581650"/>
            <a:ext cx="2667000" cy="438150"/>
          </a:xfrm>
          <a:prstGeom xmlns:a="http://schemas.openxmlformats.org/drawingml/2006/main" prst="roundRect">
            <a:avLst>
              <a:gd name="adj" fmla="val 2173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C7D3E3"/>
            </a:solidFill>
            <a:prstDash val="solid"/>
          </a:ln>
        </p:spPr>
        <p:txBody>
          <a:bodyPr xmlns:a="http://schemas.openxmlformats.org/drawingml/2006/main" wrap="square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63" b="1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182230"/>
                </a:solidFill>
                <a:latin typeface="Arial"/>
                <a:ea typeface="Arial"/>
                <a:cs typeface="Arial"/>
              </a:rPr>
              <a:t>No live Oil India data yet</a:t>
            </a:r>
          </a:p>
        </p:txBody>
      </p:sp>
      <p:sp>
        <p:nvSpPr>
          <p:cNvPr id="17458" name="">
            <a:extLst xmlns:a="http://schemas.openxmlformats.org/drawingml/2006/main">
              <a:ext uri="{FF2B5EF4-FFF2-40B4-BE49-F238E27FC236}">
                <a16:creationId xmlns:a16="http://schemas.microsoft.com/office/drawing/2014/main" id="{249652A8-6D21-4EA9-8565-645644A9C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5581650"/>
            <a:ext cx="2667000" cy="438150"/>
          </a:xfrm>
          <a:prstGeom xmlns:a="http://schemas.openxmlformats.org/drawingml/2006/main" prst="roundRect">
            <a:avLst>
              <a:gd name="adj" fmla="val 2173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C7D3E3"/>
            </a:solidFill>
            <a:prstDash val="solid"/>
          </a:ln>
        </p:spPr>
        <p:txBody>
          <a:bodyPr xmlns:a="http://schemas.openxmlformats.org/drawingml/2006/main" wrap="square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63" b="1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182230"/>
                </a:solidFill>
                <a:latin typeface="Arial"/>
                <a:ea typeface="Arial"/>
                <a:cs typeface="Arial"/>
              </a:rPr>
              <a:t>In-distribution benchmark</a:t>
            </a:r>
          </a:p>
        </p:txBody>
      </p:sp>
      <p:sp>
        <p:nvSpPr>
          <p:cNvPr id="17459" name="">
            <a:extLst xmlns:a="http://schemas.openxmlformats.org/drawingml/2006/main">
              <a:ext uri="{FF2B5EF4-FFF2-40B4-BE49-F238E27FC236}">
                <a16:creationId xmlns:a16="http://schemas.microsoft.com/office/drawing/2014/main" id="{59FE9E61-6D11-40F6-8CF3-DE6571D3E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581650"/>
            <a:ext cx="2667000" cy="438150"/>
          </a:xfrm>
          <a:prstGeom xmlns:a="http://schemas.openxmlformats.org/drawingml/2006/main" prst="roundRect">
            <a:avLst>
              <a:gd name="adj" fmla="val 2173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C7D3E3"/>
            </a:solidFill>
            <a:prstDash val="solid"/>
          </a:ln>
        </p:spPr>
        <p:txBody>
          <a:bodyPr xmlns:a="http://schemas.openxmlformats.org/drawingml/2006/main" wrap="square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63" b="1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182230"/>
                </a:solidFill>
                <a:latin typeface="Arial"/>
                <a:ea typeface="Arial"/>
                <a:cs typeface="Arial"/>
              </a:rPr>
              <a:t>1,431 tests - 1,202 pytest, 229 vitest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2026-09-10T15:20:07.1680000Z</dcterms:created>
  <dcterms:modified xsi:type="dcterms:W3CDTF">2026-09-10T15:20:07.1680000Z</dcterms:modified>
</coreProperties>
</file>